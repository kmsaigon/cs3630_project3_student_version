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75" r:id="rId7"/>
    <p:sldId id="261" r:id="rId8"/>
    <p:sldId id="276" r:id="rId28"/>
    <p:sldId id="262" r:id="rId9"/>
    <p:sldId id="277" r:id="rId29"/>
    <p:sldId id="263" r:id="rId10"/>
    <p:sldId id="264" r:id="rId11"/>
    <p:sldId id="265" r:id="rId12"/>
    <p:sldId id="266" r:id="rId13"/>
    <p:sldId id="267" r:id="rId14"/>
    <p:sldId id="268" r:id="rId15"/>
    <p:sldId id="278" r:id="rId30"/>
    <p:sldId id="269" r:id="rId16"/>
    <p:sldId id="270" r:id="rId17"/>
    <p:sldId id="271" r:id="rId18"/>
    <p:sldId id="279" r:id="rId31"/>
    <p:sldId id="272" r:id="rId19"/>
    <p:sldId id="273" r:id="rId20"/>
    <p:sldId id="274"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C6D2CA-11BB-49AB-95A4-36EDA550CDEA}" v="22" dt="2025-09-08T22:20:07.28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48" d="100"/>
          <a:sy n="48" d="100"/>
        </p:scale>
        <p:origin x="1332" y="13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microsoft.com/office/2015/10/relationships/revisionInfo" Target="revisionInfo.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 Alexeyev" userId="367af64599bd8789" providerId="LiveId" clId="{7530104B-A1B2-4B17-837F-D87131900898}"/>
    <pc:docChg chg="undo redo custSel addSld modSld">
      <pc:chgData name="Leo Alexeyev" userId="367af64599bd8789" providerId="LiveId" clId="{7530104B-A1B2-4B17-837F-D87131900898}" dt="2025-09-08T22:26:31.552" v="383" actId="20577"/>
      <pc:docMkLst>
        <pc:docMk/>
      </pc:docMkLst>
      <pc:sldChg chg="modSp mod">
        <pc:chgData name="Leo Alexeyev" userId="367af64599bd8789" providerId="LiveId" clId="{7530104B-A1B2-4B17-837F-D87131900898}" dt="2025-09-02T20:02:44.826" v="3" actId="20577"/>
        <pc:sldMkLst>
          <pc:docMk/>
          <pc:sldMk cId="0" sldId="256"/>
        </pc:sldMkLst>
        <pc:spChg chg="mod">
          <ac:chgData name="Leo Alexeyev" userId="367af64599bd8789" providerId="LiveId" clId="{7530104B-A1B2-4B17-837F-D87131900898}" dt="2025-09-02T20:02:44.826" v="3" actId="20577"/>
          <ac:spMkLst>
            <pc:docMk/>
            <pc:sldMk cId="0" sldId="256"/>
            <ac:spMk id="2" creationId="{00000000-0000-0000-0000-000000000000}"/>
          </ac:spMkLst>
        </pc:spChg>
      </pc:sldChg>
      <pc:sldChg chg="modSp mod">
        <pc:chgData name="Leo Alexeyev" userId="367af64599bd8789" providerId="LiveId" clId="{7530104B-A1B2-4B17-837F-D87131900898}" dt="2025-09-08T20:48:46.020" v="288" actId="20577"/>
        <pc:sldMkLst>
          <pc:docMk/>
          <pc:sldMk cId="0" sldId="257"/>
        </pc:sldMkLst>
        <pc:spChg chg="mod">
          <ac:chgData name="Leo Alexeyev" userId="367af64599bd8789" providerId="LiveId" clId="{7530104B-A1B2-4B17-837F-D87131900898}" dt="2025-09-08T20:48:46.020" v="288" actId="20577"/>
          <ac:spMkLst>
            <pc:docMk/>
            <pc:sldMk cId="0" sldId="257"/>
            <ac:spMk id="3" creationId="{00000000-0000-0000-0000-000000000000}"/>
          </ac:spMkLst>
        </pc:spChg>
      </pc:sldChg>
      <pc:sldChg chg="modSp mod">
        <pc:chgData name="Leo Alexeyev" userId="367af64599bd8789" providerId="LiveId" clId="{7530104B-A1B2-4B17-837F-D87131900898}" dt="2025-09-08T20:49:19.646" v="345"/>
        <pc:sldMkLst>
          <pc:docMk/>
          <pc:sldMk cId="0" sldId="258"/>
        </pc:sldMkLst>
        <pc:spChg chg="mod">
          <ac:chgData name="Leo Alexeyev" userId="367af64599bd8789" providerId="LiveId" clId="{7530104B-A1B2-4B17-837F-D87131900898}" dt="2025-09-08T20:49:19.646" v="345"/>
          <ac:spMkLst>
            <pc:docMk/>
            <pc:sldMk cId="0" sldId="258"/>
            <ac:spMk id="3" creationId="{00000000-0000-0000-0000-000000000000}"/>
          </ac:spMkLst>
        </pc:spChg>
      </pc:sldChg>
      <pc:sldChg chg="modSp mod">
        <pc:chgData name="Leo Alexeyev" userId="367af64599bd8789" providerId="LiveId" clId="{7530104B-A1B2-4B17-837F-D87131900898}" dt="2025-09-08T22:19:08.145" v="354" actId="20577"/>
        <pc:sldMkLst>
          <pc:docMk/>
          <pc:sldMk cId="0" sldId="259"/>
        </pc:sldMkLst>
        <pc:spChg chg="mod">
          <ac:chgData name="Leo Alexeyev" userId="367af64599bd8789" providerId="LiveId" clId="{7530104B-A1B2-4B17-837F-D87131900898}" dt="2025-09-08T22:19:08.145" v="354" actId="20577"/>
          <ac:spMkLst>
            <pc:docMk/>
            <pc:sldMk cId="0" sldId="259"/>
            <ac:spMk id="2" creationId="{00000000-0000-0000-0000-000000000000}"/>
          </ac:spMkLst>
        </pc:spChg>
        <pc:spChg chg="mod">
          <ac:chgData name="Leo Alexeyev" userId="367af64599bd8789" providerId="LiveId" clId="{7530104B-A1B2-4B17-837F-D87131900898}" dt="2025-09-08T22:18:13.011" v="347" actId="313"/>
          <ac:spMkLst>
            <pc:docMk/>
            <pc:sldMk cId="0" sldId="259"/>
            <ac:spMk id="3" creationId="{00000000-0000-0000-0000-000000000000}"/>
          </ac:spMkLst>
        </pc:spChg>
      </pc:sldChg>
      <pc:sldChg chg="modSp mod">
        <pc:chgData name="Leo Alexeyev" userId="367af64599bd8789" providerId="LiveId" clId="{7530104B-A1B2-4B17-837F-D87131900898}" dt="2025-09-08T22:19:04.911" v="352" actId="20577"/>
        <pc:sldMkLst>
          <pc:docMk/>
          <pc:sldMk cId="0" sldId="260"/>
        </pc:sldMkLst>
        <pc:spChg chg="mod">
          <ac:chgData name="Leo Alexeyev" userId="367af64599bd8789" providerId="LiveId" clId="{7530104B-A1B2-4B17-837F-D87131900898}" dt="2025-09-08T22:19:04.911" v="352" actId="20577"/>
          <ac:spMkLst>
            <pc:docMk/>
            <pc:sldMk cId="0" sldId="260"/>
            <ac:spMk id="2" creationId="{00000000-0000-0000-0000-000000000000}"/>
          </ac:spMkLst>
        </pc:spChg>
        <pc:spChg chg="mod">
          <ac:chgData name="Leo Alexeyev" userId="367af64599bd8789" providerId="LiveId" clId="{7530104B-A1B2-4B17-837F-D87131900898}" dt="2025-09-08T22:18:31.726" v="348"/>
          <ac:spMkLst>
            <pc:docMk/>
            <pc:sldMk cId="0" sldId="260"/>
            <ac:spMk id="3" creationId="{00000000-0000-0000-0000-000000000000}"/>
          </ac:spMkLst>
        </pc:spChg>
      </pc:sldChg>
      <pc:sldChg chg="modSp">
        <pc:chgData name="Leo Alexeyev" userId="367af64599bd8789" providerId="LiveId" clId="{7530104B-A1B2-4B17-837F-D87131900898}" dt="2025-09-08T22:19:58.141" v="361"/>
        <pc:sldMkLst>
          <pc:docMk/>
          <pc:sldMk cId="0" sldId="262"/>
        </pc:sldMkLst>
        <pc:spChg chg="mod">
          <ac:chgData name="Leo Alexeyev" userId="367af64599bd8789" providerId="LiveId" clId="{7530104B-A1B2-4B17-837F-D87131900898}" dt="2025-09-08T22:19:58.141" v="361"/>
          <ac:spMkLst>
            <pc:docMk/>
            <pc:sldMk cId="0" sldId="262"/>
            <ac:spMk id="3" creationId="{00000000-0000-0000-0000-000000000000}"/>
          </ac:spMkLst>
        </pc:spChg>
      </pc:sldChg>
      <pc:sldChg chg="modSp">
        <pc:chgData name="Leo Alexeyev" userId="367af64599bd8789" providerId="LiveId" clId="{7530104B-A1B2-4B17-837F-D87131900898}" dt="2025-09-08T22:20:07.281" v="362"/>
        <pc:sldMkLst>
          <pc:docMk/>
          <pc:sldMk cId="0" sldId="263"/>
        </pc:sldMkLst>
        <pc:spChg chg="mod">
          <ac:chgData name="Leo Alexeyev" userId="367af64599bd8789" providerId="LiveId" clId="{7530104B-A1B2-4B17-837F-D87131900898}" dt="2025-09-08T22:20:07.281" v="362"/>
          <ac:spMkLst>
            <pc:docMk/>
            <pc:sldMk cId="0" sldId="263"/>
            <ac:spMk id="3" creationId="{00000000-0000-0000-0000-000000000000}"/>
          </ac:spMkLst>
        </pc:spChg>
      </pc:sldChg>
      <pc:sldChg chg="modSp mod">
        <pc:chgData name="Leo Alexeyev" userId="367af64599bd8789" providerId="LiveId" clId="{7530104B-A1B2-4B17-837F-D87131900898}" dt="2025-09-08T22:26:31.552" v="383" actId="20577"/>
        <pc:sldMkLst>
          <pc:docMk/>
          <pc:sldMk cId="0" sldId="266"/>
        </pc:sldMkLst>
        <pc:spChg chg="mod">
          <ac:chgData name="Leo Alexeyev" userId="367af64599bd8789" providerId="LiveId" clId="{7530104B-A1B2-4B17-837F-D87131900898}" dt="2025-09-08T22:26:31.552" v="383" actId="20577"/>
          <ac:spMkLst>
            <pc:docMk/>
            <pc:sldMk cId="0" sldId="266"/>
            <ac:spMk id="3" creationId="{00000000-0000-0000-0000-000000000000}"/>
          </ac:spMkLst>
        </pc:spChg>
      </pc:sldChg>
      <pc:sldChg chg="modSp mod">
        <pc:chgData name="Leo Alexeyev" userId="367af64599bd8789" providerId="LiveId" clId="{7530104B-A1B2-4B17-837F-D87131900898}" dt="2025-09-02T20:11:56.327" v="8" actId="20577"/>
        <pc:sldMkLst>
          <pc:docMk/>
          <pc:sldMk cId="0" sldId="268"/>
        </pc:sldMkLst>
        <pc:spChg chg="mod">
          <ac:chgData name="Leo Alexeyev" userId="367af64599bd8789" providerId="LiveId" clId="{7530104B-A1B2-4B17-837F-D87131900898}" dt="2025-09-02T20:11:56.327" v="8" actId="20577"/>
          <ac:spMkLst>
            <pc:docMk/>
            <pc:sldMk cId="0" sldId="268"/>
            <ac:spMk id="3" creationId="{00000000-0000-0000-0000-000000000000}"/>
          </ac:spMkLst>
        </pc:spChg>
      </pc:sldChg>
      <pc:sldChg chg="modSp add mod">
        <pc:chgData name="Leo Alexeyev" userId="367af64599bd8789" providerId="LiveId" clId="{7530104B-A1B2-4B17-837F-D87131900898}" dt="2025-09-08T22:19:24.605" v="360"/>
        <pc:sldMkLst>
          <pc:docMk/>
          <pc:sldMk cId="3195157779" sldId="275"/>
        </pc:sldMkLst>
        <pc:spChg chg="mod">
          <ac:chgData name="Leo Alexeyev" userId="367af64599bd8789" providerId="LiveId" clId="{7530104B-A1B2-4B17-837F-D87131900898}" dt="2025-09-08T22:19:22.038" v="359" actId="20577"/>
          <ac:spMkLst>
            <pc:docMk/>
            <pc:sldMk cId="3195157779" sldId="275"/>
            <ac:spMk id="2" creationId="{38215F27-5130-86F5-6269-62BB02DB4CD8}"/>
          </ac:spMkLst>
        </pc:spChg>
        <pc:spChg chg="mod">
          <ac:chgData name="Leo Alexeyev" userId="367af64599bd8789" providerId="LiveId" clId="{7530104B-A1B2-4B17-837F-D87131900898}" dt="2025-09-08T22:19:24.605" v="360"/>
          <ac:spMkLst>
            <pc:docMk/>
            <pc:sldMk cId="3195157779" sldId="275"/>
            <ac:spMk id="3" creationId="{5AFE27A1-4913-C810-8041-93CBA8EAE32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09422"/>
            <a:ext cx="10200640" cy="697535"/>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5416" y="1858517"/>
            <a:ext cx="7898130" cy="204851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9/8/2025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2995" y="1671954"/>
            <a:ext cx="7449820" cy="1757045"/>
          </a:xfrm>
          <a:prstGeom prst="rect">
            <a:avLst/>
          </a:prstGeom>
        </p:spPr>
        <p:txBody>
          <a:bodyPr vert="horz" wrap="square" lIns="0" tIns="121285" rIns="0" bIns="0" rtlCol="0">
            <a:spAutoFit/>
          </a:bodyPr>
          <a:lstStyle/>
          <a:p>
            <a:pPr marL="2124710" marR="5080" indent="-2112645">
              <a:lnSpc>
                <a:spcPts val="6430"/>
              </a:lnSpc>
              <a:spcBef>
                <a:spcPts val="955"/>
              </a:spcBef>
            </a:pPr>
            <a:r>
              <a:rPr sz="6000" dirty="0"/>
              <a:t>CS3630</a:t>
            </a:r>
            <a:r>
              <a:rPr sz="6000" spc="-85" dirty="0"/>
              <a:t> </a:t>
            </a:r>
            <a:r>
              <a:rPr sz="6000" dirty="0"/>
              <a:t>Project</a:t>
            </a:r>
            <a:r>
              <a:rPr sz="6000" spc="-80" dirty="0"/>
              <a:t> </a:t>
            </a:r>
            <a:r>
              <a:rPr lang="en-US" sz="6000" spc="-80" dirty="0"/>
              <a:t>3</a:t>
            </a:r>
            <a:r>
              <a:rPr sz="6000" spc="-80" dirty="0"/>
              <a:t> </a:t>
            </a:r>
            <a:r>
              <a:rPr sz="6000" spc="-10" dirty="0"/>
              <a:t>Report </a:t>
            </a:r>
            <a:r>
              <a:rPr sz="6000" dirty="0"/>
              <a:t>(Fall 2026)</a:t>
            </a:r>
            <a:endParaRPr sz="6000" dirty="0"/>
          </a:p>
        </p:txBody>
      </p:sp>
      <p:sp>
        <p:nvSpPr>
          <p:cNvPr id="3" name="object 3"/>
          <p:cNvSpPr txBox="1"/>
          <p:nvPr/>
        </p:nvSpPr>
        <p:spPr>
          <a:xfrm>
            <a:off x="5026533" y="3989349"/>
            <a:ext cx="2139950" cy="1212850"/>
          </a:xfrm>
          <a:prstGeom prst="rect">
            <a:avLst/>
          </a:prstGeom>
        </p:spPr>
        <p:txBody>
          <a:bodyPr vert="horz" wrap="square" lIns="0" tIns="12700" rIns="0" bIns="0" rtlCol="0">
            <a:spAutoFit/>
          </a:bodyPr>
          <a:lstStyle/>
          <a:p>
            <a:pPr marL="285115" marR="279400" algn="ctr">
              <a:lnSpc>
                <a:spcPct val="118200"/>
              </a:lnSpc>
              <a:spcBef>
                <a:spcPts val="100"/>
              </a:spcBef>
            </a:pPr>
            <a:r>
              <a:rPr sz="2200" dirty="0">
                <a:latin typeface="Calibri"/>
                <a:cs typeface="Calibri"/>
              </a:rPr>
              <a:t>Name:</a:t>
            </a:r>
            <a:r>
              <a:rPr sz="2200" spc="-45" dirty="0">
                <a:latin typeface="Calibri"/>
                <a:cs typeface="Calibri"/>
              </a:rPr>
              <a:t> </a:t>
            </a:r>
            <a:r>
              <a:rPr sz="2200" spc="-25" dirty="0">
                <a:solidFill>
                  <a:srgbClr val="808080"/>
                </a:solidFill>
                <a:latin typeface="Calibri"/>
                <a:cs typeface="Calibri"/>
              </a:rPr>
              <a:t>XXX </a:t>
            </a:r>
            <a:r>
              <a:rPr sz="2200" dirty="0">
                <a:latin typeface="Calibri"/>
                <a:cs typeface="Calibri"/>
              </a:rPr>
              <a:t>GT</a:t>
            </a:r>
            <a:r>
              <a:rPr sz="2200" spc="-45" dirty="0">
                <a:latin typeface="Calibri"/>
                <a:cs typeface="Calibri"/>
              </a:rPr>
              <a:t> </a:t>
            </a:r>
            <a:r>
              <a:rPr sz="2200" dirty="0">
                <a:latin typeface="Calibri"/>
                <a:cs typeface="Calibri"/>
              </a:rPr>
              <a:t>Email:</a:t>
            </a:r>
            <a:r>
              <a:rPr sz="2200" spc="-55" dirty="0">
                <a:latin typeface="Calibri"/>
                <a:cs typeface="Calibri"/>
              </a:rPr>
              <a:t> </a:t>
            </a:r>
            <a:r>
              <a:rPr sz="2200" spc="-25" dirty="0">
                <a:solidFill>
                  <a:srgbClr val="808080"/>
                </a:solidFill>
                <a:latin typeface="Calibri"/>
                <a:cs typeface="Calibri"/>
              </a:rPr>
              <a:t>XXX</a:t>
            </a:r>
            <a:endParaRPr sz="2200">
              <a:latin typeface="Calibri"/>
              <a:cs typeface="Calibri"/>
            </a:endParaRPr>
          </a:p>
          <a:p>
            <a:pPr algn="ctr">
              <a:lnSpc>
                <a:spcPct val="100000"/>
              </a:lnSpc>
              <a:spcBef>
                <a:spcPts val="465"/>
              </a:spcBef>
            </a:pPr>
            <a:r>
              <a:rPr sz="2200" dirty="0">
                <a:latin typeface="Calibri"/>
                <a:cs typeface="Calibri"/>
              </a:rPr>
              <a:t>GT</a:t>
            </a:r>
            <a:r>
              <a:rPr sz="2200" spc="-65" dirty="0">
                <a:latin typeface="Calibri"/>
                <a:cs typeface="Calibri"/>
              </a:rPr>
              <a:t> </a:t>
            </a:r>
            <a:r>
              <a:rPr sz="2200" dirty="0">
                <a:latin typeface="Calibri"/>
                <a:cs typeface="Calibri"/>
              </a:rPr>
              <a:t>Username:</a:t>
            </a:r>
            <a:r>
              <a:rPr sz="2200" spc="-65" dirty="0">
                <a:latin typeface="Calibri"/>
                <a:cs typeface="Calibri"/>
              </a:rPr>
              <a:t> </a:t>
            </a:r>
            <a:r>
              <a:rPr sz="2200" spc="-25" dirty="0">
                <a:solidFill>
                  <a:srgbClr val="808080"/>
                </a:solidFill>
                <a:latin typeface="Calibri"/>
                <a:cs typeface="Calibri"/>
              </a:rPr>
              <a:t>XXX</a:t>
            </a:r>
            <a:endParaRPr sz="22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1.1</a:t>
            </a:r>
            <a:r>
              <a:rPr spc="-100" dirty="0"/>
              <a:t> </a:t>
            </a:r>
            <a:r>
              <a:rPr b="0" dirty="0">
                <a:latin typeface="Calibri"/>
                <a:cs typeface="Calibri"/>
              </a:rPr>
              <a:t>State</a:t>
            </a:r>
            <a:r>
              <a:rPr b="0" spc="-80" dirty="0">
                <a:latin typeface="Calibri"/>
                <a:cs typeface="Calibri"/>
              </a:rPr>
              <a:t> </a:t>
            </a:r>
            <a:r>
              <a:rPr b="0" spc="-20" dirty="0">
                <a:latin typeface="Calibri"/>
                <a:cs typeface="Calibri"/>
              </a:rPr>
              <a:t>Abstractions</a:t>
            </a:r>
            <a:r>
              <a:rPr b="0" spc="-75" dirty="0">
                <a:latin typeface="Calibri"/>
                <a:cs typeface="Calibri"/>
              </a:rPr>
              <a:t> </a:t>
            </a:r>
            <a:r>
              <a:rPr b="0" dirty="0">
                <a:latin typeface="Calibri"/>
                <a:cs typeface="Calibri"/>
              </a:rPr>
              <a:t>[2</a:t>
            </a:r>
            <a:r>
              <a:rPr b="0" spc="-75" dirty="0">
                <a:latin typeface="Calibri"/>
                <a:cs typeface="Calibri"/>
              </a:rPr>
              <a:t> </a:t>
            </a:r>
            <a:r>
              <a:rPr b="0" dirty="0">
                <a:latin typeface="Calibri"/>
                <a:cs typeface="Calibri"/>
              </a:rPr>
              <a:t>pts</a:t>
            </a:r>
            <a:r>
              <a:rPr b="0" spc="-70" dirty="0">
                <a:latin typeface="Calibri"/>
                <a:cs typeface="Calibri"/>
              </a:rPr>
              <a:t> </a:t>
            </a:r>
            <a:r>
              <a:rPr b="0" spc="-10" dirty="0">
                <a:latin typeface="Calibri"/>
                <a:cs typeface="Calibri"/>
              </a:rPr>
              <a:t>each]</a:t>
            </a:r>
          </a:p>
        </p:txBody>
      </p:sp>
      <p:sp>
        <p:nvSpPr>
          <p:cNvPr id="3" name="object 3"/>
          <p:cNvSpPr txBox="1"/>
          <p:nvPr/>
        </p:nvSpPr>
        <p:spPr>
          <a:xfrm>
            <a:off x="788923" y="1717040"/>
            <a:ext cx="9686925" cy="4060086"/>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a:cs typeface="Arial"/>
              </a:rPr>
              <a:t>Identify</a:t>
            </a:r>
            <a:r>
              <a:rPr sz="1800" spc="-35" dirty="0">
                <a:latin typeface="Arial"/>
                <a:cs typeface="Arial"/>
              </a:rPr>
              <a:t> </a:t>
            </a:r>
            <a:r>
              <a:rPr sz="1800" dirty="0">
                <a:latin typeface="Arial"/>
                <a:cs typeface="Arial"/>
              </a:rPr>
              <a:t>whether</a:t>
            </a:r>
            <a:r>
              <a:rPr sz="1800" spc="10" dirty="0">
                <a:latin typeface="Arial"/>
                <a:cs typeface="Arial"/>
              </a:rPr>
              <a:t> </a:t>
            </a:r>
            <a:r>
              <a:rPr sz="1800" dirty="0">
                <a:latin typeface="Arial"/>
                <a:cs typeface="Arial"/>
              </a:rPr>
              <a:t>the</a:t>
            </a:r>
            <a:r>
              <a:rPr sz="1800" spc="-45" dirty="0">
                <a:latin typeface="Arial"/>
                <a:cs typeface="Arial"/>
              </a:rPr>
              <a:t> </a:t>
            </a:r>
            <a:r>
              <a:rPr sz="1800" dirty="0">
                <a:latin typeface="Arial"/>
                <a:cs typeface="Arial"/>
              </a:rPr>
              <a:t>following</a:t>
            </a:r>
            <a:r>
              <a:rPr sz="1800" spc="15" dirty="0">
                <a:latin typeface="Arial"/>
                <a:cs typeface="Arial"/>
              </a:rPr>
              <a:t> </a:t>
            </a:r>
            <a:r>
              <a:rPr sz="1800" dirty="0">
                <a:latin typeface="Arial"/>
                <a:cs typeface="Arial"/>
              </a:rPr>
              <a:t>situations</a:t>
            </a:r>
            <a:r>
              <a:rPr sz="1800" spc="-25" dirty="0">
                <a:latin typeface="Arial"/>
                <a:cs typeface="Arial"/>
              </a:rPr>
              <a:t> </a:t>
            </a:r>
            <a:r>
              <a:rPr sz="1800" dirty="0">
                <a:latin typeface="Arial"/>
                <a:cs typeface="Arial"/>
              </a:rPr>
              <a:t>follow</a:t>
            </a:r>
            <a:r>
              <a:rPr sz="1800" spc="-30" dirty="0">
                <a:latin typeface="Arial"/>
                <a:cs typeface="Arial"/>
              </a:rPr>
              <a:t> </a:t>
            </a:r>
            <a:r>
              <a:rPr sz="1800" dirty="0">
                <a:latin typeface="Arial"/>
                <a:cs typeface="Arial"/>
              </a:rPr>
              <a:t>a</a:t>
            </a:r>
            <a:r>
              <a:rPr sz="1800" spc="-35" dirty="0">
                <a:latin typeface="Arial"/>
                <a:cs typeface="Arial"/>
              </a:rPr>
              <a:t> </a:t>
            </a:r>
            <a:r>
              <a:rPr sz="1800" dirty="0">
                <a:latin typeface="Arial"/>
                <a:cs typeface="Arial"/>
              </a:rPr>
              <a:t>Bayesian</a:t>
            </a:r>
            <a:r>
              <a:rPr sz="1800" spc="-10" dirty="0">
                <a:latin typeface="Arial"/>
                <a:cs typeface="Arial"/>
              </a:rPr>
              <a:t> </a:t>
            </a:r>
            <a:r>
              <a:rPr sz="1800" dirty="0">
                <a:latin typeface="Arial"/>
                <a:cs typeface="Arial"/>
              </a:rPr>
              <a:t>or</a:t>
            </a:r>
            <a:r>
              <a:rPr sz="1800" spc="-35" dirty="0">
                <a:latin typeface="Arial"/>
                <a:cs typeface="Arial"/>
              </a:rPr>
              <a:t> </a:t>
            </a:r>
            <a:r>
              <a:rPr sz="1800" dirty="0">
                <a:latin typeface="Arial"/>
                <a:cs typeface="Arial"/>
              </a:rPr>
              <a:t>Frequentist</a:t>
            </a:r>
            <a:r>
              <a:rPr sz="1800" spc="-25" dirty="0">
                <a:latin typeface="Arial"/>
                <a:cs typeface="Arial"/>
              </a:rPr>
              <a:t> </a:t>
            </a:r>
            <a:r>
              <a:rPr sz="1800" dirty="0">
                <a:latin typeface="Arial"/>
                <a:cs typeface="Arial"/>
              </a:rPr>
              <a:t>approach.</a:t>
            </a:r>
            <a:r>
              <a:rPr sz="1800" spc="-20" dirty="0">
                <a:latin typeface="Arial"/>
                <a:cs typeface="Arial"/>
              </a:rPr>
              <a:t> </a:t>
            </a:r>
            <a:r>
              <a:rPr sz="1800" dirty="0">
                <a:latin typeface="Arial"/>
                <a:cs typeface="Arial"/>
              </a:rPr>
              <a:t>Give</a:t>
            </a:r>
            <a:r>
              <a:rPr sz="1800" spc="-35" dirty="0">
                <a:latin typeface="Arial"/>
                <a:cs typeface="Arial"/>
              </a:rPr>
              <a:t> </a:t>
            </a:r>
            <a:r>
              <a:rPr sz="1800" dirty="0">
                <a:latin typeface="Arial"/>
                <a:cs typeface="Arial"/>
              </a:rPr>
              <a:t>a</a:t>
            </a:r>
            <a:r>
              <a:rPr sz="1800" spc="-45" dirty="0">
                <a:latin typeface="Arial"/>
                <a:cs typeface="Arial"/>
              </a:rPr>
              <a:t> </a:t>
            </a:r>
            <a:r>
              <a:rPr sz="1800" spc="-10" dirty="0">
                <a:latin typeface="Arial"/>
                <a:cs typeface="Arial"/>
              </a:rPr>
              <a:t>short </a:t>
            </a:r>
            <a:r>
              <a:rPr sz="1800" dirty="0">
                <a:latin typeface="Arial"/>
                <a:cs typeface="Arial"/>
              </a:rPr>
              <a:t>explanation</a:t>
            </a:r>
            <a:r>
              <a:rPr sz="1800" spc="-45" dirty="0">
                <a:latin typeface="Arial"/>
                <a:cs typeface="Arial"/>
              </a:rPr>
              <a:t> </a:t>
            </a:r>
            <a:r>
              <a:rPr sz="1800" spc="-20" dirty="0">
                <a:latin typeface="Arial"/>
                <a:cs typeface="Arial"/>
              </a:rPr>
              <a:t>why.</a:t>
            </a:r>
            <a:endParaRPr sz="1800" dirty="0">
              <a:latin typeface="Arial"/>
              <a:cs typeface="Arial"/>
            </a:endParaRPr>
          </a:p>
          <a:p>
            <a:pPr>
              <a:lnSpc>
                <a:spcPct val="100000"/>
              </a:lnSpc>
              <a:spcBef>
                <a:spcPts val="90"/>
              </a:spcBef>
            </a:pPr>
            <a:endParaRPr sz="1800" dirty="0">
              <a:latin typeface="Arial"/>
              <a:cs typeface="Arial"/>
            </a:endParaRPr>
          </a:p>
          <a:p>
            <a:pPr marL="469900">
              <a:lnSpc>
                <a:spcPts val="2105"/>
              </a:lnSpc>
              <a:tabLst>
                <a:tab pos="812800" algn="l"/>
              </a:tabLst>
            </a:pPr>
            <a:r>
              <a:rPr lang="en-US" dirty="0"/>
              <a:t>	Suppose I want to know if it will rain tomorrow.  Please explain a frequentist approach 	to this problem, then explain a </a:t>
            </a:r>
            <a:r>
              <a:rPr lang="en-US" dirty="0" err="1"/>
              <a:t>bayesian</a:t>
            </a:r>
            <a:r>
              <a:rPr lang="en-US" dirty="0"/>
              <a:t> approach. </a:t>
            </a:r>
            <a:endParaRPr lang="en-US" sz="1800" dirty="0">
              <a:latin typeface="Arial"/>
              <a:cs typeface="Arial"/>
            </a:endParaRPr>
          </a:p>
          <a:p>
            <a:pPr marL="782955">
              <a:lnSpc>
                <a:spcPts val="2105"/>
              </a:lnSpc>
            </a:pPr>
            <a:r>
              <a:rPr sz="1800" dirty="0">
                <a:solidFill>
                  <a:srgbClr val="808080"/>
                </a:solidFill>
                <a:latin typeface="Calibri"/>
                <a:cs typeface="Calibri"/>
              </a:rPr>
              <a:t>&lt;Put</a:t>
            </a:r>
            <a:r>
              <a:rPr sz="1800" spc="-40" dirty="0">
                <a:solidFill>
                  <a:srgbClr val="808080"/>
                </a:solidFill>
                <a:latin typeface="Calibri"/>
                <a:cs typeface="Calibri"/>
              </a:rPr>
              <a:t> </a:t>
            </a:r>
            <a:r>
              <a:rPr sz="1800" dirty="0">
                <a:solidFill>
                  <a:srgbClr val="808080"/>
                </a:solidFill>
                <a:latin typeface="Calibri"/>
                <a:cs typeface="Calibri"/>
              </a:rPr>
              <a:t>your</a:t>
            </a:r>
            <a:r>
              <a:rPr sz="1800" spc="-30" dirty="0">
                <a:solidFill>
                  <a:srgbClr val="808080"/>
                </a:solidFill>
                <a:latin typeface="Calibri"/>
                <a:cs typeface="Calibri"/>
              </a:rPr>
              <a:t> </a:t>
            </a:r>
            <a:r>
              <a:rPr sz="1800" dirty="0">
                <a:solidFill>
                  <a:srgbClr val="808080"/>
                </a:solidFill>
                <a:latin typeface="Calibri"/>
                <a:cs typeface="Calibri"/>
              </a:rPr>
              <a:t>answer</a:t>
            </a:r>
            <a:r>
              <a:rPr sz="1800" spc="-30" dirty="0">
                <a:solidFill>
                  <a:srgbClr val="808080"/>
                </a:solidFill>
                <a:latin typeface="Calibri"/>
                <a:cs typeface="Calibri"/>
              </a:rPr>
              <a:t> </a:t>
            </a:r>
            <a:r>
              <a:rPr sz="1800" dirty="0">
                <a:solidFill>
                  <a:srgbClr val="808080"/>
                </a:solidFill>
                <a:latin typeface="Calibri"/>
                <a:cs typeface="Calibri"/>
              </a:rPr>
              <a:t>here,</a:t>
            </a:r>
            <a:r>
              <a:rPr sz="1800" spc="-30" dirty="0">
                <a:solidFill>
                  <a:srgbClr val="808080"/>
                </a:solidFill>
                <a:latin typeface="Calibri"/>
                <a:cs typeface="Calibri"/>
              </a:rPr>
              <a:t> </a:t>
            </a:r>
            <a:r>
              <a:rPr sz="1800" dirty="0">
                <a:solidFill>
                  <a:srgbClr val="808080"/>
                </a:solidFill>
                <a:latin typeface="Calibri"/>
                <a:cs typeface="Calibri"/>
              </a:rPr>
              <a:t>replace</a:t>
            </a:r>
            <a:r>
              <a:rPr sz="1800" spc="-15" dirty="0">
                <a:solidFill>
                  <a:srgbClr val="808080"/>
                </a:solidFill>
                <a:latin typeface="Calibri"/>
                <a:cs typeface="Calibri"/>
              </a:rPr>
              <a:t> </a:t>
            </a:r>
            <a:r>
              <a:rPr sz="1800" dirty="0">
                <a:solidFill>
                  <a:srgbClr val="808080"/>
                </a:solidFill>
                <a:latin typeface="Calibri"/>
                <a:cs typeface="Calibri"/>
              </a:rPr>
              <a:t>this</a:t>
            </a:r>
            <a:r>
              <a:rPr sz="1800" spc="-35" dirty="0">
                <a:solidFill>
                  <a:srgbClr val="808080"/>
                </a:solidFill>
                <a:latin typeface="Calibri"/>
                <a:cs typeface="Calibri"/>
              </a:rPr>
              <a:t> </a:t>
            </a:r>
            <a:r>
              <a:rPr sz="1800" spc="-10" dirty="0">
                <a:solidFill>
                  <a:srgbClr val="808080"/>
                </a:solidFill>
                <a:latin typeface="Calibri"/>
                <a:cs typeface="Calibri"/>
              </a:rPr>
              <a:t>text&gt;</a:t>
            </a:r>
            <a:endParaRPr sz="1800" dirty="0">
              <a:latin typeface="Calibri"/>
              <a:cs typeface="Calibri"/>
            </a:endParaRPr>
          </a:p>
          <a:p>
            <a:pPr>
              <a:lnSpc>
                <a:spcPct val="100000"/>
              </a:lnSpc>
              <a:spcBef>
                <a:spcPts val="70"/>
              </a:spcBef>
            </a:pPr>
            <a:endParaRPr lang="en-US" sz="1800" dirty="0">
              <a:latin typeface="Calibri"/>
              <a:cs typeface="Calibri"/>
            </a:endParaRPr>
          </a:p>
          <a:p>
            <a:pPr marL="469900">
              <a:spcBef>
                <a:spcPts val="5"/>
              </a:spcBef>
              <a:tabLst>
                <a:tab pos="812800" algn="l"/>
              </a:tabLst>
            </a:pPr>
            <a:r>
              <a:rPr lang="en-US" dirty="0"/>
              <a:t>	Explain when a frequentist approach might be better.  Explain when a </a:t>
            </a:r>
            <a:r>
              <a:rPr lang="en-US" dirty="0" err="1"/>
              <a:t>bayesian</a:t>
            </a:r>
            <a:r>
              <a:rPr lang="en-US" dirty="0"/>
              <a:t> one 	might be better.</a:t>
            </a:r>
            <a:endParaRPr lang="en-US" sz="1800" dirty="0">
              <a:latin typeface="Arial"/>
              <a:cs typeface="Arial"/>
            </a:endParaRPr>
          </a:p>
          <a:p>
            <a:pPr marL="782955">
              <a:lnSpc>
                <a:spcPct val="100000"/>
              </a:lnSpc>
              <a:spcBef>
                <a:spcPts val="275"/>
              </a:spcBef>
            </a:pPr>
            <a:r>
              <a:rPr lang="en-US" sz="1800" dirty="0">
                <a:solidFill>
                  <a:srgbClr val="808080"/>
                </a:solidFill>
                <a:latin typeface="Calibri"/>
                <a:cs typeface="Calibri"/>
              </a:rPr>
              <a:t>&lt;Put</a:t>
            </a:r>
            <a:r>
              <a:rPr lang="en-US" sz="1800" spc="-40" dirty="0">
                <a:solidFill>
                  <a:srgbClr val="808080"/>
                </a:solidFill>
                <a:latin typeface="Calibri"/>
                <a:cs typeface="Calibri"/>
              </a:rPr>
              <a:t> </a:t>
            </a:r>
            <a:r>
              <a:rPr lang="en-US" sz="1800" dirty="0">
                <a:solidFill>
                  <a:srgbClr val="808080"/>
                </a:solidFill>
                <a:latin typeface="Calibri"/>
                <a:cs typeface="Calibri"/>
              </a:rPr>
              <a:t>your</a:t>
            </a:r>
            <a:r>
              <a:rPr lang="en-US" sz="1800" spc="-30" dirty="0">
                <a:solidFill>
                  <a:srgbClr val="808080"/>
                </a:solidFill>
                <a:latin typeface="Calibri"/>
                <a:cs typeface="Calibri"/>
              </a:rPr>
              <a:t> </a:t>
            </a:r>
            <a:r>
              <a:rPr lang="en-US" sz="1800" dirty="0">
                <a:solidFill>
                  <a:srgbClr val="808080"/>
                </a:solidFill>
                <a:latin typeface="Calibri"/>
                <a:cs typeface="Calibri"/>
              </a:rPr>
              <a:t>answer</a:t>
            </a:r>
            <a:r>
              <a:rPr lang="en-US" sz="1800" spc="-30" dirty="0">
                <a:solidFill>
                  <a:srgbClr val="808080"/>
                </a:solidFill>
                <a:latin typeface="Calibri"/>
                <a:cs typeface="Calibri"/>
              </a:rPr>
              <a:t> </a:t>
            </a:r>
            <a:r>
              <a:rPr lang="en-US" sz="1800" dirty="0">
                <a:solidFill>
                  <a:srgbClr val="808080"/>
                </a:solidFill>
                <a:latin typeface="Calibri"/>
                <a:cs typeface="Calibri"/>
              </a:rPr>
              <a:t>here,</a:t>
            </a:r>
            <a:r>
              <a:rPr lang="en-US" sz="1800" spc="-30" dirty="0">
                <a:solidFill>
                  <a:srgbClr val="808080"/>
                </a:solidFill>
                <a:latin typeface="Calibri"/>
                <a:cs typeface="Calibri"/>
              </a:rPr>
              <a:t> </a:t>
            </a:r>
            <a:r>
              <a:rPr lang="en-US" sz="1800" dirty="0">
                <a:solidFill>
                  <a:srgbClr val="808080"/>
                </a:solidFill>
                <a:latin typeface="Calibri"/>
                <a:cs typeface="Calibri"/>
              </a:rPr>
              <a:t>replace</a:t>
            </a:r>
            <a:r>
              <a:rPr lang="en-US" sz="1800" spc="-15" dirty="0">
                <a:solidFill>
                  <a:srgbClr val="808080"/>
                </a:solidFill>
                <a:latin typeface="Calibri"/>
                <a:cs typeface="Calibri"/>
              </a:rPr>
              <a:t> </a:t>
            </a:r>
            <a:r>
              <a:rPr lang="en-US" sz="1800" dirty="0">
                <a:solidFill>
                  <a:srgbClr val="808080"/>
                </a:solidFill>
                <a:latin typeface="Calibri"/>
                <a:cs typeface="Calibri"/>
              </a:rPr>
              <a:t>this</a:t>
            </a:r>
            <a:r>
              <a:rPr lang="en-US" sz="1800" spc="-35" dirty="0">
                <a:solidFill>
                  <a:srgbClr val="808080"/>
                </a:solidFill>
                <a:latin typeface="Calibri"/>
                <a:cs typeface="Calibri"/>
              </a:rPr>
              <a:t> </a:t>
            </a:r>
            <a:r>
              <a:rPr lang="en-US" sz="1800" spc="-10" dirty="0">
                <a:solidFill>
                  <a:srgbClr val="808080"/>
                </a:solidFill>
                <a:latin typeface="Calibri"/>
                <a:cs typeface="Calibri"/>
              </a:rPr>
              <a:t>text&gt;</a:t>
            </a:r>
          </a:p>
          <a:p>
            <a:pPr marL="782955">
              <a:lnSpc>
                <a:spcPct val="100000"/>
              </a:lnSpc>
              <a:spcBef>
                <a:spcPts val="275"/>
              </a:spcBef>
            </a:pPr>
            <a:endParaRPr lang="en-US" sz="1800" dirty="0">
              <a:latin typeface="Arial"/>
              <a:cs typeface="Arial"/>
            </a:endParaRPr>
          </a:p>
          <a:p>
            <a:r>
              <a:rPr lang="en-US" dirty="0"/>
              <a:t>	Give an example from your everyday life where you might use a </a:t>
            </a:r>
            <a:r>
              <a:rPr lang="en-US" dirty="0" err="1"/>
              <a:t>bayesian</a:t>
            </a:r>
            <a:r>
              <a:rPr lang="en-US" dirty="0"/>
              <a:t> or 	frequentist approach. </a:t>
            </a:r>
          </a:p>
          <a:p>
            <a:pPr marL="782955">
              <a:lnSpc>
                <a:spcPct val="100000"/>
              </a:lnSpc>
              <a:spcBef>
                <a:spcPts val="670"/>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40" dirty="0">
                <a:solidFill>
                  <a:srgbClr val="808080"/>
                </a:solidFill>
                <a:latin typeface="Calibri"/>
                <a:cs typeface="Calibri"/>
              </a:rPr>
              <a:t> </a:t>
            </a:r>
            <a:r>
              <a:rPr sz="1800" dirty="0">
                <a:solidFill>
                  <a:srgbClr val="808080"/>
                </a:solidFill>
                <a:latin typeface="Calibri"/>
                <a:cs typeface="Calibri"/>
              </a:rPr>
              <a:t>answer</a:t>
            </a:r>
            <a:r>
              <a:rPr sz="1800" spc="-60" dirty="0">
                <a:solidFill>
                  <a:srgbClr val="808080"/>
                </a:solidFill>
                <a:latin typeface="Calibri"/>
                <a:cs typeface="Calibri"/>
              </a:rPr>
              <a:t> </a:t>
            </a:r>
            <a:r>
              <a:rPr sz="1800" dirty="0">
                <a:solidFill>
                  <a:srgbClr val="808080"/>
                </a:solidFill>
                <a:latin typeface="Calibri"/>
                <a:cs typeface="Calibri"/>
              </a:rPr>
              <a:t>here,</a:t>
            </a:r>
            <a:r>
              <a:rPr sz="1800" spc="-45" dirty="0">
                <a:solidFill>
                  <a:srgbClr val="808080"/>
                </a:solidFill>
                <a:latin typeface="Calibri"/>
                <a:cs typeface="Calibri"/>
              </a:rPr>
              <a:t> </a:t>
            </a:r>
            <a:r>
              <a:rPr sz="1800" dirty="0">
                <a:solidFill>
                  <a:srgbClr val="808080"/>
                </a:solidFill>
                <a:latin typeface="Calibri"/>
                <a:cs typeface="Calibri"/>
              </a:rPr>
              <a:t>replace</a:t>
            </a:r>
            <a:r>
              <a:rPr sz="1800" spc="-45" dirty="0">
                <a:solidFill>
                  <a:srgbClr val="808080"/>
                </a:solidFill>
                <a:latin typeface="Calibri"/>
                <a:cs typeface="Calibri"/>
              </a:rPr>
              <a:t> </a:t>
            </a:r>
            <a:r>
              <a:rPr sz="1800" dirty="0">
                <a:solidFill>
                  <a:srgbClr val="808080"/>
                </a:solidFill>
                <a:latin typeface="Calibri"/>
                <a:cs typeface="Calibri"/>
              </a:rPr>
              <a:t>this</a:t>
            </a:r>
            <a:r>
              <a:rPr sz="1800" spc="-50" dirty="0">
                <a:solidFill>
                  <a:srgbClr val="808080"/>
                </a:solidFill>
                <a:latin typeface="Calibri"/>
                <a:cs typeface="Calibri"/>
              </a:rPr>
              <a:t> </a:t>
            </a:r>
            <a:r>
              <a:rPr sz="1800" spc="-10" dirty="0">
                <a:solidFill>
                  <a:srgbClr val="808080"/>
                </a:solidFill>
                <a:latin typeface="Calibri"/>
                <a:cs typeface="Calibri"/>
              </a:rPr>
              <a:t>text&gt;</a:t>
            </a:r>
            <a:endParaRPr sz="18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1.2</a:t>
            </a:r>
            <a:r>
              <a:rPr spc="-100" dirty="0"/>
              <a:t> </a:t>
            </a:r>
            <a:r>
              <a:rPr b="0" dirty="0">
                <a:latin typeface="Calibri"/>
                <a:cs typeface="Calibri"/>
              </a:rPr>
              <a:t>State</a:t>
            </a:r>
            <a:r>
              <a:rPr b="0" spc="-85" dirty="0">
                <a:latin typeface="Calibri"/>
                <a:cs typeface="Calibri"/>
              </a:rPr>
              <a:t> </a:t>
            </a:r>
            <a:r>
              <a:rPr b="0" spc="-20" dirty="0">
                <a:latin typeface="Calibri"/>
                <a:cs typeface="Calibri"/>
              </a:rPr>
              <a:t>Abstractions</a:t>
            </a:r>
            <a:r>
              <a:rPr b="0" spc="-75" dirty="0">
                <a:latin typeface="Calibri"/>
                <a:cs typeface="Calibri"/>
              </a:rPr>
              <a:t> </a:t>
            </a:r>
            <a:r>
              <a:rPr b="0" dirty="0">
                <a:latin typeface="Calibri"/>
                <a:cs typeface="Calibri"/>
              </a:rPr>
              <a:t>[3</a:t>
            </a:r>
            <a:r>
              <a:rPr b="0" spc="-75" dirty="0">
                <a:latin typeface="Calibri"/>
                <a:cs typeface="Calibri"/>
              </a:rPr>
              <a:t> </a:t>
            </a:r>
            <a:r>
              <a:rPr b="0" spc="-20" dirty="0">
                <a:latin typeface="Calibri"/>
                <a:cs typeface="Calibri"/>
              </a:rPr>
              <a:t>pts]</a:t>
            </a:r>
          </a:p>
        </p:txBody>
      </p:sp>
      <p:sp>
        <p:nvSpPr>
          <p:cNvPr id="3" name="object 3"/>
          <p:cNvSpPr txBox="1"/>
          <p:nvPr/>
        </p:nvSpPr>
        <p:spPr>
          <a:xfrm>
            <a:off x="916939" y="1892300"/>
            <a:ext cx="9587230" cy="1461939"/>
          </a:xfrm>
          <a:prstGeom prst="rect">
            <a:avLst/>
          </a:prstGeom>
        </p:spPr>
        <p:txBody>
          <a:bodyPr vert="horz" wrap="square" lIns="0" tIns="12700" rIns="0" bIns="0" rtlCol="0">
            <a:spAutoFit/>
          </a:bodyPr>
          <a:lstStyle/>
          <a:p>
            <a:r>
              <a:rPr sz="1800" dirty="0">
                <a:latin typeface="Arial"/>
                <a:cs typeface="Arial"/>
              </a:rPr>
              <a:t>Suppose</a:t>
            </a:r>
            <a:r>
              <a:rPr sz="1800" spc="-20" dirty="0">
                <a:latin typeface="Arial"/>
                <a:cs typeface="Arial"/>
              </a:rPr>
              <a:t> </a:t>
            </a:r>
            <a:r>
              <a:rPr lang="en-US" spc="-20" dirty="0">
                <a:latin typeface="Arial"/>
                <a:cs typeface="Arial"/>
              </a:rPr>
              <a:t>our robot</a:t>
            </a:r>
            <a:r>
              <a:rPr sz="1800" spc="-10" dirty="0">
                <a:latin typeface="Arial"/>
                <a:cs typeface="Arial"/>
              </a:rPr>
              <a:t> </a:t>
            </a:r>
            <a:r>
              <a:rPr sz="1800" dirty="0">
                <a:latin typeface="Arial"/>
                <a:cs typeface="Arial"/>
              </a:rPr>
              <a:t>needs</a:t>
            </a:r>
            <a:r>
              <a:rPr sz="1800" spc="-15" dirty="0">
                <a:latin typeface="Arial"/>
                <a:cs typeface="Arial"/>
              </a:rPr>
              <a:t> </a:t>
            </a:r>
            <a:r>
              <a:rPr sz="1800" dirty="0">
                <a:latin typeface="Arial"/>
                <a:cs typeface="Arial"/>
              </a:rPr>
              <a:t>to</a:t>
            </a:r>
            <a:r>
              <a:rPr sz="1800" spc="-25" dirty="0">
                <a:latin typeface="Arial"/>
                <a:cs typeface="Arial"/>
              </a:rPr>
              <a:t> </a:t>
            </a:r>
            <a:r>
              <a:rPr sz="1800" dirty="0">
                <a:latin typeface="Arial"/>
                <a:cs typeface="Arial"/>
              </a:rPr>
              <a:t>charge</a:t>
            </a:r>
            <a:r>
              <a:rPr sz="1800" spc="-20" dirty="0">
                <a:latin typeface="Arial"/>
                <a:cs typeface="Arial"/>
              </a:rPr>
              <a:t> </a:t>
            </a:r>
            <a:r>
              <a:rPr sz="1800" dirty="0">
                <a:latin typeface="Arial"/>
                <a:cs typeface="Arial"/>
              </a:rPr>
              <a:t>every</a:t>
            </a:r>
            <a:r>
              <a:rPr sz="1800" spc="-20" dirty="0">
                <a:latin typeface="Arial"/>
                <a:cs typeface="Arial"/>
              </a:rPr>
              <a:t> </a:t>
            </a:r>
            <a:r>
              <a:rPr sz="1800" dirty="0">
                <a:latin typeface="Arial"/>
                <a:cs typeface="Arial"/>
              </a:rPr>
              <a:t>night,</a:t>
            </a:r>
            <a:r>
              <a:rPr sz="1800" spc="-5" dirty="0">
                <a:latin typeface="Arial"/>
                <a:cs typeface="Arial"/>
              </a:rPr>
              <a:t> </a:t>
            </a:r>
            <a:r>
              <a:rPr sz="1800" dirty="0">
                <a:latin typeface="Arial"/>
                <a:cs typeface="Arial"/>
              </a:rPr>
              <a:t>but</a:t>
            </a:r>
            <a:r>
              <a:rPr sz="1800" spc="-2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charger</a:t>
            </a:r>
            <a:r>
              <a:rPr sz="1800" spc="5"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located</a:t>
            </a:r>
            <a:r>
              <a:rPr sz="1800" spc="-15" dirty="0">
                <a:latin typeface="Arial"/>
                <a:cs typeface="Arial"/>
              </a:rPr>
              <a:t> </a:t>
            </a:r>
            <a:r>
              <a:rPr sz="1800" dirty="0">
                <a:latin typeface="Arial"/>
                <a:cs typeface="Arial"/>
              </a:rPr>
              <a:t>in</a:t>
            </a:r>
            <a:r>
              <a:rPr sz="1800" spc="-30" dirty="0">
                <a:latin typeface="Arial"/>
                <a:cs typeface="Arial"/>
              </a:rPr>
              <a:t> </a:t>
            </a:r>
            <a:r>
              <a:rPr sz="1800" dirty="0">
                <a:latin typeface="Arial"/>
                <a:cs typeface="Arial"/>
              </a:rPr>
              <a:t>the</a:t>
            </a:r>
            <a:r>
              <a:rPr lang="en-US" sz="1800" spc="-35" dirty="0">
                <a:latin typeface="Arial"/>
                <a:cs typeface="Arial"/>
              </a:rPr>
              <a:t> kitchen</a:t>
            </a:r>
            <a:r>
              <a:rPr sz="1800" spc="-10" dirty="0">
                <a:latin typeface="Arial"/>
                <a:cs typeface="Arial"/>
              </a:rPr>
              <a:t>. </a:t>
            </a:r>
            <a:r>
              <a:rPr lang="en-US" spc="-10" dirty="0">
                <a:latin typeface="Arial"/>
                <a:cs typeface="Arial"/>
              </a:rPr>
              <a:t>The robot’s</a:t>
            </a:r>
            <a:r>
              <a:rPr sz="1800" spc="-45" dirty="0">
                <a:latin typeface="Arial"/>
                <a:cs typeface="Arial"/>
              </a:rPr>
              <a:t> </a:t>
            </a:r>
            <a:r>
              <a:rPr sz="1800" dirty="0">
                <a:latin typeface="Arial"/>
                <a:cs typeface="Arial"/>
              </a:rPr>
              <a:t>robust</a:t>
            </a:r>
            <a:r>
              <a:rPr sz="1800" spc="-35" dirty="0">
                <a:latin typeface="Arial"/>
                <a:cs typeface="Arial"/>
              </a:rPr>
              <a:t> </a:t>
            </a:r>
            <a:r>
              <a:rPr sz="1800" dirty="0">
                <a:latin typeface="Arial"/>
                <a:cs typeface="Arial"/>
              </a:rPr>
              <a:t>software will</a:t>
            </a:r>
            <a:r>
              <a:rPr sz="1800" spc="10" dirty="0">
                <a:latin typeface="Arial"/>
                <a:cs typeface="Arial"/>
              </a:rPr>
              <a:t> </a:t>
            </a:r>
            <a:r>
              <a:rPr lang="en-US" dirty="0"/>
              <a:t>route it to its charger at the end of the night with 100% probability (unfortunately in the real world things don't play nice like this). What is the prior probability distribution of the robot's state every morning?</a:t>
            </a:r>
          </a:p>
          <a:p>
            <a:pPr marL="12700">
              <a:lnSpc>
                <a:spcPct val="100000"/>
              </a:lnSpc>
              <a:spcBef>
                <a:spcPts val="525"/>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40" dirty="0">
                <a:solidFill>
                  <a:srgbClr val="808080"/>
                </a:solidFill>
                <a:latin typeface="Calibri"/>
                <a:cs typeface="Calibri"/>
              </a:rPr>
              <a:t> </a:t>
            </a:r>
            <a:r>
              <a:rPr sz="1800" dirty="0">
                <a:solidFill>
                  <a:srgbClr val="808080"/>
                </a:solidFill>
                <a:latin typeface="Calibri"/>
                <a:cs typeface="Calibri"/>
              </a:rPr>
              <a:t>answer</a:t>
            </a:r>
            <a:r>
              <a:rPr sz="1800" spc="-60" dirty="0">
                <a:solidFill>
                  <a:srgbClr val="808080"/>
                </a:solidFill>
                <a:latin typeface="Calibri"/>
                <a:cs typeface="Calibri"/>
              </a:rPr>
              <a:t> </a:t>
            </a:r>
            <a:r>
              <a:rPr sz="1800" dirty="0">
                <a:solidFill>
                  <a:srgbClr val="808080"/>
                </a:solidFill>
                <a:latin typeface="Calibri"/>
                <a:cs typeface="Calibri"/>
              </a:rPr>
              <a:t>here,</a:t>
            </a:r>
            <a:r>
              <a:rPr sz="1800" spc="-45" dirty="0">
                <a:solidFill>
                  <a:srgbClr val="808080"/>
                </a:solidFill>
                <a:latin typeface="Calibri"/>
                <a:cs typeface="Calibri"/>
              </a:rPr>
              <a:t> </a:t>
            </a:r>
            <a:r>
              <a:rPr sz="1800" dirty="0">
                <a:solidFill>
                  <a:srgbClr val="808080"/>
                </a:solidFill>
                <a:latin typeface="Calibri"/>
                <a:cs typeface="Calibri"/>
              </a:rPr>
              <a:t>replace</a:t>
            </a:r>
            <a:r>
              <a:rPr sz="1800" spc="-45" dirty="0">
                <a:solidFill>
                  <a:srgbClr val="808080"/>
                </a:solidFill>
                <a:latin typeface="Calibri"/>
                <a:cs typeface="Calibri"/>
              </a:rPr>
              <a:t> </a:t>
            </a:r>
            <a:r>
              <a:rPr sz="1800" dirty="0">
                <a:solidFill>
                  <a:srgbClr val="808080"/>
                </a:solidFill>
                <a:latin typeface="Calibri"/>
                <a:cs typeface="Calibri"/>
              </a:rPr>
              <a:t>this</a:t>
            </a:r>
            <a:r>
              <a:rPr sz="1800" spc="-50" dirty="0">
                <a:solidFill>
                  <a:srgbClr val="808080"/>
                </a:solidFill>
                <a:latin typeface="Calibri"/>
                <a:cs typeface="Calibri"/>
              </a:rPr>
              <a:t> </a:t>
            </a:r>
            <a:r>
              <a:rPr sz="1800" spc="-10" dirty="0">
                <a:solidFill>
                  <a:srgbClr val="808080"/>
                </a:solidFill>
                <a:latin typeface="Calibri"/>
                <a:cs typeface="Calibri"/>
              </a:rPr>
              <a:t>text&gt;</a:t>
            </a:r>
            <a:endParaRPr sz="18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2.1</a:t>
            </a:r>
            <a:r>
              <a:rPr spc="-45" dirty="0"/>
              <a:t> </a:t>
            </a:r>
            <a:r>
              <a:rPr b="0" dirty="0">
                <a:latin typeface="Calibri"/>
                <a:cs typeface="Calibri"/>
              </a:rPr>
              <a:t>Actions</a:t>
            </a:r>
            <a:r>
              <a:rPr b="0" spc="-10" dirty="0">
                <a:latin typeface="Calibri"/>
                <a:cs typeface="Calibri"/>
              </a:rPr>
              <a:t> </a:t>
            </a:r>
            <a:r>
              <a:rPr b="0" dirty="0">
                <a:latin typeface="Calibri"/>
                <a:cs typeface="Calibri"/>
              </a:rPr>
              <a:t>over</a:t>
            </a:r>
            <a:r>
              <a:rPr b="0" spc="-20" dirty="0">
                <a:latin typeface="Calibri"/>
                <a:cs typeface="Calibri"/>
              </a:rPr>
              <a:t> </a:t>
            </a:r>
            <a:r>
              <a:rPr b="0" dirty="0">
                <a:latin typeface="Calibri"/>
                <a:cs typeface="Calibri"/>
              </a:rPr>
              <a:t>time</a:t>
            </a:r>
            <a:r>
              <a:rPr b="0" spc="-15" dirty="0">
                <a:latin typeface="Calibri"/>
                <a:cs typeface="Calibri"/>
              </a:rPr>
              <a:t> </a:t>
            </a:r>
            <a:r>
              <a:rPr b="0" dirty="0">
                <a:latin typeface="Calibri"/>
                <a:cs typeface="Calibri"/>
              </a:rPr>
              <a:t>[</a:t>
            </a:r>
            <a:r>
              <a:rPr lang="en-US" dirty="0">
                <a:latin typeface="Calibri"/>
                <a:cs typeface="Calibri"/>
              </a:rPr>
              <a:t>3</a:t>
            </a:r>
            <a:r>
              <a:rPr b="0" spc="-35" dirty="0">
                <a:latin typeface="Calibri"/>
                <a:cs typeface="Calibri"/>
              </a:rPr>
              <a:t> </a:t>
            </a:r>
            <a:r>
              <a:rPr b="0" spc="-20" dirty="0">
                <a:latin typeface="Calibri"/>
                <a:cs typeface="Calibri"/>
              </a:rPr>
              <a:t>pts]</a:t>
            </a:r>
          </a:p>
        </p:txBody>
      </p:sp>
      <p:sp>
        <p:nvSpPr>
          <p:cNvPr id="3" name="object 3"/>
          <p:cNvSpPr txBox="1"/>
          <p:nvPr/>
        </p:nvSpPr>
        <p:spPr>
          <a:xfrm>
            <a:off x="915416" y="1708150"/>
            <a:ext cx="9909175" cy="1181734"/>
          </a:xfrm>
          <a:prstGeom prst="rect">
            <a:avLst/>
          </a:prstGeom>
        </p:spPr>
        <p:txBody>
          <a:bodyPr vert="horz" wrap="square" lIns="0" tIns="9525" rIns="0" bIns="0" rtlCol="0">
            <a:spAutoFit/>
          </a:bodyPr>
          <a:lstStyle/>
          <a:p>
            <a:r>
              <a:rPr lang="en-US" dirty="0"/>
              <a:t>It's the beginning of the day, and our robot undocks from the office charger. It chooses action "4-&gt;2" in order to clean the corridor. What is the probability that our robot DOES NOT end up in the hallway.</a:t>
            </a:r>
          </a:p>
          <a:p>
            <a:pPr marL="13970">
              <a:lnSpc>
                <a:spcPct val="100000"/>
              </a:lnSpc>
              <a:spcBef>
                <a:spcPts val="525"/>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35" dirty="0">
                <a:solidFill>
                  <a:srgbClr val="808080"/>
                </a:solidFill>
                <a:latin typeface="Calibri"/>
                <a:cs typeface="Calibri"/>
              </a:rPr>
              <a:t> </a:t>
            </a:r>
            <a:r>
              <a:rPr sz="1800" dirty="0">
                <a:solidFill>
                  <a:srgbClr val="808080"/>
                </a:solidFill>
                <a:latin typeface="Calibri"/>
                <a:cs typeface="Calibri"/>
              </a:rPr>
              <a:t>answer</a:t>
            </a:r>
            <a:r>
              <a:rPr sz="1800" spc="-50" dirty="0">
                <a:solidFill>
                  <a:srgbClr val="808080"/>
                </a:solidFill>
                <a:latin typeface="Calibri"/>
                <a:cs typeface="Calibri"/>
              </a:rPr>
              <a:t> </a:t>
            </a:r>
            <a:r>
              <a:rPr sz="1800" dirty="0">
                <a:solidFill>
                  <a:srgbClr val="808080"/>
                </a:solidFill>
                <a:latin typeface="Calibri"/>
                <a:cs typeface="Calibri"/>
              </a:rPr>
              <a:t>in</a:t>
            </a:r>
            <a:r>
              <a:rPr sz="1800" spc="-30"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textbox,</a:t>
            </a:r>
            <a:r>
              <a:rPr sz="1800" spc="-40" dirty="0">
                <a:solidFill>
                  <a:srgbClr val="808080"/>
                </a:solidFill>
                <a:latin typeface="Calibri"/>
                <a:cs typeface="Calibri"/>
              </a:rPr>
              <a:t> </a:t>
            </a:r>
            <a:r>
              <a:rPr sz="1800" dirty="0">
                <a:solidFill>
                  <a:srgbClr val="808080"/>
                </a:solidFill>
                <a:latin typeface="Calibri"/>
                <a:cs typeface="Calibri"/>
              </a:rPr>
              <a:t>replace</a:t>
            </a:r>
            <a:r>
              <a:rPr sz="1800" spc="-30" dirty="0">
                <a:solidFill>
                  <a:srgbClr val="808080"/>
                </a:solidFill>
                <a:latin typeface="Calibri"/>
                <a:cs typeface="Calibri"/>
              </a:rPr>
              <a:t> </a:t>
            </a:r>
            <a:r>
              <a:rPr sz="1800" dirty="0">
                <a:solidFill>
                  <a:srgbClr val="808080"/>
                </a:solidFill>
                <a:latin typeface="Calibri"/>
                <a:cs typeface="Calibri"/>
              </a:rPr>
              <a:t>this</a:t>
            </a:r>
            <a:r>
              <a:rPr sz="1800" spc="-45" dirty="0">
                <a:solidFill>
                  <a:srgbClr val="808080"/>
                </a:solidFill>
                <a:latin typeface="Calibri"/>
                <a:cs typeface="Calibri"/>
              </a:rPr>
              <a:t> </a:t>
            </a:r>
            <a:r>
              <a:rPr sz="1800" spc="-10" dirty="0">
                <a:solidFill>
                  <a:srgbClr val="808080"/>
                </a:solidFill>
                <a:latin typeface="Calibri"/>
                <a:cs typeface="Calibri"/>
              </a:rPr>
              <a:t>text&gt;</a:t>
            </a:r>
            <a:endParaRPr sz="18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2.2</a:t>
            </a:r>
            <a:r>
              <a:rPr spc="-35" dirty="0"/>
              <a:t> </a:t>
            </a:r>
            <a:r>
              <a:rPr b="0" dirty="0">
                <a:latin typeface="Calibri"/>
                <a:cs typeface="Calibri"/>
              </a:rPr>
              <a:t>Actions</a:t>
            </a:r>
            <a:r>
              <a:rPr b="0" spc="-5" dirty="0">
                <a:latin typeface="Calibri"/>
                <a:cs typeface="Calibri"/>
              </a:rPr>
              <a:t> </a:t>
            </a:r>
            <a:r>
              <a:rPr b="0" dirty="0">
                <a:latin typeface="Calibri"/>
                <a:cs typeface="Calibri"/>
              </a:rPr>
              <a:t>over</a:t>
            </a:r>
            <a:r>
              <a:rPr b="0" spc="-15" dirty="0">
                <a:latin typeface="Calibri"/>
                <a:cs typeface="Calibri"/>
              </a:rPr>
              <a:t> </a:t>
            </a:r>
            <a:r>
              <a:rPr b="0" dirty="0">
                <a:latin typeface="Calibri"/>
                <a:cs typeface="Calibri"/>
              </a:rPr>
              <a:t>time</a:t>
            </a:r>
            <a:r>
              <a:rPr b="0" spc="-10" dirty="0">
                <a:latin typeface="Calibri"/>
                <a:cs typeface="Calibri"/>
              </a:rPr>
              <a:t> </a:t>
            </a:r>
            <a:r>
              <a:rPr b="0" dirty="0">
                <a:latin typeface="Calibri"/>
                <a:cs typeface="Calibri"/>
              </a:rPr>
              <a:t>[</a:t>
            </a:r>
            <a:r>
              <a:rPr lang="en-US" b="0" dirty="0">
                <a:latin typeface="Calibri"/>
                <a:cs typeface="Calibri"/>
              </a:rPr>
              <a:t>3</a:t>
            </a:r>
            <a:r>
              <a:rPr b="0" spc="-25" dirty="0">
                <a:latin typeface="Calibri"/>
                <a:cs typeface="Calibri"/>
              </a:rPr>
              <a:t> </a:t>
            </a:r>
            <a:r>
              <a:rPr b="0" spc="-20" dirty="0">
                <a:latin typeface="Calibri"/>
                <a:cs typeface="Calibri"/>
              </a:rPr>
              <a:t>pts]</a:t>
            </a:r>
          </a:p>
        </p:txBody>
      </p:sp>
      <p:sp>
        <p:nvSpPr>
          <p:cNvPr id="3" name="object 3"/>
          <p:cNvSpPr txBox="1"/>
          <p:nvPr/>
        </p:nvSpPr>
        <p:spPr>
          <a:xfrm>
            <a:off x="915416" y="1717294"/>
            <a:ext cx="9276715" cy="907941"/>
          </a:xfrm>
          <a:prstGeom prst="rect">
            <a:avLst/>
          </a:prstGeom>
        </p:spPr>
        <p:txBody>
          <a:bodyPr vert="horz" wrap="square" lIns="0" tIns="12700" rIns="0" bIns="0" rtlCol="0">
            <a:spAutoFit/>
          </a:bodyPr>
          <a:lstStyle/>
          <a:p>
            <a:r>
              <a:rPr lang="en-US" dirty="0"/>
              <a:t>It's dinnertime and our robot has an 80/20 chance of being in rooms 5 or 6, respectively. It takes action "6-&gt;2". What is the PMF over the robot's resulting belief state?</a:t>
            </a:r>
          </a:p>
          <a:p>
            <a:pPr marL="13970">
              <a:lnSpc>
                <a:spcPct val="100000"/>
              </a:lnSpc>
              <a:spcBef>
                <a:spcPts val="475"/>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35" dirty="0">
                <a:solidFill>
                  <a:srgbClr val="808080"/>
                </a:solidFill>
                <a:latin typeface="Calibri"/>
                <a:cs typeface="Calibri"/>
              </a:rPr>
              <a:t> </a:t>
            </a:r>
            <a:r>
              <a:rPr sz="1800" dirty="0">
                <a:solidFill>
                  <a:srgbClr val="808080"/>
                </a:solidFill>
                <a:latin typeface="Calibri"/>
                <a:cs typeface="Calibri"/>
              </a:rPr>
              <a:t>answer</a:t>
            </a:r>
            <a:r>
              <a:rPr sz="1800" spc="-50" dirty="0">
                <a:solidFill>
                  <a:srgbClr val="808080"/>
                </a:solidFill>
                <a:latin typeface="Calibri"/>
                <a:cs typeface="Calibri"/>
              </a:rPr>
              <a:t> </a:t>
            </a:r>
            <a:r>
              <a:rPr sz="1800" dirty="0">
                <a:solidFill>
                  <a:srgbClr val="808080"/>
                </a:solidFill>
                <a:latin typeface="Calibri"/>
                <a:cs typeface="Calibri"/>
              </a:rPr>
              <a:t>in</a:t>
            </a:r>
            <a:r>
              <a:rPr sz="1800" spc="-30"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textbox,</a:t>
            </a:r>
            <a:r>
              <a:rPr sz="1800" spc="-40" dirty="0">
                <a:solidFill>
                  <a:srgbClr val="808080"/>
                </a:solidFill>
                <a:latin typeface="Calibri"/>
                <a:cs typeface="Calibri"/>
              </a:rPr>
              <a:t> </a:t>
            </a:r>
            <a:r>
              <a:rPr sz="1800" dirty="0">
                <a:solidFill>
                  <a:srgbClr val="808080"/>
                </a:solidFill>
                <a:latin typeface="Calibri"/>
                <a:cs typeface="Calibri"/>
              </a:rPr>
              <a:t>replace</a:t>
            </a:r>
            <a:r>
              <a:rPr sz="1800" spc="-30" dirty="0">
                <a:solidFill>
                  <a:srgbClr val="808080"/>
                </a:solidFill>
                <a:latin typeface="Calibri"/>
                <a:cs typeface="Calibri"/>
              </a:rPr>
              <a:t> </a:t>
            </a:r>
            <a:r>
              <a:rPr sz="1800" dirty="0">
                <a:solidFill>
                  <a:srgbClr val="808080"/>
                </a:solidFill>
                <a:latin typeface="Calibri"/>
                <a:cs typeface="Calibri"/>
              </a:rPr>
              <a:t>this</a:t>
            </a:r>
            <a:r>
              <a:rPr sz="1800" spc="-45" dirty="0">
                <a:solidFill>
                  <a:srgbClr val="808080"/>
                </a:solidFill>
                <a:latin typeface="Calibri"/>
                <a:cs typeface="Calibri"/>
              </a:rPr>
              <a:t> </a:t>
            </a:r>
            <a:r>
              <a:rPr sz="1800" spc="-10" dirty="0">
                <a:solidFill>
                  <a:srgbClr val="808080"/>
                </a:solidFill>
                <a:latin typeface="Calibri"/>
                <a:cs typeface="Calibri"/>
              </a:rPr>
              <a:t>text&gt;</a:t>
            </a:r>
            <a:endParaRPr sz="18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3407F-5329-1788-A861-7419F4C3D8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215F27-5130-86F5-6269-62BB02DB4CD8}"/>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2.</a:t>
            </a:r>
            <a:r>
              <a:rPr lang="en-US" dirty="0"/>
              <a:t>3</a:t>
            </a:r>
            <a:r>
              <a:rPr spc="-35" dirty="0"/>
              <a:t> </a:t>
            </a:r>
            <a:r>
              <a:rPr b="0" dirty="0">
                <a:latin typeface="Calibri"/>
                <a:cs typeface="Calibri"/>
              </a:rPr>
              <a:t>Actions</a:t>
            </a:r>
            <a:r>
              <a:rPr b="0" spc="-5" dirty="0">
                <a:latin typeface="Calibri"/>
                <a:cs typeface="Calibri"/>
              </a:rPr>
              <a:t> </a:t>
            </a:r>
            <a:r>
              <a:rPr b="0" dirty="0">
                <a:latin typeface="Calibri"/>
                <a:cs typeface="Calibri"/>
              </a:rPr>
              <a:t>over</a:t>
            </a:r>
            <a:r>
              <a:rPr b="0" spc="-15" dirty="0">
                <a:latin typeface="Calibri"/>
                <a:cs typeface="Calibri"/>
              </a:rPr>
              <a:t> </a:t>
            </a:r>
            <a:r>
              <a:rPr b="0" dirty="0">
                <a:latin typeface="Calibri"/>
                <a:cs typeface="Calibri"/>
              </a:rPr>
              <a:t>time</a:t>
            </a:r>
            <a:r>
              <a:rPr b="0" spc="-10" dirty="0">
                <a:latin typeface="Calibri"/>
                <a:cs typeface="Calibri"/>
              </a:rPr>
              <a:t> </a:t>
            </a:r>
            <a:r>
              <a:rPr b="0" dirty="0">
                <a:latin typeface="Calibri"/>
                <a:cs typeface="Calibri"/>
              </a:rPr>
              <a:t>[</a:t>
            </a:r>
            <a:r>
              <a:rPr lang="en-US" dirty="0">
                <a:latin typeface="Calibri"/>
                <a:cs typeface="Calibri"/>
              </a:rPr>
              <a:t>2</a:t>
            </a:r>
            <a:r>
              <a:rPr b="0" spc="-25" dirty="0">
                <a:latin typeface="Calibri"/>
                <a:cs typeface="Calibri"/>
              </a:rPr>
              <a:t> </a:t>
            </a:r>
            <a:r>
              <a:rPr b="0" spc="-20" dirty="0">
                <a:latin typeface="Calibri"/>
                <a:cs typeface="Calibri"/>
              </a:rPr>
              <a:t>pts]</a:t>
            </a:r>
          </a:p>
        </p:txBody>
      </p:sp>
      <p:sp>
        <p:nvSpPr>
          <p:cNvPr id="3" name="object 3">
            <a:extLst>
              <a:ext uri="{FF2B5EF4-FFF2-40B4-BE49-F238E27FC236}">
                <a16:creationId xmlns:a16="http://schemas.microsoft.com/office/drawing/2014/main" id="{5AFE27A1-4913-C810-8041-93CBA8EAE324}"/>
              </a:ext>
            </a:extLst>
          </p:cNvPr>
          <p:cNvSpPr txBox="1"/>
          <p:nvPr/>
        </p:nvSpPr>
        <p:spPr>
          <a:xfrm>
            <a:off x="915416" y="1717294"/>
            <a:ext cx="9276715" cy="1461939"/>
          </a:xfrm>
          <a:prstGeom prst="rect">
            <a:avLst/>
          </a:prstGeom>
        </p:spPr>
        <p:txBody>
          <a:bodyPr vert="horz" wrap="square" lIns="0" tIns="12700" rIns="0" bIns="0" rtlCol="0">
            <a:spAutoFit/>
          </a:bodyPr>
          <a:lstStyle/>
          <a:p>
            <a:r>
              <a:rPr lang="en-US" dirty="0"/>
              <a:t>Notice that in the </a:t>
            </a:r>
            <a:r>
              <a:rPr lang="en-US" dirty="0"/>
              <a:t>probability spec we created most rows only have 1 action for which the distribution that isn't 100/0/0/0 . . ..  However it seems room 2 has several actions for which the probability isn't 100/0/0 . . . etc.  What does this imply about the structure of our state space?</a:t>
            </a:r>
          </a:p>
          <a:p>
            <a:pPr marL="13970">
              <a:lnSpc>
                <a:spcPct val="100000"/>
              </a:lnSpc>
              <a:spcBef>
                <a:spcPts val="475"/>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35" dirty="0">
                <a:solidFill>
                  <a:srgbClr val="808080"/>
                </a:solidFill>
                <a:latin typeface="Calibri"/>
                <a:cs typeface="Calibri"/>
              </a:rPr>
              <a:t> </a:t>
            </a:r>
            <a:r>
              <a:rPr sz="1800" dirty="0">
                <a:solidFill>
                  <a:srgbClr val="808080"/>
                </a:solidFill>
                <a:latin typeface="Calibri"/>
                <a:cs typeface="Calibri"/>
              </a:rPr>
              <a:t>answer</a:t>
            </a:r>
            <a:r>
              <a:rPr sz="1800" spc="-50" dirty="0">
                <a:solidFill>
                  <a:srgbClr val="808080"/>
                </a:solidFill>
                <a:latin typeface="Calibri"/>
                <a:cs typeface="Calibri"/>
              </a:rPr>
              <a:t> </a:t>
            </a:r>
            <a:r>
              <a:rPr sz="1800" dirty="0">
                <a:solidFill>
                  <a:srgbClr val="808080"/>
                </a:solidFill>
                <a:latin typeface="Calibri"/>
                <a:cs typeface="Calibri"/>
              </a:rPr>
              <a:t>in</a:t>
            </a:r>
            <a:r>
              <a:rPr sz="1800" spc="-30"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textbox,</a:t>
            </a:r>
            <a:r>
              <a:rPr sz="1800" spc="-40" dirty="0">
                <a:solidFill>
                  <a:srgbClr val="808080"/>
                </a:solidFill>
                <a:latin typeface="Calibri"/>
                <a:cs typeface="Calibri"/>
              </a:rPr>
              <a:t> </a:t>
            </a:r>
            <a:r>
              <a:rPr sz="1800" dirty="0">
                <a:solidFill>
                  <a:srgbClr val="808080"/>
                </a:solidFill>
                <a:latin typeface="Calibri"/>
                <a:cs typeface="Calibri"/>
              </a:rPr>
              <a:t>replace</a:t>
            </a:r>
            <a:r>
              <a:rPr sz="1800" spc="-30" dirty="0">
                <a:solidFill>
                  <a:srgbClr val="808080"/>
                </a:solidFill>
                <a:latin typeface="Calibri"/>
                <a:cs typeface="Calibri"/>
              </a:rPr>
              <a:t> </a:t>
            </a:r>
            <a:r>
              <a:rPr sz="1800" dirty="0">
                <a:solidFill>
                  <a:srgbClr val="808080"/>
                </a:solidFill>
                <a:latin typeface="Calibri"/>
                <a:cs typeface="Calibri"/>
              </a:rPr>
              <a:t>this</a:t>
            </a:r>
            <a:r>
              <a:rPr sz="1800" spc="-45" dirty="0">
                <a:solidFill>
                  <a:srgbClr val="808080"/>
                </a:solidFill>
                <a:latin typeface="Calibri"/>
                <a:cs typeface="Calibri"/>
              </a:rPr>
              <a:t> </a:t>
            </a:r>
            <a:r>
              <a:rPr sz="1800" spc="-10" dirty="0">
                <a:solidFill>
                  <a:srgbClr val="808080"/>
                </a:solidFill>
                <a:latin typeface="Calibri"/>
                <a:cs typeface="Calibri"/>
              </a:rPr>
              <a:t>text&gt;</a:t>
            </a:r>
            <a:endParaRPr sz="1800" dirty="0">
              <a:latin typeface="Calibri"/>
              <a:cs typeface="Calibri"/>
            </a:endParaRPr>
          </a:p>
        </p:txBody>
      </p:sp>
    </p:spTree>
    <p:extLst>
      <p:ext uri="{BB962C8B-B14F-4D97-AF65-F5344CB8AC3E}">
        <p14:creationId xmlns:p14="http://schemas.microsoft.com/office/powerpoint/2010/main" val="3195157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3.1</a:t>
            </a:r>
            <a:r>
              <a:rPr spc="-70" dirty="0"/>
              <a:t> </a:t>
            </a:r>
            <a:r>
              <a:rPr b="0" dirty="0">
                <a:latin typeface="Calibri"/>
                <a:cs typeface="Calibri"/>
              </a:rPr>
              <a:t>Dynamic</a:t>
            </a:r>
            <a:r>
              <a:rPr b="0" spc="-45" dirty="0">
                <a:latin typeface="Calibri"/>
                <a:cs typeface="Calibri"/>
              </a:rPr>
              <a:t> </a:t>
            </a:r>
            <a:r>
              <a:rPr b="0" dirty="0">
                <a:latin typeface="Calibri"/>
                <a:cs typeface="Calibri"/>
              </a:rPr>
              <a:t>Bayes</a:t>
            </a:r>
            <a:r>
              <a:rPr b="0" spc="-55" dirty="0">
                <a:latin typeface="Calibri"/>
                <a:cs typeface="Calibri"/>
              </a:rPr>
              <a:t> </a:t>
            </a:r>
            <a:r>
              <a:rPr b="0" dirty="0">
                <a:latin typeface="Calibri"/>
                <a:cs typeface="Calibri"/>
              </a:rPr>
              <a:t>Nets</a:t>
            </a:r>
            <a:r>
              <a:rPr b="0" spc="-40" dirty="0">
                <a:latin typeface="Calibri"/>
                <a:cs typeface="Calibri"/>
              </a:rPr>
              <a:t> </a:t>
            </a:r>
            <a:r>
              <a:rPr b="0" dirty="0">
                <a:latin typeface="Calibri"/>
                <a:cs typeface="Calibri"/>
              </a:rPr>
              <a:t>[4</a:t>
            </a:r>
            <a:r>
              <a:rPr b="0" spc="-65" dirty="0">
                <a:latin typeface="Calibri"/>
                <a:cs typeface="Calibri"/>
              </a:rPr>
              <a:t> </a:t>
            </a:r>
            <a:r>
              <a:rPr b="0" spc="-20" dirty="0">
                <a:latin typeface="Calibri"/>
                <a:cs typeface="Calibri"/>
              </a:rPr>
              <a:t>pts]</a:t>
            </a:r>
          </a:p>
        </p:txBody>
      </p:sp>
      <p:sp>
        <p:nvSpPr>
          <p:cNvPr id="3" name="object 3"/>
          <p:cNvSpPr txBox="1"/>
          <p:nvPr/>
        </p:nvSpPr>
        <p:spPr>
          <a:xfrm>
            <a:off x="915416" y="1717294"/>
            <a:ext cx="10141585" cy="909319"/>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a:cs typeface="Arial"/>
              </a:rPr>
              <a:t>Compare the light sensor distributions for rooms 4 and 5 in sensor_spec. If the robot initially considers these rooms equally likely, can one light reading distinguish them? Explain how its previous room and action could still help.</a:t>
            </a:r>
            <a:endParaRPr sz="1800">
              <a:latin typeface="Arial"/>
              <a:cs typeface="Arial"/>
            </a:endParaRPr>
          </a:p>
          <a:p>
            <a:pPr marL="13970">
              <a:lnSpc>
                <a:spcPct val="100000"/>
              </a:lnSpc>
              <a:spcBef>
                <a:spcPts val="475"/>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35" dirty="0">
                <a:solidFill>
                  <a:srgbClr val="808080"/>
                </a:solidFill>
                <a:latin typeface="Calibri"/>
                <a:cs typeface="Calibri"/>
              </a:rPr>
              <a:t> </a:t>
            </a:r>
            <a:r>
              <a:rPr sz="1800" dirty="0">
                <a:solidFill>
                  <a:srgbClr val="808080"/>
                </a:solidFill>
                <a:latin typeface="Calibri"/>
                <a:cs typeface="Calibri"/>
              </a:rPr>
              <a:t>answer</a:t>
            </a:r>
            <a:r>
              <a:rPr sz="1800" spc="-50" dirty="0">
                <a:solidFill>
                  <a:srgbClr val="808080"/>
                </a:solidFill>
                <a:latin typeface="Calibri"/>
                <a:cs typeface="Calibri"/>
              </a:rPr>
              <a:t> </a:t>
            </a:r>
            <a:r>
              <a:rPr sz="1800" dirty="0">
                <a:solidFill>
                  <a:srgbClr val="808080"/>
                </a:solidFill>
                <a:latin typeface="Calibri"/>
                <a:cs typeface="Calibri"/>
              </a:rPr>
              <a:t>in</a:t>
            </a:r>
            <a:r>
              <a:rPr sz="1800" spc="-30"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textbox,</a:t>
            </a:r>
            <a:r>
              <a:rPr sz="1800" spc="-40" dirty="0">
                <a:solidFill>
                  <a:srgbClr val="808080"/>
                </a:solidFill>
                <a:latin typeface="Calibri"/>
                <a:cs typeface="Calibri"/>
              </a:rPr>
              <a:t> </a:t>
            </a:r>
            <a:r>
              <a:rPr sz="1800" dirty="0">
                <a:solidFill>
                  <a:srgbClr val="808080"/>
                </a:solidFill>
                <a:latin typeface="Calibri"/>
                <a:cs typeface="Calibri"/>
              </a:rPr>
              <a:t>replace</a:t>
            </a:r>
            <a:r>
              <a:rPr sz="1800" spc="-30" dirty="0">
                <a:solidFill>
                  <a:srgbClr val="808080"/>
                </a:solidFill>
                <a:latin typeface="Calibri"/>
                <a:cs typeface="Calibri"/>
              </a:rPr>
              <a:t> </a:t>
            </a:r>
            <a:r>
              <a:rPr sz="1800" dirty="0">
                <a:solidFill>
                  <a:srgbClr val="808080"/>
                </a:solidFill>
                <a:latin typeface="Calibri"/>
                <a:cs typeface="Calibri"/>
              </a:rPr>
              <a:t>this</a:t>
            </a:r>
            <a:r>
              <a:rPr sz="1800" spc="-45" dirty="0">
                <a:solidFill>
                  <a:srgbClr val="808080"/>
                </a:solidFill>
                <a:latin typeface="Calibri"/>
                <a:cs typeface="Calibri"/>
              </a:rPr>
              <a:t> </a:t>
            </a:r>
            <a:r>
              <a:rPr sz="1800" spc="-10" dirty="0">
                <a:solidFill>
                  <a:srgbClr val="808080"/>
                </a:solidFill>
                <a:latin typeface="Calibri"/>
                <a:cs typeface="Calibri"/>
              </a:rPr>
              <a:t>text&gt;</a:t>
            </a:r>
            <a:endParaRPr sz="18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3.2</a:t>
            </a:r>
            <a:r>
              <a:rPr spc="-70" dirty="0"/>
              <a:t> </a:t>
            </a:r>
            <a:r>
              <a:rPr b="0" dirty="0">
                <a:latin typeface="Calibri"/>
                <a:cs typeface="Calibri"/>
              </a:rPr>
              <a:t>Dynamic</a:t>
            </a:r>
            <a:r>
              <a:rPr b="0" spc="-45" dirty="0">
                <a:latin typeface="Calibri"/>
                <a:cs typeface="Calibri"/>
              </a:rPr>
              <a:t> </a:t>
            </a:r>
            <a:r>
              <a:rPr b="0" dirty="0">
                <a:latin typeface="Calibri"/>
                <a:cs typeface="Calibri"/>
              </a:rPr>
              <a:t>Bayes</a:t>
            </a:r>
            <a:r>
              <a:rPr b="0" spc="-55" dirty="0">
                <a:latin typeface="Calibri"/>
                <a:cs typeface="Calibri"/>
              </a:rPr>
              <a:t> </a:t>
            </a:r>
            <a:r>
              <a:rPr b="0" dirty="0">
                <a:latin typeface="Calibri"/>
                <a:cs typeface="Calibri"/>
              </a:rPr>
              <a:t>Nets</a:t>
            </a:r>
            <a:r>
              <a:rPr b="0" spc="-40" dirty="0">
                <a:latin typeface="Calibri"/>
                <a:cs typeface="Calibri"/>
              </a:rPr>
              <a:t> </a:t>
            </a:r>
            <a:r>
              <a:rPr b="0" dirty="0">
                <a:latin typeface="Calibri"/>
                <a:cs typeface="Calibri"/>
              </a:rPr>
              <a:t>[4</a:t>
            </a:r>
            <a:r>
              <a:rPr b="0" spc="-65" dirty="0">
                <a:latin typeface="Calibri"/>
                <a:cs typeface="Calibri"/>
              </a:rPr>
              <a:t> </a:t>
            </a:r>
            <a:r>
              <a:rPr b="0" spc="-20" dirty="0">
                <a:latin typeface="Calibri"/>
                <a:cs typeface="Calibri"/>
              </a:rPr>
              <a:t>pts]</a:t>
            </a:r>
          </a:p>
        </p:txBody>
      </p:sp>
      <p:sp>
        <p:nvSpPr>
          <p:cNvPr id="3" name="object 3"/>
          <p:cNvSpPr txBox="1"/>
          <p:nvPr/>
        </p:nvSpPr>
        <p:spPr>
          <a:xfrm>
            <a:off x="915416" y="1717294"/>
            <a:ext cx="10320655" cy="1461939"/>
          </a:xfrm>
          <a:prstGeom prst="rect">
            <a:avLst/>
          </a:prstGeom>
        </p:spPr>
        <p:txBody>
          <a:bodyPr vert="horz" wrap="square" lIns="0" tIns="12700" rIns="0" bIns="0" rtlCol="0">
            <a:spAutoFit/>
          </a:bodyPr>
          <a:lstStyle/>
          <a:p>
            <a:r>
              <a:rPr lang="en-US" dirty="0"/>
              <a:t>Run ancestral sampling 1000 times to find the </a:t>
            </a:r>
            <a:r>
              <a:rPr lang="en-US" b="1" dirty="0"/>
              <a:t>**final**</a:t>
            </a:r>
            <a:r>
              <a:rPr lang="en-US" dirty="0"/>
              <a:t> state using the prior from </a:t>
            </a:r>
            <a:r>
              <a:rPr lang="en-US" dirty="0"/>
              <a:t>get_kitchen_start_prior() and the action sequence from </a:t>
            </a:r>
            <a:r>
              <a:rPr lang="en-US" dirty="0" err="1"/>
              <a:t>create_custom_action_sequence</a:t>
            </a:r>
            <a:r>
              <a:rPr lang="en-US" dirty="0"/>
              <a:t>(). Plot a histogram with the results. What do you notice? Explain why we see the resulting distribution. Paste your histogram in your report.</a:t>
            </a:r>
          </a:p>
          <a:p>
            <a:pPr marL="13970">
              <a:lnSpc>
                <a:spcPct val="100000"/>
              </a:lnSpc>
              <a:spcBef>
                <a:spcPts val="495"/>
              </a:spcBef>
            </a:pPr>
            <a:r>
              <a:rPr sz="1800" dirty="0">
                <a:solidFill>
                  <a:srgbClr val="808080"/>
                </a:solidFill>
                <a:latin typeface="Calibri"/>
                <a:cs typeface="Calibri"/>
              </a:rPr>
              <a:t>&lt;Put</a:t>
            </a:r>
            <a:r>
              <a:rPr sz="1800" spc="-40" dirty="0">
                <a:solidFill>
                  <a:srgbClr val="808080"/>
                </a:solidFill>
                <a:latin typeface="Calibri"/>
                <a:cs typeface="Calibri"/>
              </a:rPr>
              <a:t> </a:t>
            </a:r>
            <a:r>
              <a:rPr sz="1800" dirty="0">
                <a:solidFill>
                  <a:srgbClr val="808080"/>
                </a:solidFill>
                <a:latin typeface="Calibri"/>
                <a:cs typeface="Calibri"/>
              </a:rPr>
              <a:t>the</a:t>
            </a:r>
            <a:r>
              <a:rPr sz="1800" spc="-30" dirty="0">
                <a:solidFill>
                  <a:srgbClr val="808080"/>
                </a:solidFill>
                <a:latin typeface="Calibri"/>
                <a:cs typeface="Calibri"/>
              </a:rPr>
              <a:t> </a:t>
            </a:r>
            <a:r>
              <a:rPr sz="1800" dirty="0">
                <a:solidFill>
                  <a:srgbClr val="808080"/>
                </a:solidFill>
                <a:latin typeface="Calibri"/>
                <a:cs typeface="Calibri"/>
              </a:rPr>
              <a:t>variable</a:t>
            </a:r>
            <a:r>
              <a:rPr sz="1800" spc="-15" dirty="0">
                <a:solidFill>
                  <a:srgbClr val="808080"/>
                </a:solidFill>
                <a:latin typeface="Calibri"/>
                <a:cs typeface="Calibri"/>
              </a:rPr>
              <a:t> </a:t>
            </a:r>
            <a:r>
              <a:rPr sz="1800" dirty="0">
                <a:solidFill>
                  <a:srgbClr val="808080"/>
                </a:solidFill>
                <a:latin typeface="Calibri"/>
                <a:cs typeface="Calibri"/>
              </a:rPr>
              <a:t>and</a:t>
            </a:r>
            <a:r>
              <a:rPr sz="1800" spc="-30" dirty="0">
                <a:solidFill>
                  <a:srgbClr val="808080"/>
                </a:solidFill>
                <a:latin typeface="Calibri"/>
                <a:cs typeface="Calibri"/>
              </a:rPr>
              <a:t> </a:t>
            </a:r>
            <a:r>
              <a:rPr sz="1800" dirty="0">
                <a:solidFill>
                  <a:srgbClr val="808080"/>
                </a:solidFill>
                <a:latin typeface="Calibri"/>
                <a:cs typeface="Calibri"/>
              </a:rPr>
              <a:t>the</a:t>
            </a:r>
            <a:r>
              <a:rPr sz="1800" spc="-30" dirty="0">
                <a:solidFill>
                  <a:srgbClr val="808080"/>
                </a:solidFill>
                <a:latin typeface="Calibri"/>
                <a:cs typeface="Calibri"/>
              </a:rPr>
              <a:t> </a:t>
            </a:r>
            <a:r>
              <a:rPr sz="1800" dirty="0">
                <a:solidFill>
                  <a:srgbClr val="808080"/>
                </a:solidFill>
                <a:latin typeface="Calibri"/>
                <a:cs typeface="Calibri"/>
              </a:rPr>
              <a:t>value</a:t>
            </a:r>
            <a:r>
              <a:rPr sz="1800" spc="-30" dirty="0">
                <a:solidFill>
                  <a:srgbClr val="808080"/>
                </a:solidFill>
                <a:latin typeface="Calibri"/>
                <a:cs typeface="Calibri"/>
              </a:rPr>
              <a:t> </a:t>
            </a:r>
            <a:r>
              <a:rPr sz="1800" dirty="0">
                <a:solidFill>
                  <a:srgbClr val="808080"/>
                </a:solidFill>
                <a:latin typeface="Calibri"/>
                <a:cs typeface="Calibri"/>
              </a:rPr>
              <a:t>here,</a:t>
            </a:r>
            <a:r>
              <a:rPr sz="1800" spc="-30" dirty="0">
                <a:solidFill>
                  <a:srgbClr val="808080"/>
                </a:solidFill>
                <a:latin typeface="Calibri"/>
                <a:cs typeface="Calibri"/>
              </a:rPr>
              <a:t> </a:t>
            </a:r>
            <a:r>
              <a:rPr sz="1800" dirty="0">
                <a:solidFill>
                  <a:srgbClr val="808080"/>
                </a:solidFill>
                <a:latin typeface="Calibri"/>
                <a:cs typeface="Calibri"/>
              </a:rPr>
              <a:t>replace</a:t>
            </a:r>
            <a:r>
              <a:rPr sz="1800" spc="-30" dirty="0">
                <a:solidFill>
                  <a:srgbClr val="808080"/>
                </a:solidFill>
                <a:latin typeface="Calibri"/>
                <a:cs typeface="Calibri"/>
              </a:rPr>
              <a:t> </a:t>
            </a:r>
            <a:r>
              <a:rPr sz="1800" dirty="0">
                <a:solidFill>
                  <a:srgbClr val="808080"/>
                </a:solidFill>
                <a:latin typeface="Calibri"/>
                <a:cs typeface="Calibri"/>
              </a:rPr>
              <a:t>this</a:t>
            </a:r>
            <a:r>
              <a:rPr sz="1800" spc="-35" dirty="0">
                <a:solidFill>
                  <a:srgbClr val="808080"/>
                </a:solidFill>
                <a:latin typeface="Calibri"/>
                <a:cs typeface="Calibri"/>
              </a:rPr>
              <a:t> </a:t>
            </a:r>
            <a:r>
              <a:rPr sz="1800" spc="-10" dirty="0">
                <a:solidFill>
                  <a:srgbClr val="808080"/>
                </a:solidFill>
                <a:latin typeface="Calibri"/>
                <a:cs typeface="Calibri"/>
              </a:rPr>
              <a:t>text&gt;</a:t>
            </a:r>
            <a:endParaRPr sz="18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3.3</a:t>
            </a:r>
            <a:r>
              <a:rPr spc="-70" dirty="0"/>
              <a:t> </a:t>
            </a:r>
            <a:r>
              <a:rPr b="0" dirty="0">
                <a:latin typeface="Calibri"/>
                <a:cs typeface="Calibri"/>
              </a:rPr>
              <a:t>Dynamic</a:t>
            </a:r>
            <a:r>
              <a:rPr b="0" spc="-45" dirty="0">
                <a:latin typeface="Calibri"/>
                <a:cs typeface="Calibri"/>
              </a:rPr>
              <a:t> </a:t>
            </a:r>
            <a:r>
              <a:rPr b="0" dirty="0">
                <a:latin typeface="Calibri"/>
                <a:cs typeface="Calibri"/>
              </a:rPr>
              <a:t>Bayes</a:t>
            </a:r>
            <a:r>
              <a:rPr b="0" spc="-55" dirty="0">
                <a:latin typeface="Calibri"/>
                <a:cs typeface="Calibri"/>
              </a:rPr>
              <a:t> </a:t>
            </a:r>
            <a:r>
              <a:rPr b="0" dirty="0">
                <a:latin typeface="Calibri"/>
                <a:cs typeface="Calibri"/>
              </a:rPr>
              <a:t>Nets</a:t>
            </a:r>
            <a:r>
              <a:rPr b="0" spc="-40" dirty="0">
                <a:latin typeface="Calibri"/>
                <a:cs typeface="Calibri"/>
              </a:rPr>
              <a:t> </a:t>
            </a:r>
            <a:r>
              <a:rPr b="0" dirty="0">
                <a:latin typeface="Calibri"/>
                <a:cs typeface="Calibri"/>
              </a:rPr>
              <a:t>[4</a:t>
            </a:r>
            <a:r>
              <a:rPr b="0" spc="-65" dirty="0">
                <a:latin typeface="Calibri"/>
                <a:cs typeface="Calibri"/>
              </a:rPr>
              <a:t> </a:t>
            </a:r>
            <a:r>
              <a:rPr b="0" spc="-20" dirty="0">
                <a:latin typeface="Calibri"/>
                <a:cs typeface="Calibri"/>
              </a:rPr>
              <a:t>pts]</a:t>
            </a:r>
          </a:p>
        </p:txBody>
      </p:sp>
      <p:sp>
        <p:nvSpPr>
          <p:cNvPr id="3" name="object 3"/>
          <p:cNvSpPr txBox="1"/>
          <p:nvPr/>
        </p:nvSpPr>
        <p:spPr>
          <a:xfrm>
            <a:off x="915416" y="1717294"/>
            <a:ext cx="10121265" cy="907941"/>
          </a:xfrm>
          <a:prstGeom prst="rect">
            <a:avLst/>
          </a:prstGeom>
        </p:spPr>
        <p:txBody>
          <a:bodyPr vert="horz" wrap="square" lIns="0" tIns="12700" rIns="0" bIns="0" rtlCol="0">
            <a:spAutoFit/>
          </a:bodyPr>
          <a:lstStyle/>
          <a:p>
            <a:r>
              <a:rPr lang="en-US" dirty="0"/>
              <a:t>Before a light reading, the robot assigns probability 0.8 to the kitchen (room 3) and 0.2 to the stairs area (room 9). It then observes “dark”. Using the supplied sensor model (sensor_spec), calculate the posterior probability of each room. Why doesn’t the room with the higher probability of producing a dark reading necessarily have the higher posterior probability?</a:t>
            </a:r>
          </a:p>
          <a:p>
            <a:pPr marL="13970">
              <a:lnSpc>
                <a:spcPct val="100000"/>
              </a:lnSpc>
              <a:spcBef>
                <a:spcPts val="495"/>
              </a:spcBef>
            </a:pPr>
            <a:r>
              <a:rPr sz="1800" dirty="0">
                <a:solidFill>
                  <a:srgbClr val="808080"/>
                </a:solidFill>
                <a:latin typeface="Calibri"/>
                <a:cs typeface="Calibri"/>
              </a:rPr>
              <a:t>&lt;Put</a:t>
            </a:r>
            <a:r>
              <a:rPr sz="1800" spc="-45" dirty="0">
                <a:solidFill>
                  <a:srgbClr val="808080"/>
                </a:solidFill>
                <a:latin typeface="Calibri"/>
                <a:cs typeface="Calibri"/>
              </a:rPr>
              <a:t> </a:t>
            </a:r>
            <a:r>
              <a:rPr sz="1800" dirty="0">
                <a:solidFill>
                  <a:srgbClr val="808080"/>
                </a:solidFill>
                <a:latin typeface="Calibri"/>
                <a:cs typeface="Calibri"/>
              </a:rPr>
              <a:t>the</a:t>
            </a:r>
            <a:r>
              <a:rPr sz="1800" spc="-45" dirty="0">
                <a:solidFill>
                  <a:srgbClr val="808080"/>
                </a:solidFill>
                <a:latin typeface="Calibri"/>
                <a:cs typeface="Calibri"/>
              </a:rPr>
              <a:t> </a:t>
            </a:r>
            <a:r>
              <a:rPr sz="1800" dirty="0">
                <a:solidFill>
                  <a:srgbClr val="808080"/>
                </a:solidFill>
                <a:latin typeface="Calibri"/>
                <a:cs typeface="Calibri"/>
              </a:rPr>
              <a:t>variable</a:t>
            </a:r>
            <a:r>
              <a:rPr sz="1800" spc="-40" dirty="0">
                <a:solidFill>
                  <a:srgbClr val="808080"/>
                </a:solidFill>
                <a:latin typeface="Calibri"/>
                <a:cs typeface="Calibri"/>
              </a:rPr>
              <a:t> </a:t>
            </a:r>
            <a:r>
              <a:rPr sz="1800" dirty="0">
                <a:solidFill>
                  <a:srgbClr val="808080"/>
                </a:solidFill>
                <a:latin typeface="Calibri"/>
                <a:cs typeface="Calibri"/>
              </a:rPr>
              <a:t>and</a:t>
            </a:r>
            <a:r>
              <a:rPr sz="1800" spc="-30" dirty="0">
                <a:solidFill>
                  <a:srgbClr val="808080"/>
                </a:solidFill>
                <a:latin typeface="Calibri"/>
                <a:cs typeface="Calibri"/>
              </a:rPr>
              <a:t> </a:t>
            </a:r>
            <a:r>
              <a:rPr sz="1800" dirty="0">
                <a:solidFill>
                  <a:srgbClr val="808080"/>
                </a:solidFill>
                <a:latin typeface="Calibri"/>
                <a:cs typeface="Calibri"/>
              </a:rPr>
              <a:t>the</a:t>
            </a:r>
            <a:r>
              <a:rPr sz="1800" spc="-40" dirty="0">
                <a:solidFill>
                  <a:srgbClr val="808080"/>
                </a:solidFill>
                <a:latin typeface="Calibri"/>
                <a:cs typeface="Calibri"/>
              </a:rPr>
              <a:t> </a:t>
            </a:r>
            <a:r>
              <a:rPr sz="1800" dirty="0">
                <a:solidFill>
                  <a:srgbClr val="808080"/>
                </a:solidFill>
                <a:latin typeface="Calibri"/>
                <a:cs typeface="Calibri"/>
              </a:rPr>
              <a:t>value</a:t>
            </a:r>
            <a:r>
              <a:rPr sz="1800" spc="-40" dirty="0">
                <a:solidFill>
                  <a:srgbClr val="808080"/>
                </a:solidFill>
                <a:latin typeface="Calibri"/>
                <a:cs typeface="Calibri"/>
              </a:rPr>
              <a:t> </a:t>
            </a:r>
            <a:r>
              <a:rPr sz="1800" dirty="0">
                <a:solidFill>
                  <a:srgbClr val="808080"/>
                </a:solidFill>
                <a:latin typeface="Calibri"/>
                <a:cs typeface="Calibri"/>
              </a:rPr>
              <a:t>here,</a:t>
            </a:r>
            <a:r>
              <a:rPr sz="1800" spc="-40" dirty="0">
                <a:solidFill>
                  <a:srgbClr val="808080"/>
                </a:solidFill>
                <a:latin typeface="Calibri"/>
                <a:cs typeface="Calibri"/>
              </a:rPr>
              <a:t> </a:t>
            </a:r>
            <a:r>
              <a:rPr sz="1800" dirty="0">
                <a:solidFill>
                  <a:srgbClr val="808080"/>
                </a:solidFill>
                <a:latin typeface="Calibri"/>
                <a:cs typeface="Calibri"/>
              </a:rPr>
              <a:t>replace</a:t>
            </a:r>
            <a:r>
              <a:rPr sz="1800" spc="-35"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text&gt;</a:t>
            </a:r>
            <a:endParaRPr sz="18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4.1.A</a:t>
            </a:r>
            <a:r>
              <a:rPr spc="-95" dirty="0"/>
              <a:t> </a:t>
            </a:r>
            <a:r>
              <a:rPr b="0" dirty="0">
                <a:latin typeface="Calibri"/>
                <a:cs typeface="Calibri"/>
              </a:rPr>
              <a:t>Perception</a:t>
            </a:r>
            <a:r>
              <a:rPr b="0" spc="-80" dirty="0">
                <a:latin typeface="Calibri"/>
                <a:cs typeface="Calibri"/>
              </a:rPr>
              <a:t> </a:t>
            </a:r>
            <a:r>
              <a:rPr b="0" dirty="0">
                <a:latin typeface="Calibri"/>
                <a:cs typeface="Calibri"/>
              </a:rPr>
              <a:t>w/</a:t>
            </a:r>
            <a:r>
              <a:rPr b="0" spc="-60" dirty="0">
                <a:latin typeface="Calibri"/>
                <a:cs typeface="Calibri"/>
              </a:rPr>
              <a:t> </a:t>
            </a:r>
            <a:r>
              <a:rPr b="0" dirty="0">
                <a:latin typeface="Calibri"/>
                <a:cs typeface="Calibri"/>
              </a:rPr>
              <a:t>Graphical</a:t>
            </a:r>
            <a:r>
              <a:rPr b="0" spc="-65" dirty="0">
                <a:latin typeface="Calibri"/>
                <a:cs typeface="Calibri"/>
              </a:rPr>
              <a:t> </a:t>
            </a:r>
            <a:r>
              <a:rPr b="0" dirty="0">
                <a:latin typeface="Calibri"/>
                <a:cs typeface="Calibri"/>
              </a:rPr>
              <a:t>Models</a:t>
            </a:r>
            <a:r>
              <a:rPr b="0" spc="-60" dirty="0">
                <a:latin typeface="Calibri"/>
                <a:cs typeface="Calibri"/>
              </a:rPr>
              <a:t> </a:t>
            </a:r>
            <a:r>
              <a:rPr b="0" dirty="0">
                <a:latin typeface="Calibri"/>
                <a:cs typeface="Calibri"/>
              </a:rPr>
              <a:t>[2</a:t>
            </a:r>
            <a:r>
              <a:rPr b="0" spc="-60" dirty="0">
                <a:latin typeface="Calibri"/>
                <a:cs typeface="Calibri"/>
              </a:rPr>
              <a:t> </a:t>
            </a:r>
            <a:r>
              <a:rPr b="0" spc="-20" dirty="0">
                <a:latin typeface="Calibri"/>
                <a:cs typeface="Calibri"/>
              </a:rPr>
              <a:t>pts]</a:t>
            </a:r>
          </a:p>
        </p:txBody>
      </p:sp>
      <p:sp>
        <p:nvSpPr>
          <p:cNvPr id="3" name="object 3"/>
          <p:cNvSpPr txBox="1"/>
          <p:nvPr/>
        </p:nvSpPr>
        <p:spPr>
          <a:xfrm>
            <a:off x="915416" y="1858517"/>
            <a:ext cx="7092315" cy="204470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Given</a:t>
            </a:r>
            <a:r>
              <a:rPr sz="1800" spc="-20" dirty="0">
                <a:latin typeface="Arial"/>
                <a:cs typeface="Arial"/>
              </a:rPr>
              <a:t> </a:t>
            </a:r>
            <a:r>
              <a:rPr sz="1800" dirty="0">
                <a:latin typeface="Arial"/>
                <a:cs typeface="Arial"/>
              </a:rPr>
              <a:t>the</a:t>
            </a:r>
            <a:r>
              <a:rPr sz="1800" spc="-15" dirty="0">
                <a:latin typeface="Arial"/>
                <a:cs typeface="Arial"/>
              </a:rPr>
              <a:t> </a:t>
            </a:r>
            <a:r>
              <a:rPr sz="1800" dirty="0">
                <a:latin typeface="Arial"/>
                <a:cs typeface="Arial"/>
              </a:rPr>
              <a:t>DBN from</a:t>
            </a:r>
            <a:r>
              <a:rPr sz="1800" spc="-15" dirty="0">
                <a:latin typeface="Arial"/>
                <a:cs typeface="Arial"/>
              </a:rPr>
              <a:t> </a:t>
            </a:r>
            <a:r>
              <a:rPr sz="1800" dirty="0">
                <a:latin typeface="Arial"/>
                <a:cs typeface="Arial"/>
              </a:rPr>
              <a:t>the</a:t>
            </a:r>
            <a:r>
              <a:rPr sz="1800" spc="-15" dirty="0">
                <a:latin typeface="Arial"/>
                <a:cs typeface="Arial"/>
              </a:rPr>
              <a:t> </a:t>
            </a:r>
            <a:r>
              <a:rPr sz="1800" spc="-10" dirty="0">
                <a:latin typeface="Arial"/>
                <a:cs typeface="Arial"/>
              </a:rPr>
              <a:t>textbook,</a:t>
            </a:r>
            <a:endParaRPr sz="1800">
              <a:latin typeface="Arial"/>
              <a:cs typeface="Arial"/>
            </a:endParaRPr>
          </a:p>
          <a:p>
            <a:pPr marL="299085" marR="5080" indent="-287020">
              <a:lnSpc>
                <a:spcPct val="100000"/>
              </a:lnSpc>
              <a:buChar char="•"/>
              <a:tabLst>
                <a:tab pos="299085" algn="l"/>
              </a:tabLst>
            </a:pPr>
            <a:r>
              <a:rPr sz="1800" dirty="0">
                <a:latin typeface="Arial"/>
                <a:cs typeface="Arial"/>
              </a:rPr>
              <a:t>If</a:t>
            </a:r>
            <a:r>
              <a:rPr sz="1800" spc="-35" dirty="0">
                <a:latin typeface="Arial"/>
                <a:cs typeface="Arial"/>
              </a:rPr>
              <a:t> </a:t>
            </a:r>
            <a:r>
              <a:rPr sz="1800" dirty="0">
                <a:latin typeface="Arial"/>
                <a:cs typeface="Arial"/>
              </a:rPr>
              <a:t>all</a:t>
            </a:r>
            <a:r>
              <a:rPr sz="1800" spc="-25" dirty="0">
                <a:latin typeface="Arial"/>
                <a:cs typeface="Arial"/>
              </a:rPr>
              <a:t> </a:t>
            </a:r>
            <a:r>
              <a:rPr sz="1800" dirty="0">
                <a:latin typeface="Arial"/>
                <a:cs typeface="Arial"/>
              </a:rPr>
              <a:t>actions</a:t>
            </a:r>
            <a:r>
              <a:rPr sz="1800" spc="-30" dirty="0">
                <a:latin typeface="Arial"/>
                <a:cs typeface="Arial"/>
              </a:rPr>
              <a:t> </a:t>
            </a:r>
            <a:r>
              <a:rPr sz="1800" dirty="0">
                <a:latin typeface="Arial"/>
                <a:cs typeface="Arial"/>
              </a:rPr>
              <a:t>and</a:t>
            </a:r>
            <a:r>
              <a:rPr sz="1800" spc="-25" dirty="0">
                <a:latin typeface="Arial"/>
                <a:cs typeface="Arial"/>
              </a:rPr>
              <a:t> </a:t>
            </a:r>
            <a:r>
              <a:rPr sz="1800" dirty="0">
                <a:latin typeface="Arial"/>
                <a:cs typeface="Arial"/>
              </a:rPr>
              <a:t>measurements</a:t>
            </a:r>
            <a:r>
              <a:rPr sz="1800" spc="-15" dirty="0">
                <a:latin typeface="Arial"/>
                <a:cs typeface="Arial"/>
              </a:rPr>
              <a:t> </a:t>
            </a:r>
            <a:r>
              <a:rPr sz="1800" dirty="0">
                <a:latin typeface="Arial"/>
                <a:cs typeface="Arial"/>
              </a:rPr>
              <a:t>are</a:t>
            </a:r>
            <a:r>
              <a:rPr sz="1800" spc="-25" dirty="0">
                <a:latin typeface="Arial"/>
                <a:cs typeface="Arial"/>
              </a:rPr>
              <a:t> </a:t>
            </a:r>
            <a:r>
              <a:rPr sz="1800" dirty="0">
                <a:latin typeface="Arial"/>
                <a:cs typeface="Arial"/>
              </a:rPr>
              <a:t>unknown,</a:t>
            </a:r>
            <a:r>
              <a:rPr sz="1800" spc="15" dirty="0">
                <a:latin typeface="Arial"/>
                <a:cs typeface="Arial"/>
              </a:rPr>
              <a:t> </a:t>
            </a:r>
            <a:r>
              <a:rPr sz="1800" dirty="0">
                <a:latin typeface="Arial"/>
                <a:cs typeface="Arial"/>
              </a:rPr>
              <a:t>what</a:t>
            </a:r>
            <a:r>
              <a:rPr sz="1800" spc="5" dirty="0">
                <a:latin typeface="Arial"/>
                <a:cs typeface="Arial"/>
              </a:rPr>
              <a:t> </a:t>
            </a:r>
            <a:r>
              <a:rPr sz="1800" dirty="0">
                <a:latin typeface="Arial"/>
                <a:cs typeface="Arial"/>
              </a:rPr>
              <a:t>does</a:t>
            </a:r>
            <a:r>
              <a:rPr sz="1800" spc="-25" dirty="0">
                <a:latin typeface="Arial"/>
                <a:cs typeface="Arial"/>
              </a:rPr>
              <a:t> </a:t>
            </a:r>
            <a:r>
              <a:rPr sz="1800" dirty="0">
                <a:latin typeface="Arial"/>
                <a:cs typeface="Arial"/>
              </a:rPr>
              <a:t>the</a:t>
            </a:r>
            <a:r>
              <a:rPr sz="1800" spc="-40" dirty="0">
                <a:latin typeface="Arial"/>
                <a:cs typeface="Arial"/>
              </a:rPr>
              <a:t> </a:t>
            </a:r>
            <a:r>
              <a:rPr sz="1800" spc="-10" dirty="0">
                <a:latin typeface="Arial"/>
                <a:cs typeface="Arial"/>
              </a:rPr>
              <a:t>factor </a:t>
            </a:r>
            <a:r>
              <a:rPr sz="1800" dirty="0">
                <a:latin typeface="Arial"/>
                <a:cs typeface="Arial"/>
              </a:rPr>
              <a:t>graph</a:t>
            </a:r>
            <a:r>
              <a:rPr sz="1800" spc="-15" dirty="0">
                <a:latin typeface="Arial"/>
                <a:cs typeface="Arial"/>
              </a:rPr>
              <a:t> </a:t>
            </a:r>
            <a:r>
              <a:rPr sz="1800" dirty="0">
                <a:latin typeface="Arial"/>
                <a:cs typeface="Arial"/>
              </a:rPr>
              <a:t>look</a:t>
            </a:r>
            <a:r>
              <a:rPr sz="1800" spc="-15" dirty="0">
                <a:latin typeface="Arial"/>
                <a:cs typeface="Arial"/>
              </a:rPr>
              <a:t> </a:t>
            </a:r>
            <a:r>
              <a:rPr sz="1800" spc="-20" dirty="0">
                <a:latin typeface="Arial"/>
                <a:cs typeface="Arial"/>
              </a:rPr>
              <a:t>like?</a:t>
            </a:r>
            <a:endParaRPr sz="1800">
              <a:latin typeface="Arial"/>
              <a:cs typeface="Arial"/>
            </a:endParaRPr>
          </a:p>
          <a:p>
            <a:pPr>
              <a:lnSpc>
                <a:spcPct val="100000"/>
              </a:lnSpc>
              <a:spcBef>
                <a:spcPts val="635"/>
              </a:spcBef>
            </a:pPr>
            <a:endParaRPr sz="1800">
              <a:latin typeface="Arial"/>
              <a:cs typeface="Arial"/>
            </a:endParaRPr>
          </a:p>
          <a:p>
            <a:pPr marL="181610">
              <a:lnSpc>
                <a:spcPct val="100000"/>
              </a:lnSpc>
            </a:pPr>
            <a:r>
              <a:rPr sz="1700" dirty="0">
                <a:solidFill>
                  <a:srgbClr val="808080"/>
                </a:solidFill>
                <a:latin typeface="Calibri"/>
                <a:cs typeface="Calibri"/>
              </a:rPr>
              <a:t>&lt;Create</a:t>
            </a:r>
            <a:r>
              <a:rPr sz="1700" spc="-55" dirty="0">
                <a:solidFill>
                  <a:srgbClr val="808080"/>
                </a:solidFill>
                <a:latin typeface="Calibri"/>
                <a:cs typeface="Calibri"/>
              </a:rPr>
              <a:t> </a:t>
            </a:r>
            <a:r>
              <a:rPr sz="1700" dirty="0">
                <a:solidFill>
                  <a:srgbClr val="808080"/>
                </a:solidFill>
                <a:latin typeface="Calibri"/>
                <a:cs typeface="Calibri"/>
              </a:rPr>
              <a:t>the</a:t>
            </a:r>
            <a:r>
              <a:rPr sz="1700" spc="-50" dirty="0">
                <a:solidFill>
                  <a:srgbClr val="808080"/>
                </a:solidFill>
                <a:latin typeface="Calibri"/>
                <a:cs typeface="Calibri"/>
              </a:rPr>
              <a:t> </a:t>
            </a:r>
            <a:r>
              <a:rPr sz="1700" dirty="0">
                <a:solidFill>
                  <a:srgbClr val="808080"/>
                </a:solidFill>
                <a:latin typeface="Calibri"/>
                <a:cs typeface="Calibri"/>
              </a:rPr>
              <a:t>factor</a:t>
            </a:r>
            <a:r>
              <a:rPr sz="1700" spc="-20" dirty="0">
                <a:solidFill>
                  <a:srgbClr val="808080"/>
                </a:solidFill>
                <a:latin typeface="Calibri"/>
                <a:cs typeface="Calibri"/>
              </a:rPr>
              <a:t> </a:t>
            </a:r>
            <a:r>
              <a:rPr sz="1700" dirty="0">
                <a:solidFill>
                  <a:srgbClr val="808080"/>
                </a:solidFill>
                <a:latin typeface="Calibri"/>
                <a:cs typeface="Calibri"/>
              </a:rPr>
              <a:t>graph</a:t>
            </a:r>
            <a:r>
              <a:rPr sz="1700" spc="-70" dirty="0">
                <a:solidFill>
                  <a:srgbClr val="808080"/>
                </a:solidFill>
                <a:latin typeface="Calibri"/>
                <a:cs typeface="Calibri"/>
              </a:rPr>
              <a:t> </a:t>
            </a:r>
            <a:r>
              <a:rPr sz="1700" spc="-20" dirty="0">
                <a:solidFill>
                  <a:srgbClr val="808080"/>
                </a:solidFill>
                <a:latin typeface="Calibri"/>
                <a:cs typeface="Calibri"/>
              </a:rPr>
              <a:t>here&gt;</a:t>
            </a:r>
            <a:endParaRPr sz="1700">
              <a:latin typeface="Calibri"/>
              <a:cs typeface="Calibri"/>
            </a:endParaRPr>
          </a:p>
          <a:p>
            <a:pPr marL="181610">
              <a:lnSpc>
                <a:spcPts val="1939"/>
              </a:lnSpc>
              <a:spcBef>
                <a:spcPts val="795"/>
              </a:spcBef>
            </a:pPr>
            <a:r>
              <a:rPr sz="1700" dirty="0">
                <a:solidFill>
                  <a:srgbClr val="808080"/>
                </a:solidFill>
                <a:latin typeface="Calibri"/>
                <a:cs typeface="Calibri"/>
              </a:rPr>
              <a:t>&lt;All</a:t>
            </a:r>
            <a:r>
              <a:rPr sz="1700" spc="-25" dirty="0">
                <a:solidFill>
                  <a:srgbClr val="808080"/>
                </a:solidFill>
                <a:latin typeface="Calibri"/>
                <a:cs typeface="Calibri"/>
              </a:rPr>
              <a:t> </a:t>
            </a:r>
            <a:r>
              <a:rPr sz="1700" dirty="0">
                <a:solidFill>
                  <a:srgbClr val="808080"/>
                </a:solidFill>
                <a:latin typeface="Calibri"/>
                <a:cs typeface="Calibri"/>
              </a:rPr>
              <a:t>the</a:t>
            </a:r>
            <a:r>
              <a:rPr sz="1700" spc="-40" dirty="0">
                <a:solidFill>
                  <a:srgbClr val="808080"/>
                </a:solidFill>
                <a:latin typeface="Calibri"/>
                <a:cs typeface="Calibri"/>
              </a:rPr>
              <a:t> </a:t>
            </a:r>
            <a:r>
              <a:rPr sz="1700" dirty="0">
                <a:solidFill>
                  <a:srgbClr val="808080"/>
                </a:solidFill>
                <a:latin typeface="Calibri"/>
                <a:cs typeface="Calibri"/>
              </a:rPr>
              <a:t>variables</a:t>
            </a:r>
            <a:r>
              <a:rPr sz="1700" spc="-50" dirty="0">
                <a:solidFill>
                  <a:srgbClr val="808080"/>
                </a:solidFill>
                <a:latin typeface="Calibri"/>
                <a:cs typeface="Calibri"/>
              </a:rPr>
              <a:t> </a:t>
            </a:r>
            <a:r>
              <a:rPr sz="1700" dirty="0">
                <a:solidFill>
                  <a:srgbClr val="808080"/>
                </a:solidFill>
                <a:latin typeface="Calibri"/>
                <a:cs typeface="Calibri"/>
              </a:rPr>
              <a:t>are</a:t>
            </a:r>
            <a:r>
              <a:rPr sz="1700" spc="-25" dirty="0">
                <a:solidFill>
                  <a:srgbClr val="808080"/>
                </a:solidFill>
                <a:latin typeface="Calibri"/>
                <a:cs typeface="Calibri"/>
              </a:rPr>
              <a:t> </a:t>
            </a:r>
            <a:r>
              <a:rPr sz="1700" dirty="0">
                <a:solidFill>
                  <a:srgbClr val="808080"/>
                </a:solidFill>
                <a:latin typeface="Calibri"/>
                <a:cs typeface="Calibri"/>
              </a:rPr>
              <a:t>provided,</a:t>
            </a:r>
            <a:r>
              <a:rPr sz="1700" spc="-55" dirty="0">
                <a:solidFill>
                  <a:srgbClr val="808080"/>
                </a:solidFill>
                <a:latin typeface="Calibri"/>
                <a:cs typeface="Calibri"/>
              </a:rPr>
              <a:t> </a:t>
            </a:r>
            <a:r>
              <a:rPr sz="1700" dirty="0">
                <a:solidFill>
                  <a:srgbClr val="808080"/>
                </a:solidFill>
                <a:latin typeface="Calibri"/>
                <a:cs typeface="Calibri"/>
              </a:rPr>
              <a:t>please</a:t>
            </a:r>
            <a:r>
              <a:rPr sz="1700" spc="-25" dirty="0">
                <a:solidFill>
                  <a:srgbClr val="808080"/>
                </a:solidFill>
                <a:latin typeface="Calibri"/>
                <a:cs typeface="Calibri"/>
              </a:rPr>
              <a:t> </a:t>
            </a:r>
            <a:r>
              <a:rPr sz="1700" dirty="0">
                <a:solidFill>
                  <a:srgbClr val="808080"/>
                </a:solidFill>
                <a:latin typeface="Calibri"/>
                <a:cs typeface="Calibri"/>
              </a:rPr>
              <a:t>use</a:t>
            </a:r>
            <a:r>
              <a:rPr sz="1700" spc="-20" dirty="0">
                <a:solidFill>
                  <a:srgbClr val="808080"/>
                </a:solidFill>
                <a:latin typeface="Calibri"/>
                <a:cs typeface="Calibri"/>
              </a:rPr>
              <a:t> </a:t>
            </a:r>
            <a:r>
              <a:rPr sz="1700" dirty="0">
                <a:solidFill>
                  <a:srgbClr val="808080"/>
                </a:solidFill>
                <a:latin typeface="Calibri"/>
                <a:cs typeface="Calibri"/>
              </a:rPr>
              <a:t>only</a:t>
            </a:r>
            <a:r>
              <a:rPr sz="1700" spc="-55" dirty="0">
                <a:solidFill>
                  <a:srgbClr val="808080"/>
                </a:solidFill>
                <a:latin typeface="Calibri"/>
                <a:cs typeface="Calibri"/>
              </a:rPr>
              <a:t> </a:t>
            </a:r>
            <a:r>
              <a:rPr sz="1700" dirty="0">
                <a:solidFill>
                  <a:srgbClr val="808080"/>
                </a:solidFill>
                <a:latin typeface="Calibri"/>
                <a:cs typeface="Calibri"/>
              </a:rPr>
              <a:t>ones</a:t>
            </a:r>
            <a:r>
              <a:rPr sz="1700" spc="-30" dirty="0">
                <a:solidFill>
                  <a:srgbClr val="808080"/>
                </a:solidFill>
                <a:latin typeface="Calibri"/>
                <a:cs typeface="Calibri"/>
              </a:rPr>
              <a:t> </a:t>
            </a:r>
            <a:r>
              <a:rPr sz="1700" dirty="0">
                <a:solidFill>
                  <a:srgbClr val="808080"/>
                </a:solidFill>
                <a:latin typeface="Calibri"/>
                <a:cs typeface="Calibri"/>
              </a:rPr>
              <a:t>which</a:t>
            </a:r>
            <a:r>
              <a:rPr sz="1700" spc="-15" dirty="0">
                <a:solidFill>
                  <a:srgbClr val="808080"/>
                </a:solidFill>
                <a:latin typeface="Calibri"/>
                <a:cs typeface="Calibri"/>
              </a:rPr>
              <a:t> </a:t>
            </a:r>
            <a:r>
              <a:rPr sz="1700" spc="-25" dirty="0">
                <a:solidFill>
                  <a:srgbClr val="808080"/>
                </a:solidFill>
                <a:latin typeface="Calibri"/>
                <a:cs typeface="Calibri"/>
              </a:rPr>
              <a:t>are</a:t>
            </a:r>
            <a:endParaRPr sz="1700">
              <a:latin typeface="Calibri"/>
              <a:cs typeface="Calibri"/>
            </a:endParaRPr>
          </a:p>
          <a:p>
            <a:pPr marL="181610">
              <a:lnSpc>
                <a:spcPts val="1939"/>
              </a:lnSpc>
            </a:pPr>
            <a:r>
              <a:rPr sz="1700" dirty="0">
                <a:solidFill>
                  <a:srgbClr val="808080"/>
                </a:solidFill>
                <a:latin typeface="Calibri"/>
                <a:cs typeface="Calibri"/>
              </a:rPr>
              <a:t>necessary.</a:t>
            </a:r>
            <a:r>
              <a:rPr sz="1700" spc="-50" dirty="0">
                <a:solidFill>
                  <a:srgbClr val="808080"/>
                </a:solidFill>
                <a:latin typeface="Calibri"/>
                <a:cs typeface="Calibri"/>
              </a:rPr>
              <a:t> </a:t>
            </a:r>
            <a:r>
              <a:rPr sz="1700" dirty="0">
                <a:solidFill>
                  <a:srgbClr val="808080"/>
                </a:solidFill>
                <a:latin typeface="Calibri"/>
                <a:cs typeface="Calibri"/>
              </a:rPr>
              <a:t>Connect</a:t>
            </a:r>
            <a:r>
              <a:rPr sz="1700" spc="-25" dirty="0">
                <a:solidFill>
                  <a:srgbClr val="808080"/>
                </a:solidFill>
                <a:latin typeface="Calibri"/>
                <a:cs typeface="Calibri"/>
              </a:rPr>
              <a:t> </a:t>
            </a:r>
            <a:r>
              <a:rPr sz="1700" dirty="0">
                <a:solidFill>
                  <a:srgbClr val="808080"/>
                </a:solidFill>
                <a:latin typeface="Calibri"/>
                <a:cs typeface="Calibri"/>
              </a:rPr>
              <a:t>them</a:t>
            </a:r>
            <a:r>
              <a:rPr sz="1700" spc="-20" dirty="0">
                <a:solidFill>
                  <a:srgbClr val="808080"/>
                </a:solidFill>
                <a:latin typeface="Calibri"/>
                <a:cs typeface="Calibri"/>
              </a:rPr>
              <a:t> </a:t>
            </a:r>
            <a:r>
              <a:rPr sz="1700" dirty="0">
                <a:solidFill>
                  <a:srgbClr val="808080"/>
                </a:solidFill>
                <a:latin typeface="Calibri"/>
                <a:cs typeface="Calibri"/>
              </a:rPr>
              <a:t>using</a:t>
            </a:r>
            <a:r>
              <a:rPr sz="1700" spc="-45" dirty="0">
                <a:solidFill>
                  <a:srgbClr val="808080"/>
                </a:solidFill>
                <a:latin typeface="Calibri"/>
                <a:cs typeface="Calibri"/>
              </a:rPr>
              <a:t> </a:t>
            </a:r>
            <a:r>
              <a:rPr sz="1700" dirty="0">
                <a:solidFill>
                  <a:srgbClr val="808080"/>
                </a:solidFill>
                <a:latin typeface="Calibri"/>
                <a:cs typeface="Calibri"/>
              </a:rPr>
              <a:t>an</a:t>
            </a:r>
            <a:r>
              <a:rPr sz="1700" spc="-25" dirty="0">
                <a:solidFill>
                  <a:srgbClr val="808080"/>
                </a:solidFill>
                <a:latin typeface="Calibri"/>
                <a:cs typeface="Calibri"/>
              </a:rPr>
              <a:t> </a:t>
            </a:r>
            <a:r>
              <a:rPr sz="1700" dirty="0">
                <a:solidFill>
                  <a:srgbClr val="808080"/>
                </a:solidFill>
                <a:latin typeface="Calibri"/>
                <a:cs typeface="Calibri"/>
              </a:rPr>
              <a:t>arrow</a:t>
            </a:r>
            <a:r>
              <a:rPr sz="1700" spc="-45" dirty="0">
                <a:solidFill>
                  <a:srgbClr val="808080"/>
                </a:solidFill>
                <a:latin typeface="Calibri"/>
                <a:cs typeface="Calibri"/>
              </a:rPr>
              <a:t> </a:t>
            </a:r>
            <a:r>
              <a:rPr sz="1700" spc="-10" dirty="0">
                <a:solidFill>
                  <a:srgbClr val="808080"/>
                </a:solidFill>
                <a:latin typeface="Calibri"/>
                <a:cs typeface="Calibri"/>
              </a:rPr>
              <a:t>line[provided</a:t>
            </a:r>
            <a:r>
              <a:rPr sz="1700" spc="-50" dirty="0">
                <a:solidFill>
                  <a:srgbClr val="808080"/>
                </a:solidFill>
                <a:latin typeface="Calibri"/>
                <a:cs typeface="Calibri"/>
              </a:rPr>
              <a:t> </a:t>
            </a:r>
            <a:r>
              <a:rPr sz="1700" dirty="0">
                <a:solidFill>
                  <a:srgbClr val="808080"/>
                </a:solidFill>
                <a:latin typeface="Calibri"/>
                <a:cs typeface="Calibri"/>
              </a:rPr>
              <a:t>in</a:t>
            </a:r>
            <a:r>
              <a:rPr sz="1700" spc="-25" dirty="0">
                <a:solidFill>
                  <a:srgbClr val="808080"/>
                </a:solidFill>
                <a:latin typeface="Calibri"/>
                <a:cs typeface="Calibri"/>
              </a:rPr>
              <a:t> </a:t>
            </a:r>
            <a:r>
              <a:rPr sz="1700" spc="-10" dirty="0">
                <a:solidFill>
                  <a:srgbClr val="808080"/>
                </a:solidFill>
                <a:latin typeface="Calibri"/>
                <a:cs typeface="Calibri"/>
              </a:rPr>
              <a:t>shapes]&gt;</a:t>
            </a:r>
            <a:endParaRPr sz="1700">
              <a:latin typeface="Calibri"/>
              <a:cs typeface="Calibri"/>
            </a:endParaRPr>
          </a:p>
        </p:txBody>
      </p:sp>
      <p:pic>
        <p:nvPicPr>
          <p:cNvPr id="4" name="object 4"/>
          <p:cNvPicPr/>
          <p:nvPr/>
        </p:nvPicPr>
        <p:blipFill>
          <a:blip r:embed="rId2" cstate="print"/>
          <a:stretch>
            <a:fillRect/>
          </a:stretch>
        </p:blipFill>
        <p:spPr>
          <a:xfrm>
            <a:off x="8841216" y="1371600"/>
            <a:ext cx="2874810" cy="2604651"/>
          </a:xfrm>
          <a:prstGeom prst="rect">
            <a:avLst/>
          </a:prstGeom>
        </p:spPr>
      </p:pic>
      <p:grpSp>
        <p:nvGrpSpPr>
          <p:cNvPr id="5" name="object 5"/>
          <p:cNvGrpSpPr/>
          <p:nvPr/>
        </p:nvGrpSpPr>
        <p:grpSpPr>
          <a:xfrm>
            <a:off x="658622" y="4404614"/>
            <a:ext cx="746760" cy="629285"/>
            <a:chOff x="658622" y="4404614"/>
            <a:chExt cx="746760" cy="629285"/>
          </a:xfrm>
        </p:grpSpPr>
        <p:sp>
          <p:nvSpPr>
            <p:cNvPr id="6" name="object 6"/>
            <p:cNvSpPr/>
            <p:nvPr/>
          </p:nvSpPr>
          <p:spPr>
            <a:xfrm>
              <a:off x="671322" y="4417314"/>
              <a:ext cx="721360" cy="603885"/>
            </a:xfrm>
            <a:custGeom>
              <a:avLst/>
              <a:gdLst/>
              <a:ahLst/>
              <a:cxnLst/>
              <a:rect l="l" t="t" r="r" b="b"/>
              <a:pathLst>
                <a:path w="721360" h="603885">
                  <a:moveTo>
                    <a:pt x="360425" y="0"/>
                  </a:moveTo>
                  <a:lnTo>
                    <a:pt x="307164" y="3272"/>
                  </a:lnTo>
                  <a:lnTo>
                    <a:pt x="256329" y="12778"/>
                  </a:lnTo>
                  <a:lnTo>
                    <a:pt x="208478" y="28050"/>
                  </a:lnTo>
                  <a:lnTo>
                    <a:pt x="164169" y="48621"/>
                  </a:lnTo>
                  <a:lnTo>
                    <a:pt x="123959" y="74024"/>
                  </a:lnTo>
                  <a:lnTo>
                    <a:pt x="88405" y="103792"/>
                  </a:lnTo>
                  <a:lnTo>
                    <a:pt x="58066" y="137457"/>
                  </a:lnTo>
                  <a:lnTo>
                    <a:pt x="33498" y="174553"/>
                  </a:lnTo>
                  <a:lnTo>
                    <a:pt x="15259" y="214612"/>
                  </a:lnTo>
                  <a:lnTo>
                    <a:pt x="3907" y="257167"/>
                  </a:lnTo>
                  <a:lnTo>
                    <a:pt x="0" y="301752"/>
                  </a:lnTo>
                  <a:lnTo>
                    <a:pt x="3907" y="346336"/>
                  </a:lnTo>
                  <a:lnTo>
                    <a:pt x="15259" y="388891"/>
                  </a:lnTo>
                  <a:lnTo>
                    <a:pt x="33498" y="428950"/>
                  </a:lnTo>
                  <a:lnTo>
                    <a:pt x="58066" y="466046"/>
                  </a:lnTo>
                  <a:lnTo>
                    <a:pt x="88405" y="499711"/>
                  </a:lnTo>
                  <a:lnTo>
                    <a:pt x="123959" y="529479"/>
                  </a:lnTo>
                  <a:lnTo>
                    <a:pt x="164169" y="554882"/>
                  </a:lnTo>
                  <a:lnTo>
                    <a:pt x="208478" y="575453"/>
                  </a:lnTo>
                  <a:lnTo>
                    <a:pt x="256329" y="590725"/>
                  </a:lnTo>
                  <a:lnTo>
                    <a:pt x="307164" y="600231"/>
                  </a:lnTo>
                  <a:lnTo>
                    <a:pt x="360425" y="603504"/>
                  </a:lnTo>
                  <a:lnTo>
                    <a:pt x="413687" y="600231"/>
                  </a:lnTo>
                  <a:lnTo>
                    <a:pt x="464522" y="590725"/>
                  </a:lnTo>
                  <a:lnTo>
                    <a:pt x="512373" y="575453"/>
                  </a:lnTo>
                  <a:lnTo>
                    <a:pt x="556682" y="554882"/>
                  </a:lnTo>
                  <a:lnTo>
                    <a:pt x="596892" y="529479"/>
                  </a:lnTo>
                  <a:lnTo>
                    <a:pt x="632446" y="499711"/>
                  </a:lnTo>
                  <a:lnTo>
                    <a:pt x="662785" y="466046"/>
                  </a:lnTo>
                  <a:lnTo>
                    <a:pt x="687353" y="428950"/>
                  </a:lnTo>
                  <a:lnTo>
                    <a:pt x="705592" y="388891"/>
                  </a:lnTo>
                  <a:lnTo>
                    <a:pt x="716944" y="346336"/>
                  </a:lnTo>
                  <a:lnTo>
                    <a:pt x="720852" y="301752"/>
                  </a:lnTo>
                  <a:lnTo>
                    <a:pt x="716944" y="257167"/>
                  </a:lnTo>
                  <a:lnTo>
                    <a:pt x="705592" y="214612"/>
                  </a:lnTo>
                  <a:lnTo>
                    <a:pt x="687353" y="174553"/>
                  </a:lnTo>
                  <a:lnTo>
                    <a:pt x="662785" y="137457"/>
                  </a:lnTo>
                  <a:lnTo>
                    <a:pt x="632446" y="103792"/>
                  </a:lnTo>
                  <a:lnTo>
                    <a:pt x="596892" y="74024"/>
                  </a:lnTo>
                  <a:lnTo>
                    <a:pt x="556682" y="48621"/>
                  </a:lnTo>
                  <a:lnTo>
                    <a:pt x="512373" y="28050"/>
                  </a:lnTo>
                  <a:lnTo>
                    <a:pt x="464522" y="12778"/>
                  </a:lnTo>
                  <a:lnTo>
                    <a:pt x="413687" y="3272"/>
                  </a:lnTo>
                  <a:lnTo>
                    <a:pt x="360425" y="0"/>
                  </a:lnTo>
                  <a:close/>
                </a:path>
              </a:pathLst>
            </a:custGeom>
            <a:solidFill>
              <a:srgbClr val="E7E6E6"/>
            </a:solidFill>
          </p:spPr>
          <p:txBody>
            <a:bodyPr wrap="square" lIns="0" tIns="0" rIns="0" bIns="0" rtlCol="0"/>
            <a:lstStyle/>
            <a:p>
              <a:endParaRPr/>
            </a:p>
          </p:txBody>
        </p:sp>
        <p:sp>
          <p:nvSpPr>
            <p:cNvPr id="7" name="object 7"/>
            <p:cNvSpPr/>
            <p:nvPr/>
          </p:nvSpPr>
          <p:spPr>
            <a:xfrm>
              <a:off x="671322" y="4417314"/>
              <a:ext cx="721360" cy="603885"/>
            </a:xfrm>
            <a:custGeom>
              <a:avLst/>
              <a:gdLst/>
              <a:ahLst/>
              <a:cxnLst/>
              <a:rect l="l" t="t" r="r" b="b"/>
              <a:pathLst>
                <a:path w="721360" h="603885">
                  <a:moveTo>
                    <a:pt x="0" y="301752"/>
                  </a:moveTo>
                  <a:lnTo>
                    <a:pt x="3907" y="257167"/>
                  </a:lnTo>
                  <a:lnTo>
                    <a:pt x="15259" y="214612"/>
                  </a:lnTo>
                  <a:lnTo>
                    <a:pt x="33498" y="174553"/>
                  </a:lnTo>
                  <a:lnTo>
                    <a:pt x="58066" y="137457"/>
                  </a:lnTo>
                  <a:lnTo>
                    <a:pt x="88405" y="103792"/>
                  </a:lnTo>
                  <a:lnTo>
                    <a:pt x="123959" y="74024"/>
                  </a:lnTo>
                  <a:lnTo>
                    <a:pt x="164169" y="48621"/>
                  </a:lnTo>
                  <a:lnTo>
                    <a:pt x="208478" y="28050"/>
                  </a:lnTo>
                  <a:lnTo>
                    <a:pt x="256329" y="12778"/>
                  </a:lnTo>
                  <a:lnTo>
                    <a:pt x="307164" y="3272"/>
                  </a:lnTo>
                  <a:lnTo>
                    <a:pt x="360425" y="0"/>
                  </a:lnTo>
                  <a:lnTo>
                    <a:pt x="413687" y="3272"/>
                  </a:lnTo>
                  <a:lnTo>
                    <a:pt x="464522" y="12778"/>
                  </a:lnTo>
                  <a:lnTo>
                    <a:pt x="512373" y="28050"/>
                  </a:lnTo>
                  <a:lnTo>
                    <a:pt x="556682" y="48621"/>
                  </a:lnTo>
                  <a:lnTo>
                    <a:pt x="596892" y="74024"/>
                  </a:lnTo>
                  <a:lnTo>
                    <a:pt x="632446" y="103792"/>
                  </a:lnTo>
                  <a:lnTo>
                    <a:pt x="662785" y="137457"/>
                  </a:lnTo>
                  <a:lnTo>
                    <a:pt x="687353" y="174553"/>
                  </a:lnTo>
                  <a:lnTo>
                    <a:pt x="705592" y="214612"/>
                  </a:lnTo>
                  <a:lnTo>
                    <a:pt x="716944" y="257167"/>
                  </a:lnTo>
                  <a:lnTo>
                    <a:pt x="720852" y="301752"/>
                  </a:lnTo>
                  <a:lnTo>
                    <a:pt x="716944" y="346336"/>
                  </a:lnTo>
                  <a:lnTo>
                    <a:pt x="705592" y="388891"/>
                  </a:lnTo>
                  <a:lnTo>
                    <a:pt x="687353" y="428950"/>
                  </a:lnTo>
                  <a:lnTo>
                    <a:pt x="662785" y="466046"/>
                  </a:lnTo>
                  <a:lnTo>
                    <a:pt x="632446" y="499711"/>
                  </a:lnTo>
                  <a:lnTo>
                    <a:pt x="596892" y="529479"/>
                  </a:lnTo>
                  <a:lnTo>
                    <a:pt x="556682" y="554882"/>
                  </a:lnTo>
                  <a:lnTo>
                    <a:pt x="512373" y="575453"/>
                  </a:lnTo>
                  <a:lnTo>
                    <a:pt x="464522" y="590725"/>
                  </a:lnTo>
                  <a:lnTo>
                    <a:pt x="413687" y="600231"/>
                  </a:lnTo>
                  <a:lnTo>
                    <a:pt x="360425" y="603504"/>
                  </a:lnTo>
                  <a:lnTo>
                    <a:pt x="307164" y="600231"/>
                  </a:lnTo>
                  <a:lnTo>
                    <a:pt x="256329" y="590725"/>
                  </a:lnTo>
                  <a:lnTo>
                    <a:pt x="208478" y="575453"/>
                  </a:lnTo>
                  <a:lnTo>
                    <a:pt x="164169" y="554882"/>
                  </a:lnTo>
                  <a:lnTo>
                    <a:pt x="123959" y="529479"/>
                  </a:lnTo>
                  <a:lnTo>
                    <a:pt x="88405" y="499711"/>
                  </a:lnTo>
                  <a:lnTo>
                    <a:pt x="58066" y="466046"/>
                  </a:lnTo>
                  <a:lnTo>
                    <a:pt x="33498" y="428950"/>
                  </a:lnTo>
                  <a:lnTo>
                    <a:pt x="15259" y="388891"/>
                  </a:lnTo>
                  <a:lnTo>
                    <a:pt x="3907" y="346336"/>
                  </a:lnTo>
                  <a:lnTo>
                    <a:pt x="0" y="301752"/>
                  </a:lnTo>
                  <a:close/>
                </a:path>
              </a:pathLst>
            </a:custGeom>
            <a:ln w="25399">
              <a:solidFill>
                <a:srgbClr val="2E528F"/>
              </a:solidFill>
            </a:ln>
          </p:spPr>
          <p:txBody>
            <a:bodyPr wrap="square" lIns="0" tIns="0" rIns="0" bIns="0" rtlCol="0"/>
            <a:lstStyle/>
            <a:p>
              <a:endParaRPr/>
            </a:p>
          </p:txBody>
        </p:sp>
      </p:grpSp>
      <p:sp>
        <p:nvSpPr>
          <p:cNvPr id="8" name="object 8"/>
          <p:cNvSpPr txBox="1"/>
          <p:nvPr/>
        </p:nvSpPr>
        <p:spPr>
          <a:xfrm>
            <a:off x="880363" y="4563617"/>
            <a:ext cx="3022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X1</a:t>
            </a:r>
            <a:endParaRPr sz="1800">
              <a:latin typeface="Arial"/>
              <a:cs typeface="Arial"/>
            </a:endParaRPr>
          </a:p>
        </p:txBody>
      </p:sp>
      <p:grpSp>
        <p:nvGrpSpPr>
          <p:cNvPr id="9" name="object 9"/>
          <p:cNvGrpSpPr/>
          <p:nvPr/>
        </p:nvGrpSpPr>
        <p:grpSpPr>
          <a:xfrm>
            <a:off x="658622" y="5171185"/>
            <a:ext cx="746760" cy="627380"/>
            <a:chOff x="658622" y="5171185"/>
            <a:chExt cx="746760" cy="627380"/>
          </a:xfrm>
        </p:grpSpPr>
        <p:sp>
          <p:nvSpPr>
            <p:cNvPr id="10" name="object 10"/>
            <p:cNvSpPr/>
            <p:nvPr/>
          </p:nvSpPr>
          <p:spPr>
            <a:xfrm>
              <a:off x="671322" y="5183885"/>
              <a:ext cx="721360" cy="601980"/>
            </a:xfrm>
            <a:custGeom>
              <a:avLst/>
              <a:gdLst/>
              <a:ahLst/>
              <a:cxnLst/>
              <a:rect l="l" t="t" r="r" b="b"/>
              <a:pathLst>
                <a:path w="721360" h="601979">
                  <a:moveTo>
                    <a:pt x="360425" y="0"/>
                  </a:moveTo>
                  <a:lnTo>
                    <a:pt x="307164" y="3263"/>
                  </a:lnTo>
                  <a:lnTo>
                    <a:pt x="256329" y="12742"/>
                  </a:lnTo>
                  <a:lnTo>
                    <a:pt x="208478" y="27973"/>
                  </a:lnTo>
                  <a:lnTo>
                    <a:pt x="164169" y="48488"/>
                  </a:lnTo>
                  <a:lnTo>
                    <a:pt x="123959" y="73824"/>
                  </a:lnTo>
                  <a:lnTo>
                    <a:pt x="88405" y="103514"/>
                  </a:lnTo>
                  <a:lnTo>
                    <a:pt x="58066" y="137093"/>
                  </a:lnTo>
                  <a:lnTo>
                    <a:pt x="33498" y="174095"/>
                  </a:lnTo>
                  <a:lnTo>
                    <a:pt x="15259" y="214056"/>
                  </a:lnTo>
                  <a:lnTo>
                    <a:pt x="3907" y="256509"/>
                  </a:lnTo>
                  <a:lnTo>
                    <a:pt x="0" y="300989"/>
                  </a:lnTo>
                  <a:lnTo>
                    <a:pt x="3907" y="345467"/>
                  </a:lnTo>
                  <a:lnTo>
                    <a:pt x="15259" y="387919"/>
                  </a:lnTo>
                  <a:lnTo>
                    <a:pt x="33498" y="427878"/>
                  </a:lnTo>
                  <a:lnTo>
                    <a:pt x="58066" y="464881"/>
                  </a:lnTo>
                  <a:lnTo>
                    <a:pt x="88405" y="498460"/>
                  </a:lnTo>
                  <a:lnTo>
                    <a:pt x="123959" y="528151"/>
                  </a:lnTo>
                  <a:lnTo>
                    <a:pt x="164169" y="553488"/>
                  </a:lnTo>
                  <a:lnTo>
                    <a:pt x="208478" y="574004"/>
                  </a:lnTo>
                  <a:lnTo>
                    <a:pt x="256329" y="589236"/>
                  </a:lnTo>
                  <a:lnTo>
                    <a:pt x="307164" y="598716"/>
                  </a:lnTo>
                  <a:lnTo>
                    <a:pt x="360425" y="601979"/>
                  </a:lnTo>
                  <a:lnTo>
                    <a:pt x="413687" y="598716"/>
                  </a:lnTo>
                  <a:lnTo>
                    <a:pt x="464522" y="589236"/>
                  </a:lnTo>
                  <a:lnTo>
                    <a:pt x="512373" y="574004"/>
                  </a:lnTo>
                  <a:lnTo>
                    <a:pt x="556682" y="553488"/>
                  </a:lnTo>
                  <a:lnTo>
                    <a:pt x="596892" y="528151"/>
                  </a:lnTo>
                  <a:lnTo>
                    <a:pt x="632446" y="498460"/>
                  </a:lnTo>
                  <a:lnTo>
                    <a:pt x="662785" y="464881"/>
                  </a:lnTo>
                  <a:lnTo>
                    <a:pt x="687353" y="427878"/>
                  </a:lnTo>
                  <a:lnTo>
                    <a:pt x="705592" y="387919"/>
                  </a:lnTo>
                  <a:lnTo>
                    <a:pt x="716944" y="345467"/>
                  </a:lnTo>
                  <a:lnTo>
                    <a:pt x="720852" y="300989"/>
                  </a:lnTo>
                  <a:lnTo>
                    <a:pt x="716944" y="256509"/>
                  </a:lnTo>
                  <a:lnTo>
                    <a:pt x="705592" y="214056"/>
                  </a:lnTo>
                  <a:lnTo>
                    <a:pt x="687353" y="174095"/>
                  </a:lnTo>
                  <a:lnTo>
                    <a:pt x="662785" y="137093"/>
                  </a:lnTo>
                  <a:lnTo>
                    <a:pt x="632446" y="103514"/>
                  </a:lnTo>
                  <a:lnTo>
                    <a:pt x="596892" y="73824"/>
                  </a:lnTo>
                  <a:lnTo>
                    <a:pt x="556682" y="48488"/>
                  </a:lnTo>
                  <a:lnTo>
                    <a:pt x="512373" y="27973"/>
                  </a:lnTo>
                  <a:lnTo>
                    <a:pt x="464522" y="12742"/>
                  </a:lnTo>
                  <a:lnTo>
                    <a:pt x="413687" y="3263"/>
                  </a:lnTo>
                  <a:lnTo>
                    <a:pt x="360425" y="0"/>
                  </a:lnTo>
                  <a:close/>
                </a:path>
              </a:pathLst>
            </a:custGeom>
            <a:solidFill>
              <a:srgbClr val="E7E6E6"/>
            </a:solidFill>
          </p:spPr>
          <p:txBody>
            <a:bodyPr wrap="square" lIns="0" tIns="0" rIns="0" bIns="0" rtlCol="0"/>
            <a:lstStyle/>
            <a:p>
              <a:endParaRPr/>
            </a:p>
          </p:txBody>
        </p:sp>
        <p:sp>
          <p:nvSpPr>
            <p:cNvPr id="11" name="object 11"/>
            <p:cNvSpPr/>
            <p:nvPr/>
          </p:nvSpPr>
          <p:spPr>
            <a:xfrm>
              <a:off x="671322" y="5183885"/>
              <a:ext cx="721360" cy="601980"/>
            </a:xfrm>
            <a:custGeom>
              <a:avLst/>
              <a:gdLst/>
              <a:ahLst/>
              <a:cxnLst/>
              <a:rect l="l" t="t" r="r" b="b"/>
              <a:pathLst>
                <a:path w="721360" h="601979">
                  <a:moveTo>
                    <a:pt x="0" y="300989"/>
                  </a:moveTo>
                  <a:lnTo>
                    <a:pt x="3907" y="256509"/>
                  </a:lnTo>
                  <a:lnTo>
                    <a:pt x="15259" y="214056"/>
                  </a:lnTo>
                  <a:lnTo>
                    <a:pt x="33498" y="174095"/>
                  </a:lnTo>
                  <a:lnTo>
                    <a:pt x="58066" y="137093"/>
                  </a:lnTo>
                  <a:lnTo>
                    <a:pt x="88405" y="103514"/>
                  </a:lnTo>
                  <a:lnTo>
                    <a:pt x="123959" y="73824"/>
                  </a:lnTo>
                  <a:lnTo>
                    <a:pt x="164169" y="48488"/>
                  </a:lnTo>
                  <a:lnTo>
                    <a:pt x="208478" y="27973"/>
                  </a:lnTo>
                  <a:lnTo>
                    <a:pt x="256329" y="12742"/>
                  </a:lnTo>
                  <a:lnTo>
                    <a:pt x="307164" y="3263"/>
                  </a:lnTo>
                  <a:lnTo>
                    <a:pt x="360425" y="0"/>
                  </a:lnTo>
                  <a:lnTo>
                    <a:pt x="413687" y="3263"/>
                  </a:lnTo>
                  <a:lnTo>
                    <a:pt x="464522" y="12742"/>
                  </a:lnTo>
                  <a:lnTo>
                    <a:pt x="512373" y="27973"/>
                  </a:lnTo>
                  <a:lnTo>
                    <a:pt x="556682" y="48488"/>
                  </a:lnTo>
                  <a:lnTo>
                    <a:pt x="596892" y="73824"/>
                  </a:lnTo>
                  <a:lnTo>
                    <a:pt x="632446" y="103514"/>
                  </a:lnTo>
                  <a:lnTo>
                    <a:pt x="662785" y="137093"/>
                  </a:lnTo>
                  <a:lnTo>
                    <a:pt x="687353" y="174095"/>
                  </a:lnTo>
                  <a:lnTo>
                    <a:pt x="705592" y="214056"/>
                  </a:lnTo>
                  <a:lnTo>
                    <a:pt x="716944" y="256509"/>
                  </a:lnTo>
                  <a:lnTo>
                    <a:pt x="720852" y="300989"/>
                  </a:lnTo>
                  <a:lnTo>
                    <a:pt x="716944" y="345467"/>
                  </a:lnTo>
                  <a:lnTo>
                    <a:pt x="705592" y="387919"/>
                  </a:lnTo>
                  <a:lnTo>
                    <a:pt x="687353" y="427878"/>
                  </a:lnTo>
                  <a:lnTo>
                    <a:pt x="662785" y="464881"/>
                  </a:lnTo>
                  <a:lnTo>
                    <a:pt x="632446" y="498460"/>
                  </a:lnTo>
                  <a:lnTo>
                    <a:pt x="596892" y="528151"/>
                  </a:lnTo>
                  <a:lnTo>
                    <a:pt x="556682" y="553488"/>
                  </a:lnTo>
                  <a:lnTo>
                    <a:pt x="512373" y="574004"/>
                  </a:lnTo>
                  <a:lnTo>
                    <a:pt x="464522" y="589236"/>
                  </a:lnTo>
                  <a:lnTo>
                    <a:pt x="413687" y="598716"/>
                  </a:lnTo>
                  <a:lnTo>
                    <a:pt x="360425" y="601979"/>
                  </a:lnTo>
                  <a:lnTo>
                    <a:pt x="307164" y="598716"/>
                  </a:lnTo>
                  <a:lnTo>
                    <a:pt x="256329" y="589236"/>
                  </a:lnTo>
                  <a:lnTo>
                    <a:pt x="208478" y="574004"/>
                  </a:lnTo>
                  <a:lnTo>
                    <a:pt x="164169" y="553488"/>
                  </a:lnTo>
                  <a:lnTo>
                    <a:pt x="123959" y="528151"/>
                  </a:lnTo>
                  <a:lnTo>
                    <a:pt x="88405" y="498460"/>
                  </a:lnTo>
                  <a:lnTo>
                    <a:pt x="58066" y="464881"/>
                  </a:lnTo>
                  <a:lnTo>
                    <a:pt x="33498" y="427878"/>
                  </a:lnTo>
                  <a:lnTo>
                    <a:pt x="15259" y="387919"/>
                  </a:lnTo>
                  <a:lnTo>
                    <a:pt x="3907" y="345467"/>
                  </a:lnTo>
                  <a:lnTo>
                    <a:pt x="0" y="300989"/>
                  </a:lnTo>
                  <a:close/>
                </a:path>
              </a:pathLst>
            </a:custGeom>
            <a:ln w="25400">
              <a:solidFill>
                <a:srgbClr val="2E528F"/>
              </a:solidFill>
            </a:ln>
          </p:spPr>
          <p:txBody>
            <a:bodyPr wrap="square" lIns="0" tIns="0" rIns="0" bIns="0" rtlCol="0"/>
            <a:lstStyle/>
            <a:p>
              <a:endParaRPr/>
            </a:p>
          </p:txBody>
        </p:sp>
      </p:grpSp>
      <p:sp>
        <p:nvSpPr>
          <p:cNvPr id="12" name="object 12"/>
          <p:cNvSpPr txBox="1"/>
          <p:nvPr/>
        </p:nvSpPr>
        <p:spPr>
          <a:xfrm>
            <a:off x="880363" y="5329173"/>
            <a:ext cx="30353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X2</a:t>
            </a:r>
            <a:endParaRPr sz="1800">
              <a:latin typeface="Arial"/>
              <a:cs typeface="Arial"/>
            </a:endParaRPr>
          </a:p>
        </p:txBody>
      </p:sp>
      <p:grpSp>
        <p:nvGrpSpPr>
          <p:cNvPr id="13" name="object 13"/>
          <p:cNvGrpSpPr/>
          <p:nvPr/>
        </p:nvGrpSpPr>
        <p:grpSpPr>
          <a:xfrm>
            <a:off x="658622" y="5949950"/>
            <a:ext cx="746760" cy="627380"/>
            <a:chOff x="658622" y="5949950"/>
            <a:chExt cx="746760" cy="627380"/>
          </a:xfrm>
        </p:grpSpPr>
        <p:sp>
          <p:nvSpPr>
            <p:cNvPr id="14" name="object 14"/>
            <p:cNvSpPr/>
            <p:nvPr/>
          </p:nvSpPr>
          <p:spPr>
            <a:xfrm>
              <a:off x="671322" y="5962650"/>
              <a:ext cx="721360" cy="601980"/>
            </a:xfrm>
            <a:custGeom>
              <a:avLst/>
              <a:gdLst/>
              <a:ahLst/>
              <a:cxnLst/>
              <a:rect l="l" t="t" r="r" b="b"/>
              <a:pathLst>
                <a:path w="721360" h="601979">
                  <a:moveTo>
                    <a:pt x="360425" y="0"/>
                  </a:moveTo>
                  <a:lnTo>
                    <a:pt x="307164" y="3263"/>
                  </a:lnTo>
                  <a:lnTo>
                    <a:pt x="256329" y="12743"/>
                  </a:lnTo>
                  <a:lnTo>
                    <a:pt x="208478" y="27975"/>
                  </a:lnTo>
                  <a:lnTo>
                    <a:pt x="164169" y="48491"/>
                  </a:lnTo>
                  <a:lnTo>
                    <a:pt x="123959" y="73828"/>
                  </a:lnTo>
                  <a:lnTo>
                    <a:pt x="88405" y="103519"/>
                  </a:lnTo>
                  <a:lnTo>
                    <a:pt x="58066" y="137098"/>
                  </a:lnTo>
                  <a:lnTo>
                    <a:pt x="33498" y="174101"/>
                  </a:lnTo>
                  <a:lnTo>
                    <a:pt x="15259" y="214060"/>
                  </a:lnTo>
                  <a:lnTo>
                    <a:pt x="3907" y="256512"/>
                  </a:lnTo>
                  <a:lnTo>
                    <a:pt x="0" y="300990"/>
                  </a:lnTo>
                  <a:lnTo>
                    <a:pt x="3907" y="345467"/>
                  </a:lnTo>
                  <a:lnTo>
                    <a:pt x="15259" y="387919"/>
                  </a:lnTo>
                  <a:lnTo>
                    <a:pt x="33498" y="427878"/>
                  </a:lnTo>
                  <a:lnTo>
                    <a:pt x="58066" y="464881"/>
                  </a:lnTo>
                  <a:lnTo>
                    <a:pt x="88405" y="498460"/>
                  </a:lnTo>
                  <a:lnTo>
                    <a:pt x="123959" y="528151"/>
                  </a:lnTo>
                  <a:lnTo>
                    <a:pt x="164169" y="553488"/>
                  </a:lnTo>
                  <a:lnTo>
                    <a:pt x="208478" y="574004"/>
                  </a:lnTo>
                  <a:lnTo>
                    <a:pt x="256329" y="589236"/>
                  </a:lnTo>
                  <a:lnTo>
                    <a:pt x="307164" y="598716"/>
                  </a:lnTo>
                  <a:lnTo>
                    <a:pt x="360425" y="601980"/>
                  </a:lnTo>
                  <a:lnTo>
                    <a:pt x="413687" y="598716"/>
                  </a:lnTo>
                  <a:lnTo>
                    <a:pt x="464522" y="589236"/>
                  </a:lnTo>
                  <a:lnTo>
                    <a:pt x="512373" y="574004"/>
                  </a:lnTo>
                  <a:lnTo>
                    <a:pt x="556682" y="553488"/>
                  </a:lnTo>
                  <a:lnTo>
                    <a:pt x="596892" y="528151"/>
                  </a:lnTo>
                  <a:lnTo>
                    <a:pt x="632446" y="498460"/>
                  </a:lnTo>
                  <a:lnTo>
                    <a:pt x="662785" y="464881"/>
                  </a:lnTo>
                  <a:lnTo>
                    <a:pt x="687353" y="427878"/>
                  </a:lnTo>
                  <a:lnTo>
                    <a:pt x="705592" y="387919"/>
                  </a:lnTo>
                  <a:lnTo>
                    <a:pt x="716944" y="345467"/>
                  </a:lnTo>
                  <a:lnTo>
                    <a:pt x="720852" y="300990"/>
                  </a:lnTo>
                  <a:lnTo>
                    <a:pt x="716944" y="256512"/>
                  </a:lnTo>
                  <a:lnTo>
                    <a:pt x="705592" y="214060"/>
                  </a:lnTo>
                  <a:lnTo>
                    <a:pt x="687353" y="174101"/>
                  </a:lnTo>
                  <a:lnTo>
                    <a:pt x="662785" y="137098"/>
                  </a:lnTo>
                  <a:lnTo>
                    <a:pt x="632446" y="103519"/>
                  </a:lnTo>
                  <a:lnTo>
                    <a:pt x="596892" y="73828"/>
                  </a:lnTo>
                  <a:lnTo>
                    <a:pt x="556682" y="48491"/>
                  </a:lnTo>
                  <a:lnTo>
                    <a:pt x="512373" y="27975"/>
                  </a:lnTo>
                  <a:lnTo>
                    <a:pt x="464522" y="12743"/>
                  </a:lnTo>
                  <a:lnTo>
                    <a:pt x="413687" y="3263"/>
                  </a:lnTo>
                  <a:lnTo>
                    <a:pt x="360425" y="0"/>
                  </a:lnTo>
                  <a:close/>
                </a:path>
              </a:pathLst>
            </a:custGeom>
            <a:solidFill>
              <a:srgbClr val="E7E6E6"/>
            </a:solidFill>
          </p:spPr>
          <p:txBody>
            <a:bodyPr wrap="square" lIns="0" tIns="0" rIns="0" bIns="0" rtlCol="0"/>
            <a:lstStyle/>
            <a:p>
              <a:endParaRPr/>
            </a:p>
          </p:txBody>
        </p:sp>
        <p:sp>
          <p:nvSpPr>
            <p:cNvPr id="15" name="object 15"/>
            <p:cNvSpPr/>
            <p:nvPr/>
          </p:nvSpPr>
          <p:spPr>
            <a:xfrm>
              <a:off x="671322" y="5962650"/>
              <a:ext cx="721360" cy="601980"/>
            </a:xfrm>
            <a:custGeom>
              <a:avLst/>
              <a:gdLst/>
              <a:ahLst/>
              <a:cxnLst/>
              <a:rect l="l" t="t" r="r" b="b"/>
              <a:pathLst>
                <a:path w="721360" h="601979">
                  <a:moveTo>
                    <a:pt x="0" y="300990"/>
                  </a:moveTo>
                  <a:lnTo>
                    <a:pt x="3907" y="256512"/>
                  </a:lnTo>
                  <a:lnTo>
                    <a:pt x="15259" y="214060"/>
                  </a:lnTo>
                  <a:lnTo>
                    <a:pt x="33498" y="174101"/>
                  </a:lnTo>
                  <a:lnTo>
                    <a:pt x="58066" y="137098"/>
                  </a:lnTo>
                  <a:lnTo>
                    <a:pt x="88405" y="103519"/>
                  </a:lnTo>
                  <a:lnTo>
                    <a:pt x="123959" y="73828"/>
                  </a:lnTo>
                  <a:lnTo>
                    <a:pt x="164169" y="48491"/>
                  </a:lnTo>
                  <a:lnTo>
                    <a:pt x="208478" y="27975"/>
                  </a:lnTo>
                  <a:lnTo>
                    <a:pt x="256329" y="12743"/>
                  </a:lnTo>
                  <a:lnTo>
                    <a:pt x="307164" y="3263"/>
                  </a:lnTo>
                  <a:lnTo>
                    <a:pt x="360425" y="0"/>
                  </a:lnTo>
                  <a:lnTo>
                    <a:pt x="413687" y="3263"/>
                  </a:lnTo>
                  <a:lnTo>
                    <a:pt x="464522" y="12743"/>
                  </a:lnTo>
                  <a:lnTo>
                    <a:pt x="512373" y="27975"/>
                  </a:lnTo>
                  <a:lnTo>
                    <a:pt x="556682" y="48491"/>
                  </a:lnTo>
                  <a:lnTo>
                    <a:pt x="596892" y="73828"/>
                  </a:lnTo>
                  <a:lnTo>
                    <a:pt x="632446" y="103519"/>
                  </a:lnTo>
                  <a:lnTo>
                    <a:pt x="662785" y="137098"/>
                  </a:lnTo>
                  <a:lnTo>
                    <a:pt x="687353" y="174101"/>
                  </a:lnTo>
                  <a:lnTo>
                    <a:pt x="705592" y="214060"/>
                  </a:lnTo>
                  <a:lnTo>
                    <a:pt x="716944" y="256512"/>
                  </a:lnTo>
                  <a:lnTo>
                    <a:pt x="720852" y="300990"/>
                  </a:lnTo>
                  <a:lnTo>
                    <a:pt x="716944" y="345467"/>
                  </a:lnTo>
                  <a:lnTo>
                    <a:pt x="705592" y="387919"/>
                  </a:lnTo>
                  <a:lnTo>
                    <a:pt x="687353" y="427878"/>
                  </a:lnTo>
                  <a:lnTo>
                    <a:pt x="662785" y="464881"/>
                  </a:lnTo>
                  <a:lnTo>
                    <a:pt x="632446" y="498460"/>
                  </a:lnTo>
                  <a:lnTo>
                    <a:pt x="596892" y="528151"/>
                  </a:lnTo>
                  <a:lnTo>
                    <a:pt x="556682" y="553488"/>
                  </a:lnTo>
                  <a:lnTo>
                    <a:pt x="512373" y="574004"/>
                  </a:lnTo>
                  <a:lnTo>
                    <a:pt x="464522" y="589236"/>
                  </a:lnTo>
                  <a:lnTo>
                    <a:pt x="413687" y="598716"/>
                  </a:lnTo>
                  <a:lnTo>
                    <a:pt x="360425" y="601980"/>
                  </a:lnTo>
                  <a:lnTo>
                    <a:pt x="307164" y="598716"/>
                  </a:lnTo>
                  <a:lnTo>
                    <a:pt x="256329" y="589236"/>
                  </a:lnTo>
                  <a:lnTo>
                    <a:pt x="208478" y="574004"/>
                  </a:lnTo>
                  <a:lnTo>
                    <a:pt x="164169" y="553488"/>
                  </a:lnTo>
                  <a:lnTo>
                    <a:pt x="123959" y="528151"/>
                  </a:lnTo>
                  <a:lnTo>
                    <a:pt x="88405" y="498460"/>
                  </a:lnTo>
                  <a:lnTo>
                    <a:pt x="58066" y="464881"/>
                  </a:lnTo>
                  <a:lnTo>
                    <a:pt x="33498" y="427878"/>
                  </a:lnTo>
                  <a:lnTo>
                    <a:pt x="15259" y="387919"/>
                  </a:lnTo>
                  <a:lnTo>
                    <a:pt x="3907" y="345467"/>
                  </a:lnTo>
                  <a:lnTo>
                    <a:pt x="0" y="300990"/>
                  </a:lnTo>
                  <a:close/>
                </a:path>
              </a:pathLst>
            </a:custGeom>
            <a:ln w="25400">
              <a:solidFill>
                <a:srgbClr val="2E528F"/>
              </a:solidFill>
            </a:ln>
          </p:spPr>
          <p:txBody>
            <a:bodyPr wrap="square" lIns="0" tIns="0" rIns="0" bIns="0" rtlCol="0"/>
            <a:lstStyle/>
            <a:p>
              <a:endParaRPr/>
            </a:p>
          </p:txBody>
        </p:sp>
      </p:grpSp>
      <p:sp>
        <p:nvSpPr>
          <p:cNvPr id="16" name="object 16"/>
          <p:cNvSpPr txBox="1"/>
          <p:nvPr/>
        </p:nvSpPr>
        <p:spPr>
          <a:xfrm>
            <a:off x="880363" y="6108598"/>
            <a:ext cx="3022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X3</a:t>
            </a:r>
            <a:endParaRPr sz="1800">
              <a:latin typeface="Arial"/>
              <a:cs typeface="Arial"/>
            </a:endParaRPr>
          </a:p>
        </p:txBody>
      </p:sp>
      <p:grpSp>
        <p:nvGrpSpPr>
          <p:cNvPr id="17" name="object 17"/>
          <p:cNvGrpSpPr/>
          <p:nvPr/>
        </p:nvGrpSpPr>
        <p:grpSpPr>
          <a:xfrm>
            <a:off x="1504441" y="4404614"/>
            <a:ext cx="744855" cy="629285"/>
            <a:chOff x="1504441" y="4404614"/>
            <a:chExt cx="744855" cy="629285"/>
          </a:xfrm>
        </p:grpSpPr>
        <p:sp>
          <p:nvSpPr>
            <p:cNvPr id="18" name="object 18"/>
            <p:cNvSpPr/>
            <p:nvPr/>
          </p:nvSpPr>
          <p:spPr>
            <a:xfrm>
              <a:off x="1517141" y="4417314"/>
              <a:ext cx="719455" cy="603885"/>
            </a:xfrm>
            <a:custGeom>
              <a:avLst/>
              <a:gdLst/>
              <a:ahLst/>
              <a:cxnLst/>
              <a:rect l="l" t="t" r="r" b="b"/>
              <a:pathLst>
                <a:path w="719455" h="603885">
                  <a:moveTo>
                    <a:pt x="359664" y="0"/>
                  </a:moveTo>
                  <a:lnTo>
                    <a:pt x="306517" y="3272"/>
                  </a:lnTo>
                  <a:lnTo>
                    <a:pt x="255791" y="12778"/>
                  </a:lnTo>
                  <a:lnTo>
                    <a:pt x="208042" y="28050"/>
                  </a:lnTo>
                  <a:lnTo>
                    <a:pt x="163827" y="48621"/>
                  </a:lnTo>
                  <a:lnTo>
                    <a:pt x="123701" y="74024"/>
                  </a:lnTo>
                  <a:lnTo>
                    <a:pt x="88222" y="103792"/>
                  </a:lnTo>
                  <a:lnTo>
                    <a:pt x="57946" y="137457"/>
                  </a:lnTo>
                  <a:lnTo>
                    <a:pt x="33429" y="174553"/>
                  </a:lnTo>
                  <a:lnTo>
                    <a:pt x="15228" y="214612"/>
                  </a:lnTo>
                  <a:lnTo>
                    <a:pt x="3899" y="257167"/>
                  </a:lnTo>
                  <a:lnTo>
                    <a:pt x="0" y="301752"/>
                  </a:lnTo>
                  <a:lnTo>
                    <a:pt x="3899" y="346336"/>
                  </a:lnTo>
                  <a:lnTo>
                    <a:pt x="15228" y="388891"/>
                  </a:lnTo>
                  <a:lnTo>
                    <a:pt x="33429" y="428950"/>
                  </a:lnTo>
                  <a:lnTo>
                    <a:pt x="57946" y="466046"/>
                  </a:lnTo>
                  <a:lnTo>
                    <a:pt x="88222" y="499711"/>
                  </a:lnTo>
                  <a:lnTo>
                    <a:pt x="123701" y="529479"/>
                  </a:lnTo>
                  <a:lnTo>
                    <a:pt x="163827" y="554882"/>
                  </a:lnTo>
                  <a:lnTo>
                    <a:pt x="208042" y="575453"/>
                  </a:lnTo>
                  <a:lnTo>
                    <a:pt x="255791" y="590725"/>
                  </a:lnTo>
                  <a:lnTo>
                    <a:pt x="306517" y="600231"/>
                  </a:lnTo>
                  <a:lnTo>
                    <a:pt x="359664" y="603504"/>
                  </a:lnTo>
                  <a:lnTo>
                    <a:pt x="412810" y="600231"/>
                  </a:lnTo>
                  <a:lnTo>
                    <a:pt x="463536" y="590725"/>
                  </a:lnTo>
                  <a:lnTo>
                    <a:pt x="511285" y="575453"/>
                  </a:lnTo>
                  <a:lnTo>
                    <a:pt x="555500" y="554882"/>
                  </a:lnTo>
                  <a:lnTo>
                    <a:pt x="595626" y="529479"/>
                  </a:lnTo>
                  <a:lnTo>
                    <a:pt x="631105" y="499711"/>
                  </a:lnTo>
                  <a:lnTo>
                    <a:pt x="661381" y="466046"/>
                  </a:lnTo>
                  <a:lnTo>
                    <a:pt x="685898" y="428950"/>
                  </a:lnTo>
                  <a:lnTo>
                    <a:pt x="704099" y="388891"/>
                  </a:lnTo>
                  <a:lnTo>
                    <a:pt x="715428" y="346336"/>
                  </a:lnTo>
                  <a:lnTo>
                    <a:pt x="719328" y="301752"/>
                  </a:lnTo>
                  <a:lnTo>
                    <a:pt x="715428" y="257167"/>
                  </a:lnTo>
                  <a:lnTo>
                    <a:pt x="704099" y="214612"/>
                  </a:lnTo>
                  <a:lnTo>
                    <a:pt x="685898" y="174553"/>
                  </a:lnTo>
                  <a:lnTo>
                    <a:pt x="661381" y="137457"/>
                  </a:lnTo>
                  <a:lnTo>
                    <a:pt x="631105" y="103792"/>
                  </a:lnTo>
                  <a:lnTo>
                    <a:pt x="595626" y="74024"/>
                  </a:lnTo>
                  <a:lnTo>
                    <a:pt x="555500" y="48621"/>
                  </a:lnTo>
                  <a:lnTo>
                    <a:pt x="511285" y="28050"/>
                  </a:lnTo>
                  <a:lnTo>
                    <a:pt x="463536" y="12778"/>
                  </a:lnTo>
                  <a:lnTo>
                    <a:pt x="412810" y="3272"/>
                  </a:lnTo>
                  <a:lnTo>
                    <a:pt x="359664" y="0"/>
                  </a:lnTo>
                  <a:close/>
                </a:path>
              </a:pathLst>
            </a:custGeom>
            <a:solidFill>
              <a:srgbClr val="E7E6E6"/>
            </a:solidFill>
          </p:spPr>
          <p:txBody>
            <a:bodyPr wrap="square" lIns="0" tIns="0" rIns="0" bIns="0" rtlCol="0"/>
            <a:lstStyle/>
            <a:p>
              <a:endParaRPr/>
            </a:p>
          </p:txBody>
        </p:sp>
        <p:sp>
          <p:nvSpPr>
            <p:cNvPr id="19" name="object 19"/>
            <p:cNvSpPr/>
            <p:nvPr/>
          </p:nvSpPr>
          <p:spPr>
            <a:xfrm>
              <a:off x="1517141" y="4417314"/>
              <a:ext cx="719455" cy="603885"/>
            </a:xfrm>
            <a:custGeom>
              <a:avLst/>
              <a:gdLst/>
              <a:ahLst/>
              <a:cxnLst/>
              <a:rect l="l" t="t" r="r" b="b"/>
              <a:pathLst>
                <a:path w="719455" h="603885">
                  <a:moveTo>
                    <a:pt x="0" y="301752"/>
                  </a:moveTo>
                  <a:lnTo>
                    <a:pt x="3899" y="257167"/>
                  </a:lnTo>
                  <a:lnTo>
                    <a:pt x="15228" y="214612"/>
                  </a:lnTo>
                  <a:lnTo>
                    <a:pt x="33429" y="174553"/>
                  </a:lnTo>
                  <a:lnTo>
                    <a:pt x="57946" y="137457"/>
                  </a:lnTo>
                  <a:lnTo>
                    <a:pt x="88222" y="103792"/>
                  </a:lnTo>
                  <a:lnTo>
                    <a:pt x="123701" y="74024"/>
                  </a:lnTo>
                  <a:lnTo>
                    <a:pt x="163827" y="48621"/>
                  </a:lnTo>
                  <a:lnTo>
                    <a:pt x="208042" y="28050"/>
                  </a:lnTo>
                  <a:lnTo>
                    <a:pt x="255791" y="12778"/>
                  </a:lnTo>
                  <a:lnTo>
                    <a:pt x="306517" y="3272"/>
                  </a:lnTo>
                  <a:lnTo>
                    <a:pt x="359664" y="0"/>
                  </a:lnTo>
                  <a:lnTo>
                    <a:pt x="412810" y="3272"/>
                  </a:lnTo>
                  <a:lnTo>
                    <a:pt x="463536" y="12778"/>
                  </a:lnTo>
                  <a:lnTo>
                    <a:pt x="511285" y="28050"/>
                  </a:lnTo>
                  <a:lnTo>
                    <a:pt x="555500" y="48621"/>
                  </a:lnTo>
                  <a:lnTo>
                    <a:pt x="595626" y="74024"/>
                  </a:lnTo>
                  <a:lnTo>
                    <a:pt x="631105" y="103792"/>
                  </a:lnTo>
                  <a:lnTo>
                    <a:pt x="661381" y="137457"/>
                  </a:lnTo>
                  <a:lnTo>
                    <a:pt x="685898" y="174553"/>
                  </a:lnTo>
                  <a:lnTo>
                    <a:pt x="704099" y="214612"/>
                  </a:lnTo>
                  <a:lnTo>
                    <a:pt x="715428" y="257167"/>
                  </a:lnTo>
                  <a:lnTo>
                    <a:pt x="719328" y="301752"/>
                  </a:lnTo>
                  <a:lnTo>
                    <a:pt x="715428" y="346336"/>
                  </a:lnTo>
                  <a:lnTo>
                    <a:pt x="704099" y="388891"/>
                  </a:lnTo>
                  <a:lnTo>
                    <a:pt x="685898" y="428950"/>
                  </a:lnTo>
                  <a:lnTo>
                    <a:pt x="661381" y="466046"/>
                  </a:lnTo>
                  <a:lnTo>
                    <a:pt x="631105" y="499711"/>
                  </a:lnTo>
                  <a:lnTo>
                    <a:pt x="595626" y="529479"/>
                  </a:lnTo>
                  <a:lnTo>
                    <a:pt x="555500" y="554882"/>
                  </a:lnTo>
                  <a:lnTo>
                    <a:pt x="511285" y="575453"/>
                  </a:lnTo>
                  <a:lnTo>
                    <a:pt x="463536" y="590725"/>
                  </a:lnTo>
                  <a:lnTo>
                    <a:pt x="412810" y="600231"/>
                  </a:lnTo>
                  <a:lnTo>
                    <a:pt x="359664" y="603504"/>
                  </a:lnTo>
                  <a:lnTo>
                    <a:pt x="306517" y="600231"/>
                  </a:lnTo>
                  <a:lnTo>
                    <a:pt x="255791" y="590725"/>
                  </a:lnTo>
                  <a:lnTo>
                    <a:pt x="208042" y="575453"/>
                  </a:lnTo>
                  <a:lnTo>
                    <a:pt x="163827" y="554882"/>
                  </a:lnTo>
                  <a:lnTo>
                    <a:pt x="123701" y="529479"/>
                  </a:lnTo>
                  <a:lnTo>
                    <a:pt x="88222" y="499711"/>
                  </a:lnTo>
                  <a:lnTo>
                    <a:pt x="57946" y="466046"/>
                  </a:lnTo>
                  <a:lnTo>
                    <a:pt x="33429" y="428950"/>
                  </a:lnTo>
                  <a:lnTo>
                    <a:pt x="15228" y="388891"/>
                  </a:lnTo>
                  <a:lnTo>
                    <a:pt x="3899" y="346336"/>
                  </a:lnTo>
                  <a:lnTo>
                    <a:pt x="0" y="301752"/>
                  </a:lnTo>
                  <a:close/>
                </a:path>
              </a:pathLst>
            </a:custGeom>
            <a:ln w="25400">
              <a:solidFill>
                <a:srgbClr val="2E528F"/>
              </a:solidFill>
            </a:ln>
          </p:spPr>
          <p:txBody>
            <a:bodyPr wrap="square" lIns="0" tIns="0" rIns="0" bIns="0" rtlCol="0"/>
            <a:lstStyle/>
            <a:p>
              <a:endParaRPr/>
            </a:p>
          </p:txBody>
        </p:sp>
      </p:grpSp>
      <p:sp>
        <p:nvSpPr>
          <p:cNvPr id="20" name="object 20"/>
          <p:cNvSpPr txBox="1"/>
          <p:nvPr/>
        </p:nvSpPr>
        <p:spPr>
          <a:xfrm>
            <a:off x="1730120" y="4563617"/>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Z1</a:t>
            </a:r>
            <a:endParaRPr sz="1800">
              <a:latin typeface="Arial"/>
              <a:cs typeface="Arial"/>
            </a:endParaRPr>
          </a:p>
        </p:txBody>
      </p:sp>
      <p:grpSp>
        <p:nvGrpSpPr>
          <p:cNvPr id="21" name="object 21"/>
          <p:cNvGrpSpPr/>
          <p:nvPr/>
        </p:nvGrpSpPr>
        <p:grpSpPr>
          <a:xfrm>
            <a:off x="1504441" y="5171185"/>
            <a:ext cx="744855" cy="627380"/>
            <a:chOff x="1504441" y="5171185"/>
            <a:chExt cx="744855" cy="627380"/>
          </a:xfrm>
        </p:grpSpPr>
        <p:sp>
          <p:nvSpPr>
            <p:cNvPr id="22" name="object 22"/>
            <p:cNvSpPr/>
            <p:nvPr/>
          </p:nvSpPr>
          <p:spPr>
            <a:xfrm>
              <a:off x="1517141" y="5183885"/>
              <a:ext cx="719455" cy="601980"/>
            </a:xfrm>
            <a:custGeom>
              <a:avLst/>
              <a:gdLst/>
              <a:ahLst/>
              <a:cxnLst/>
              <a:rect l="l" t="t" r="r" b="b"/>
              <a:pathLst>
                <a:path w="719455" h="601979">
                  <a:moveTo>
                    <a:pt x="359664" y="0"/>
                  </a:moveTo>
                  <a:lnTo>
                    <a:pt x="306517" y="3263"/>
                  </a:lnTo>
                  <a:lnTo>
                    <a:pt x="255791" y="12742"/>
                  </a:lnTo>
                  <a:lnTo>
                    <a:pt x="208042" y="27973"/>
                  </a:lnTo>
                  <a:lnTo>
                    <a:pt x="163827" y="48488"/>
                  </a:lnTo>
                  <a:lnTo>
                    <a:pt x="123701" y="73824"/>
                  </a:lnTo>
                  <a:lnTo>
                    <a:pt x="88222" y="103514"/>
                  </a:lnTo>
                  <a:lnTo>
                    <a:pt x="57946" y="137093"/>
                  </a:lnTo>
                  <a:lnTo>
                    <a:pt x="33429" y="174095"/>
                  </a:lnTo>
                  <a:lnTo>
                    <a:pt x="15228" y="214056"/>
                  </a:lnTo>
                  <a:lnTo>
                    <a:pt x="3899" y="256509"/>
                  </a:lnTo>
                  <a:lnTo>
                    <a:pt x="0" y="300989"/>
                  </a:lnTo>
                  <a:lnTo>
                    <a:pt x="3899" y="345467"/>
                  </a:lnTo>
                  <a:lnTo>
                    <a:pt x="15228" y="387919"/>
                  </a:lnTo>
                  <a:lnTo>
                    <a:pt x="33429" y="427878"/>
                  </a:lnTo>
                  <a:lnTo>
                    <a:pt x="57946" y="464881"/>
                  </a:lnTo>
                  <a:lnTo>
                    <a:pt x="88222" y="498460"/>
                  </a:lnTo>
                  <a:lnTo>
                    <a:pt x="123701" y="528151"/>
                  </a:lnTo>
                  <a:lnTo>
                    <a:pt x="163827" y="553488"/>
                  </a:lnTo>
                  <a:lnTo>
                    <a:pt x="208042" y="574004"/>
                  </a:lnTo>
                  <a:lnTo>
                    <a:pt x="255791" y="589236"/>
                  </a:lnTo>
                  <a:lnTo>
                    <a:pt x="306517" y="598716"/>
                  </a:lnTo>
                  <a:lnTo>
                    <a:pt x="359664" y="601979"/>
                  </a:lnTo>
                  <a:lnTo>
                    <a:pt x="412810" y="598716"/>
                  </a:lnTo>
                  <a:lnTo>
                    <a:pt x="463536" y="589236"/>
                  </a:lnTo>
                  <a:lnTo>
                    <a:pt x="511285" y="574004"/>
                  </a:lnTo>
                  <a:lnTo>
                    <a:pt x="555500" y="553488"/>
                  </a:lnTo>
                  <a:lnTo>
                    <a:pt x="595626" y="528151"/>
                  </a:lnTo>
                  <a:lnTo>
                    <a:pt x="631105" y="498460"/>
                  </a:lnTo>
                  <a:lnTo>
                    <a:pt x="661381" y="464881"/>
                  </a:lnTo>
                  <a:lnTo>
                    <a:pt x="685898" y="427878"/>
                  </a:lnTo>
                  <a:lnTo>
                    <a:pt x="704099" y="387919"/>
                  </a:lnTo>
                  <a:lnTo>
                    <a:pt x="715428" y="345467"/>
                  </a:lnTo>
                  <a:lnTo>
                    <a:pt x="719328" y="300989"/>
                  </a:lnTo>
                  <a:lnTo>
                    <a:pt x="715428" y="256509"/>
                  </a:lnTo>
                  <a:lnTo>
                    <a:pt x="704099" y="214056"/>
                  </a:lnTo>
                  <a:lnTo>
                    <a:pt x="685898" y="174095"/>
                  </a:lnTo>
                  <a:lnTo>
                    <a:pt x="661381" y="137093"/>
                  </a:lnTo>
                  <a:lnTo>
                    <a:pt x="631105" y="103514"/>
                  </a:lnTo>
                  <a:lnTo>
                    <a:pt x="595626" y="73824"/>
                  </a:lnTo>
                  <a:lnTo>
                    <a:pt x="555500" y="48488"/>
                  </a:lnTo>
                  <a:lnTo>
                    <a:pt x="511285" y="27973"/>
                  </a:lnTo>
                  <a:lnTo>
                    <a:pt x="463536" y="12742"/>
                  </a:lnTo>
                  <a:lnTo>
                    <a:pt x="412810" y="3263"/>
                  </a:lnTo>
                  <a:lnTo>
                    <a:pt x="359664" y="0"/>
                  </a:lnTo>
                  <a:close/>
                </a:path>
              </a:pathLst>
            </a:custGeom>
            <a:solidFill>
              <a:srgbClr val="E7E6E6"/>
            </a:solidFill>
          </p:spPr>
          <p:txBody>
            <a:bodyPr wrap="square" lIns="0" tIns="0" rIns="0" bIns="0" rtlCol="0"/>
            <a:lstStyle/>
            <a:p>
              <a:endParaRPr/>
            </a:p>
          </p:txBody>
        </p:sp>
        <p:sp>
          <p:nvSpPr>
            <p:cNvPr id="23" name="object 23"/>
            <p:cNvSpPr/>
            <p:nvPr/>
          </p:nvSpPr>
          <p:spPr>
            <a:xfrm>
              <a:off x="1517141" y="5183885"/>
              <a:ext cx="719455" cy="601980"/>
            </a:xfrm>
            <a:custGeom>
              <a:avLst/>
              <a:gdLst/>
              <a:ahLst/>
              <a:cxnLst/>
              <a:rect l="l" t="t" r="r" b="b"/>
              <a:pathLst>
                <a:path w="719455" h="601979">
                  <a:moveTo>
                    <a:pt x="0" y="300989"/>
                  </a:moveTo>
                  <a:lnTo>
                    <a:pt x="3899" y="256509"/>
                  </a:lnTo>
                  <a:lnTo>
                    <a:pt x="15228" y="214056"/>
                  </a:lnTo>
                  <a:lnTo>
                    <a:pt x="33429" y="174095"/>
                  </a:lnTo>
                  <a:lnTo>
                    <a:pt x="57946" y="137093"/>
                  </a:lnTo>
                  <a:lnTo>
                    <a:pt x="88222" y="103514"/>
                  </a:lnTo>
                  <a:lnTo>
                    <a:pt x="123701" y="73824"/>
                  </a:lnTo>
                  <a:lnTo>
                    <a:pt x="163827" y="48488"/>
                  </a:lnTo>
                  <a:lnTo>
                    <a:pt x="208042" y="27973"/>
                  </a:lnTo>
                  <a:lnTo>
                    <a:pt x="255791" y="12742"/>
                  </a:lnTo>
                  <a:lnTo>
                    <a:pt x="306517" y="3263"/>
                  </a:lnTo>
                  <a:lnTo>
                    <a:pt x="359664" y="0"/>
                  </a:lnTo>
                  <a:lnTo>
                    <a:pt x="412810" y="3263"/>
                  </a:lnTo>
                  <a:lnTo>
                    <a:pt x="463536" y="12742"/>
                  </a:lnTo>
                  <a:lnTo>
                    <a:pt x="511285" y="27973"/>
                  </a:lnTo>
                  <a:lnTo>
                    <a:pt x="555500" y="48488"/>
                  </a:lnTo>
                  <a:lnTo>
                    <a:pt x="595626" y="73824"/>
                  </a:lnTo>
                  <a:lnTo>
                    <a:pt x="631105" y="103514"/>
                  </a:lnTo>
                  <a:lnTo>
                    <a:pt x="661381" y="137093"/>
                  </a:lnTo>
                  <a:lnTo>
                    <a:pt x="685898" y="174095"/>
                  </a:lnTo>
                  <a:lnTo>
                    <a:pt x="704099" y="214056"/>
                  </a:lnTo>
                  <a:lnTo>
                    <a:pt x="715428" y="256509"/>
                  </a:lnTo>
                  <a:lnTo>
                    <a:pt x="719328" y="300989"/>
                  </a:lnTo>
                  <a:lnTo>
                    <a:pt x="715428" y="345467"/>
                  </a:lnTo>
                  <a:lnTo>
                    <a:pt x="704099" y="387919"/>
                  </a:lnTo>
                  <a:lnTo>
                    <a:pt x="685898" y="427878"/>
                  </a:lnTo>
                  <a:lnTo>
                    <a:pt x="661381" y="464881"/>
                  </a:lnTo>
                  <a:lnTo>
                    <a:pt x="631105" y="498460"/>
                  </a:lnTo>
                  <a:lnTo>
                    <a:pt x="595626" y="528151"/>
                  </a:lnTo>
                  <a:lnTo>
                    <a:pt x="555500" y="553488"/>
                  </a:lnTo>
                  <a:lnTo>
                    <a:pt x="511285" y="574004"/>
                  </a:lnTo>
                  <a:lnTo>
                    <a:pt x="463536" y="589236"/>
                  </a:lnTo>
                  <a:lnTo>
                    <a:pt x="412810" y="598716"/>
                  </a:lnTo>
                  <a:lnTo>
                    <a:pt x="359664" y="601979"/>
                  </a:lnTo>
                  <a:lnTo>
                    <a:pt x="306517" y="598716"/>
                  </a:lnTo>
                  <a:lnTo>
                    <a:pt x="255791" y="589236"/>
                  </a:lnTo>
                  <a:lnTo>
                    <a:pt x="208042" y="574004"/>
                  </a:lnTo>
                  <a:lnTo>
                    <a:pt x="163827" y="553488"/>
                  </a:lnTo>
                  <a:lnTo>
                    <a:pt x="123701" y="528151"/>
                  </a:lnTo>
                  <a:lnTo>
                    <a:pt x="88222" y="498460"/>
                  </a:lnTo>
                  <a:lnTo>
                    <a:pt x="57946" y="464881"/>
                  </a:lnTo>
                  <a:lnTo>
                    <a:pt x="33429" y="427878"/>
                  </a:lnTo>
                  <a:lnTo>
                    <a:pt x="15228" y="387919"/>
                  </a:lnTo>
                  <a:lnTo>
                    <a:pt x="3899" y="345467"/>
                  </a:lnTo>
                  <a:lnTo>
                    <a:pt x="0" y="300989"/>
                  </a:lnTo>
                  <a:close/>
                </a:path>
              </a:pathLst>
            </a:custGeom>
            <a:ln w="25400">
              <a:solidFill>
                <a:srgbClr val="2E528F"/>
              </a:solidFill>
            </a:ln>
          </p:spPr>
          <p:txBody>
            <a:bodyPr wrap="square" lIns="0" tIns="0" rIns="0" bIns="0" rtlCol="0"/>
            <a:lstStyle/>
            <a:p>
              <a:endParaRPr/>
            </a:p>
          </p:txBody>
        </p:sp>
      </p:grpSp>
      <p:sp>
        <p:nvSpPr>
          <p:cNvPr id="24" name="object 24"/>
          <p:cNvSpPr txBox="1"/>
          <p:nvPr/>
        </p:nvSpPr>
        <p:spPr>
          <a:xfrm>
            <a:off x="1730120" y="5329173"/>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Z2</a:t>
            </a:r>
            <a:endParaRPr sz="1800">
              <a:latin typeface="Arial"/>
              <a:cs typeface="Arial"/>
            </a:endParaRPr>
          </a:p>
        </p:txBody>
      </p:sp>
      <p:grpSp>
        <p:nvGrpSpPr>
          <p:cNvPr id="25" name="object 25"/>
          <p:cNvGrpSpPr/>
          <p:nvPr/>
        </p:nvGrpSpPr>
        <p:grpSpPr>
          <a:xfrm>
            <a:off x="1504441" y="5949950"/>
            <a:ext cx="744855" cy="627380"/>
            <a:chOff x="1504441" y="5949950"/>
            <a:chExt cx="744855" cy="627380"/>
          </a:xfrm>
        </p:grpSpPr>
        <p:sp>
          <p:nvSpPr>
            <p:cNvPr id="26" name="object 26"/>
            <p:cNvSpPr/>
            <p:nvPr/>
          </p:nvSpPr>
          <p:spPr>
            <a:xfrm>
              <a:off x="1517141" y="5962650"/>
              <a:ext cx="719455" cy="601980"/>
            </a:xfrm>
            <a:custGeom>
              <a:avLst/>
              <a:gdLst/>
              <a:ahLst/>
              <a:cxnLst/>
              <a:rect l="l" t="t" r="r" b="b"/>
              <a:pathLst>
                <a:path w="719455" h="601979">
                  <a:moveTo>
                    <a:pt x="359664" y="0"/>
                  </a:moveTo>
                  <a:lnTo>
                    <a:pt x="306517" y="3263"/>
                  </a:lnTo>
                  <a:lnTo>
                    <a:pt x="255791" y="12743"/>
                  </a:lnTo>
                  <a:lnTo>
                    <a:pt x="208042" y="27975"/>
                  </a:lnTo>
                  <a:lnTo>
                    <a:pt x="163827" y="48491"/>
                  </a:lnTo>
                  <a:lnTo>
                    <a:pt x="123701" y="73828"/>
                  </a:lnTo>
                  <a:lnTo>
                    <a:pt x="88222" y="103519"/>
                  </a:lnTo>
                  <a:lnTo>
                    <a:pt x="57946" y="137098"/>
                  </a:lnTo>
                  <a:lnTo>
                    <a:pt x="33429" y="174101"/>
                  </a:lnTo>
                  <a:lnTo>
                    <a:pt x="15228" y="214060"/>
                  </a:lnTo>
                  <a:lnTo>
                    <a:pt x="3899" y="256512"/>
                  </a:lnTo>
                  <a:lnTo>
                    <a:pt x="0" y="300990"/>
                  </a:lnTo>
                  <a:lnTo>
                    <a:pt x="3899" y="345467"/>
                  </a:lnTo>
                  <a:lnTo>
                    <a:pt x="15228" y="387919"/>
                  </a:lnTo>
                  <a:lnTo>
                    <a:pt x="33429" y="427878"/>
                  </a:lnTo>
                  <a:lnTo>
                    <a:pt x="57946" y="464881"/>
                  </a:lnTo>
                  <a:lnTo>
                    <a:pt x="88222" y="498460"/>
                  </a:lnTo>
                  <a:lnTo>
                    <a:pt x="123701" y="528151"/>
                  </a:lnTo>
                  <a:lnTo>
                    <a:pt x="163827" y="553488"/>
                  </a:lnTo>
                  <a:lnTo>
                    <a:pt x="208042" y="574004"/>
                  </a:lnTo>
                  <a:lnTo>
                    <a:pt x="255791" y="589236"/>
                  </a:lnTo>
                  <a:lnTo>
                    <a:pt x="306517" y="598716"/>
                  </a:lnTo>
                  <a:lnTo>
                    <a:pt x="359664" y="601980"/>
                  </a:lnTo>
                  <a:lnTo>
                    <a:pt x="412810" y="598716"/>
                  </a:lnTo>
                  <a:lnTo>
                    <a:pt x="463536" y="589236"/>
                  </a:lnTo>
                  <a:lnTo>
                    <a:pt x="511285" y="574004"/>
                  </a:lnTo>
                  <a:lnTo>
                    <a:pt x="555500" y="553488"/>
                  </a:lnTo>
                  <a:lnTo>
                    <a:pt x="595626" y="528151"/>
                  </a:lnTo>
                  <a:lnTo>
                    <a:pt x="631105" y="498460"/>
                  </a:lnTo>
                  <a:lnTo>
                    <a:pt x="661381" y="464881"/>
                  </a:lnTo>
                  <a:lnTo>
                    <a:pt x="685898" y="427878"/>
                  </a:lnTo>
                  <a:lnTo>
                    <a:pt x="704099" y="387919"/>
                  </a:lnTo>
                  <a:lnTo>
                    <a:pt x="715428" y="345467"/>
                  </a:lnTo>
                  <a:lnTo>
                    <a:pt x="719328" y="300990"/>
                  </a:lnTo>
                  <a:lnTo>
                    <a:pt x="715428" y="256512"/>
                  </a:lnTo>
                  <a:lnTo>
                    <a:pt x="704099" y="214060"/>
                  </a:lnTo>
                  <a:lnTo>
                    <a:pt x="685898" y="174101"/>
                  </a:lnTo>
                  <a:lnTo>
                    <a:pt x="661381" y="137098"/>
                  </a:lnTo>
                  <a:lnTo>
                    <a:pt x="631105" y="103519"/>
                  </a:lnTo>
                  <a:lnTo>
                    <a:pt x="595626" y="73828"/>
                  </a:lnTo>
                  <a:lnTo>
                    <a:pt x="555500" y="48491"/>
                  </a:lnTo>
                  <a:lnTo>
                    <a:pt x="511285" y="27975"/>
                  </a:lnTo>
                  <a:lnTo>
                    <a:pt x="463536" y="12743"/>
                  </a:lnTo>
                  <a:lnTo>
                    <a:pt x="412810" y="3263"/>
                  </a:lnTo>
                  <a:lnTo>
                    <a:pt x="359664" y="0"/>
                  </a:lnTo>
                  <a:close/>
                </a:path>
              </a:pathLst>
            </a:custGeom>
            <a:solidFill>
              <a:srgbClr val="E7E6E6"/>
            </a:solidFill>
          </p:spPr>
          <p:txBody>
            <a:bodyPr wrap="square" lIns="0" tIns="0" rIns="0" bIns="0" rtlCol="0"/>
            <a:lstStyle/>
            <a:p>
              <a:endParaRPr/>
            </a:p>
          </p:txBody>
        </p:sp>
        <p:sp>
          <p:nvSpPr>
            <p:cNvPr id="27" name="object 27"/>
            <p:cNvSpPr/>
            <p:nvPr/>
          </p:nvSpPr>
          <p:spPr>
            <a:xfrm>
              <a:off x="1517141" y="5962650"/>
              <a:ext cx="719455" cy="601980"/>
            </a:xfrm>
            <a:custGeom>
              <a:avLst/>
              <a:gdLst/>
              <a:ahLst/>
              <a:cxnLst/>
              <a:rect l="l" t="t" r="r" b="b"/>
              <a:pathLst>
                <a:path w="719455" h="601979">
                  <a:moveTo>
                    <a:pt x="0" y="300990"/>
                  </a:moveTo>
                  <a:lnTo>
                    <a:pt x="3899" y="256512"/>
                  </a:lnTo>
                  <a:lnTo>
                    <a:pt x="15228" y="214060"/>
                  </a:lnTo>
                  <a:lnTo>
                    <a:pt x="33429" y="174101"/>
                  </a:lnTo>
                  <a:lnTo>
                    <a:pt x="57946" y="137098"/>
                  </a:lnTo>
                  <a:lnTo>
                    <a:pt x="88222" y="103519"/>
                  </a:lnTo>
                  <a:lnTo>
                    <a:pt x="123701" y="73828"/>
                  </a:lnTo>
                  <a:lnTo>
                    <a:pt x="163827" y="48491"/>
                  </a:lnTo>
                  <a:lnTo>
                    <a:pt x="208042" y="27975"/>
                  </a:lnTo>
                  <a:lnTo>
                    <a:pt x="255791" y="12743"/>
                  </a:lnTo>
                  <a:lnTo>
                    <a:pt x="306517" y="3263"/>
                  </a:lnTo>
                  <a:lnTo>
                    <a:pt x="359664" y="0"/>
                  </a:lnTo>
                  <a:lnTo>
                    <a:pt x="412810" y="3263"/>
                  </a:lnTo>
                  <a:lnTo>
                    <a:pt x="463536" y="12743"/>
                  </a:lnTo>
                  <a:lnTo>
                    <a:pt x="511285" y="27975"/>
                  </a:lnTo>
                  <a:lnTo>
                    <a:pt x="555500" y="48491"/>
                  </a:lnTo>
                  <a:lnTo>
                    <a:pt x="595626" y="73828"/>
                  </a:lnTo>
                  <a:lnTo>
                    <a:pt x="631105" y="103519"/>
                  </a:lnTo>
                  <a:lnTo>
                    <a:pt x="661381" y="137098"/>
                  </a:lnTo>
                  <a:lnTo>
                    <a:pt x="685898" y="174101"/>
                  </a:lnTo>
                  <a:lnTo>
                    <a:pt x="704099" y="214060"/>
                  </a:lnTo>
                  <a:lnTo>
                    <a:pt x="715428" y="256512"/>
                  </a:lnTo>
                  <a:lnTo>
                    <a:pt x="719328" y="300990"/>
                  </a:lnTo>
                  <a:lnTo>
                    <a:pt x="715428" y="345467"/>
                  </a:lnTo>
                  <a:lnTo>
                    <a:pt x="704099" y="387919"/>
                  </a:lnTo>
                  <a:lnTo>
                    <a:pt x="685898" y="427878"/>
                  </a:lnTo>
                  <a:lnTo>
                    <a:pt x="661381" y="464881"/>
                  </a:lnTo>
                  <a:lnTo>
                    <a:pt x="631105" y="498460"/>
                  </a:lnTo>
                  <a:lnTo>
                    <a:pt x="595626" y="528151"/>
                  </a:lnTo>
                  <a:lnTo>
                    <a:pt x="555500" y="553488"/>
                  </a:lnTo>
                  <a:lnTo>
                    <a:pt x="511285" y="574004"/>
                  </a:lnTo>
                  <a:lnTo>
                    <a:pt x="463536" y="589236"/>
                  </a:lnTo>
                  <a:lnTo>
                    <a:pt x="412810" y="598716"/>
                  </a:lnTo>
                  <a:lnTo>
                    <a:pt x="359664" y="601980"/>
                  </a:lnTo>
                  <a:lnTo>
                    <a:pt x="306517" y="598716"/>
                  </a:lnTo>
                  <a:lnTo>
                    <a:pt x="255791" y="589236"/>
                  </a:lnTo>
                  <a:lnTo>
                    <a:pt x="208042" y="574004"/>
                  </a:lnTo>
                  <a:lnTo>
                    <a:pt x="163827" y="553488"/>
                  </a:lnTo>
                  <a:lnTo>
                    <a:pt x="123701" y="528151"/>
                  </a:lnTo>
                  <a:lnTo>
                    <a:pt x="88222" y="498460"/>
                  </a:lnTo>
                  <a:lnTo>
                    <a:pt x="57946" y="464881"/>
                  </a:lnTo>
                  <a:lnTo>
                    <a:pt x="33429" y="427878"/>
                  </a:lnTo>
                  <a:lnTo>
                    <a:pt x="15228" y="387919"/>
                  </a:lnTo>
                  <a:lnTo>
                    <a:pt x="3899" y="345467"/>
                  </a:lnTo>
                  <a:lnTo>
                    <a:pt x="0" y="300990"/>
                  </a:lnTo>
                  <a:close/>
                </a:path>
              </a:pathLst>
            </a:custGeom>
            <a:ln w="25400">
              <a:solidFill>
                <a:srgbClr val="2E528F"/>
              </a:solidFill>
            </a:ln>
          </p:spPr>
          <p:txBody>
            <a:bodyPr wrap="square" lIns="0" tIns="0" rIns="0" bIns="0" rtlCol="0"/>
            <a:lstStyle/>
            <a:p>
              <a:endParaRPr/>
            </a:p>
          </p:txBody>
        </p:sp>
      </p:grpSp>
      <p:sp>
        <p:nvSpPr>
          <p:cNvPr id="28" name="object 28"/>
          <p:cNvSpPr txBox="1"/>
          <p:nvPr/>
        </p:nvSpPr>
        <p:spPr>
          <a:xfrm>
            <a:off x="1730120" y="6108598"/>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Z3</a:t>
            </a:r>
            <a:endParaRPr sz="1800">
              <a:latin typeface="Arial"/>
              <a:cs typeface="Arial"/>
            </a:endParaRPr>
          </a:p>
        </p:txBody>
      </p:sp>
      <p:grpSp>
        <p:nvGrpSpPr>
          <p:cNvPr id="29" name="object 29"/>
          <p:cNvGrpSpPr/>
          <p:nvPr/>
        </p:nvGrpSpPr>
        <p:grpSpPr>
          <a:xfrm>
            <a:off x="2350261" y="4404614"/>
            <a:ext cx="744855" cy="629285"/>
            <a:chOff x="2350261" y="4404614"/>
            <a:chExt cx="744855" cy="629285"/>
          </a:xfrm>
        </p:grpSpPr>
        <p:sp>
          <p:nvSpPr>
            <p:cNvPr id="30" name="object 30"/>
            <p:cNvSpPr/>
            <p:nvPr/>
          </p:nvSpPr>
          <p:spPr>
            <a:xfrm>
              <a:off x="2362961" y="4417314"/>
              <a:ext cx="719455" cy="603885"/>
            </a:xfrm>
            <a:custGeom>
              <a:avLst/>
              <a:gdLst/>
              <a:ahLst/>
              <a:cxnLst/>
              <a:rect l="l" t="t" r="r" b="b"/>
              <a:pathLst>
                <a:path w="719455" h="603885">
                  <a:moveTo>
                    <a:pt x="359663" y="0"/>
                  </a:moveTo>
                  <a:lnTo>
                    <a:pt x="306517" y="3272"/>
                  </a:lnTo>
                  <a:lnTo>
                    <a:pt x="255791" y="12778"/>
                  </a:lnTo>
                  <a:lnTo>
                    <a:pt x="208042" y="28050"/>
                  </a:lnTo>
                  <a:lnTo>
                    <a:pt x="163827" y="48621"/>
                  </a:lnTo>
                  <a:lnTo>
                    <a:pt x="123701" y="74024"/>
                  </a:lnTo>
                  <a:lnTo>
                    <a:pt x="88222" y="103792"/>
                  </a:lnTo>
                  <a:lnTo>
                    <a:pt x="57946" y="137457"/>
                  </a:lnTo>
                  <a:lnTo>
                    <a:pt x="33429" y="174553"/>
                  </a:lnTo>
                  <a:lnTo>
                    <a:pt x="15228" y="214612"/>
                  </a:lnTo>
                  <a:lnTo>
                    <a:pt x="3899" y="257167"/>
                  </a:lnTo>
                  <a:lnTo>
                    <a:pt x="0" y="301752"/>
                  </a:lnTo>
                  <a:lnTo>
                    <a:pt x="3899" y="346336"/>
                  </a:lnTo>
                  <a:lnTo>
                    <a:pt x="15228" y="388891"/>
                  </a:lnTo>
                  <a:lnTo>
                    <a:pt x="33429" y="428950"/>
                  </a:lnTo>
                  <a:lnTo>
                    <a:pt x="57946" y="466046"/>
                  </a:lnTo>
                  <a:lnTo>
                    <a:pt x="88222" y="499711"/>
                  </a:lnTo>
                  <a:lnTo>
                    <a:pt x="123701" y="529479"/>
                  </a:lnTo>
                  <a:lnTo>
                    <a:pt x="163827" y="554882"/>
                  </a:lnTo>
                  <a:lnTo>
                    <a:pt x="208042" y="575453"/>
                  </a:lnTo>
                  <a:lnTo>
                    <a:pt x="255791" y="590725"/>
                  </a:lnTo>
                  <a:lnTo>
                    <a:pt x="306517" y="600231"/>
                  </a:lnTo>
                  <a:lnTo>
                    <a:pt x="359663" y="603504"/>
                  </a:lnTo>
                  <a:lnTo>
                    <a:pt x="412810" y="600231"/>
                  </a:lnTo>
                  <a:lnTo>
                    <a:pt x="463536" y="590725"/>
                  </a:lnTo>
                  <a:lnTo>
                    <a:pt x="511285" y="575453"/>
                  </a:lnTo>
                  <a:lnTo>
                    <a:pt x="555500" y="554882"/>
                  </a:lnTo>
                  <a:lnTo>
                    <a:pt x="595626" y="529479"/>
                  </a:lnTo>
                  <a:lnTo>
                    <a:pt x="631105" y="499711"/>
                  </a:lnTo>
                  <a:lnTo>
                    <a:pt x="661381" y="466046"/>
                  </a:lnTo>
                  <a:lnTo>
                    <a:pt x="685898" y="428950"/>
                  </a:lnTo>
                  <a:lnTo>
                    <a:pt x="704099" y="388891"/>
                  </a:lnTo>
                  <a:lnTo>
                    <a:pt x="715428" y="346336"/>
                  </a:lnTo>
                  <a:lnTo>
                    <a:pt x="719327" y="301752"/>
                  </a:lnTo>
                  <a:lnTo>
                    <a:pt x="715428" y="257167"/>
                  </a:lnTo>
                  <a:lnTo>
                    <a:pt x="704099" y="214612"/>
                  </a:lnTo>
                  <a:lnTo>
                    <a:pt x="685898" y="174553"/>
                  </a:lnTo>
                  <a:lnTo>
                    <a:pt x="661381" y="137457"/>
                  </a:lnTo>
                  <a:lnTo>
                    <a:pt x="631105" y="103792"/>
                  </a:lnTo>
                  <a:lnTo>
                    <a:pt x="595626" y="74024"/>
                  </a:lnTo>
                  <a:lnTo>
                    <a:pt x="555500" y="48621"/>
                  </a:lnTo>
                  <a:lnTo>
                    <a:pt x="511285" y="28050"/>
                  </a:lnTo>
                  <a:lnTo>
                    <a:pt x="463536" y="12778"/>
                  </a:lnTo>
                  <a:lnTo>
                    <a:pt x="412810" y="3272"/>
                  </a:lnTo>
                  <a:lnTo>
                    <a:pt x="359663" y="0"/>
                  </a:lnTo>
                  <a:close/>
                </a:path>
              </a:pathLst>
            </a:custGeom>
            <a:solidFill>
              <a:srgbClr val="E7E6E6"/>
            </a:solidFill>
          </p:spPr>
          <p:txBody>
            <a:bodyPr wrap="square" lIns="0" tIns="0" rIns="0" bIns="0" rtlCol="0"/>
            <a:lstStyle/>
            <a:p>
              <a:endParaRPr/>
            </a:p>
          </p:txBody>
        </p:sp>
        <p:sp>
          <p:nvSpPr>
            <p:cNvPr id="31" name="object 31"/>
            <p:cNvSpPr/>
            <p:nvPr/>
          </p:nvSpPr>
          <p:spPr>
            <a:xfrm>
              <a:off x="2362961" y="4417314"/>
              <a:ext cx="719455" cy="603885"/>
            </a:xfrm>
            <a:custGeom>
              <a:avLst/>
              <a:gdLst/>
              <a:ahLst/>
              <a:cxnLst/>
              <a:rect l="l" t="t" r="r" b="b"/>
              <a:pathLst>
                <a:path w="719455" h="603885">
                  <a:moveTo>
                    <a:pt x="0" y="301752"/>
                  </a:moveTo>
                  <a:lnTo>
                    <a:pt x="3899" y="257167"/>
                  </a:lnTo>
                  <a:lnTo>
                    <a:pt x="15228" y="214612"/>
                  </a:lnTo>
                  <a:lnTo>
                    <a:pt x="33429" y="174553"/>
                  </a:lnTo>
                  <a:lnTo>
                    <a:pt x="57946" y="137457"/>
                  </a:lnTo>
                  <a:lnTo>
                    <a:pt x="88222" y="103792"/>
                  </a:lnTo>
                  <a:lnTo>
                    <a:pt x="123701" y="74024"/>
                  </a:lnTo>
                  <a:lnTo>
                    <a:pt x="163827" y="48621"/>
                  </a:lnTo>
                  <a:lnTo>
                    <a:pt x="208042" y="28050"/>
                  </a:lnTo>
                  <a:lnTo>
                    <a:pt x="255791" y="12778"/>
                  </a:lnTo>
                  <a:lnTo>
                    <a:pt x="306517" y="3272"/>
                  </a:lnTo>
                  <a:lnTo>
                    <a:pt x="359663" y="0"/>
                  </a:lnTo>
                  <a:lnTo>
                    <a:pt x="412810" y="3272"/>
                  </a:lnTo>
                  <a:lnTo>
                    <a:pt x="463536" y="12778"/>
                  </a:lnTo>
                  <a:lnTo>
                    <a:pt x="511285" y="28050"/>
                  </a:lnTo>
                  <a:lnTo>
                    <a:pt x="555500" y="48621"/>
                  </a:lnTo>
                  <a:lnTo>
                    <a:pt x="595626" y="74024"/>
                  </a:lnTo>
                  <a:lnTo>
                    <a:pt x="631105" y="103792"/>
                  </a:lnTo>
                  <a:lnTo>
                    <a:pt x="661381" y="137457"/>
                  </a:lnTo>
                  <a:lnTo>
                    <a:pt x="685898" y="174553"/>
                  </a:lnTo>
                  <a:lnTo>
                    <a:pt x="704099" y="214612"/>
                  </a:lnTo>
                  <a:lnTo>
                    <a:pt x="715428" y="257167"/>
                  </a:lnTo>
                  <a:lnTo>
                    <a:pt x="719327" y="301752"/>
                  </a:lnTo>
                  <a:lnTo>
                    <a:pt x="715428" y="346336"/>
                  </a:lnTo>
                  <a:lnTo>
                    <a:pt x="704099" y="388891"/>
                  </a:lnTo>
                  <a:lnTo>
                    <a:pt x="685898" y="428950"/>
                  </a:lnTo>
                  <a:lnTo>
                    <a:pt x="661381" y="466046"/>
                  </a:lnTo>
                  <a:lnTo>
                    <a:pt x="631105" y="499711"/>
                  </a:lnTo>
                  <a:lnTo>
                    <a:pt x="595626" y="529479"/>
                  </a:lnTo>
                  <a:lnTo>
                    <a:pt x="555500" y="554882"/>
                  </a:lnTo>
                  <a:lnTo>
                    <a:pt x="511285" y="575453"/>
                  </a:lnTo>
                  <a:lnTo>
                    <a:pt x="463536" y="590725"/>
                  </a:lnTo>
                  <a:lnTo>
                    <a:pt x="412810" y="600231"/>
                  </a:lnTo>
                  <a:lnTo>
                    <a:pt x="359663" y="603504"/>
                  </a:lnTo>
                  <a:lnTo>
                    <a:pt x="306517" y="600231"/>
                  </a:lnTo>
                  <a:lnTo>
                    <a:pt x="255791" y="590725"/>
                  </a:lnTo>
                  <a:lnTo>
                    <a:pt x="208042" y="575453"/>
                  </a:lnTo>
                  <a:lnTo>
                    <a:pt x="163827" y="554882"/>
                  </a:lnTo>
                  <a:lnTo>
                    <a:pt x="123701" y="529479"/>
                  </a:lnTo>
                  <a:lnTo>
                    <a:pt x="88222" y="499711"/>
                  </a:lnTo>
                  <a:lnTo>
                    <a:pt x="57946" y="466046"/>
                  </a:lnTo>
                  <a:lnTo>
                    <a:pt x="33429" y="428950"/>
                  </a:lnTo>
                  <a:lnTo>
                    <a:pt x="15228" y="388891"/>
                  </a:lnTo>
                  <a:lnTo>
                    <a:pt x="3899" y="346336"/>
                  </a:lnTo>
                  <a:lnTo>
                    <a:pt x="0" y="301752"/>
                  </a:lnTo>
                  <a:close/>
                </a:path>
              </a:pathLst>
            </a:custGeom>
            <a:ln w="25399">
              <a:solidFill>
                <a:srgbClr val="2E528F"/>
              </a:solidFill>
            </a:ln>
          </p:spPr>
          <p:txBody>
            <a:bodyPr wrap="square" lIns="0" tIns="0" rIns="0" bIns="0" rtlCol="0"/>
            <a:lstStyle/>
            <a:p>
              <a:endParaRPr/>
            </a:p>
          </p:txBody>
        </p:sp>
      </p:grpSp>
      <p:sp>
        <p:nvSpPr>
          <p:cNvPr id="32" name="object 32"/>
          <p:cNvSpPr txBox="1"/>
          <p:nvPr/>
        </p:nvSpPr>
        <p:spPr>
          <a:xfrm>
            <a:off x="2569210" y="4563617"/>
            <a:ext cx="3054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A1</a:t>
            </a:r>
            <a:endParaRPr sz="1800">
              <a:latin typeface="Arial"/>
              <a:cs typeface="Arial"/>
            </a:endParaRPr>
          </a:p>
        </p:txBody>
      </p:sp>
      <p:grpSp>
        <p:nvGrpSpPr>
          <p:cNvPr id="33" name="object 33"/>
          <p:cNvGrpSpPr/>
          <p:nvPr/>
        </p:nvGrpSpPr>
        <p:grpSpPr>
          <a:xfrm>
            <a:off x="2350261" y="5171185"/>
            <a:ext cx="744855" cy="627380"/>
            <a:chOff x="2350261" y="5171185"/>
            <a:chExt cx="744855" cy="627380"/>
          </a:xfrm>
        </p:grpSpPr>
        <p:sp>
          <p:nvSpPr>
            <p:cNvPr id="34" name="object 34"/>
            <p:cNvSpPr/>
            <p:nvPr/>
          </p:nvSpPr>
          <p:spPr>
            <a:xfrm>
              <a:off x="2362961" y="5183885"/>
              <a:ext cx="719455" cy="601980"/>
            </a:xfrm>
            <a:custGeom>
              <a:avLst/>
              <a:gdLst/>
              <a:ahLst/>
              <a:cxnLst/>
              <a:rect l="l" t="t" r="r" b="b"/>
              <a:pathLst>
                <a:path w="719455" h="601979">
                  <a:moveTo>
                    <a:pt x="359663" y="0"/>
                  </a:moveTo>
                  <a:lnTo>
                    <a:pt x="306517" y="3263"/>
                  </a:lnTo>
                  <a:lnTo>
                    <a:pt x="255791" y="12742"/>
                  </a:lnTo>
                  <a:lnTo>
                    <a:pt x="208042" y="27973"/>
                  </a:lnTo>
                  <a:lnTo>
                    <a:pt x="163827" y="48488"/>
                  </a:lnTo>
                  <a:lnTo>
                    <a:pt x="123701" y="73824"/>
                  </a:lnTo>
                  <a:lnTo>
                    <a:pt x="88222" y="103514"/>
                  </a:lnTo>
                  <a:lnTo>
                    <a:pt x="57946" y="137093"/>
                  </a:lnTo>
                  <a:lnTo>
                    <a:pt x="33429" y="174095"/>
                  </a:lnTo>
                  <a:lnTo>
                    <a:pt x="15228" y="214056"/>
                  </a:lnTo>
                  <a:lnTo>
                    <a:pt x="3899" y="256509"/>
                  </a:lnTo>
                  <a:lnTo>
                    <a:pt x="0" y="300989"/>
                  </a:lnTo>
                  <a:lnTo>
                    <a:pt x="3899" y="345467"/>
                  </a:lnTo>
                  <a:lnTo>
                    <a:pt x="15228" y="387919"/>
                  </a:lnTo>
                  <a:lnTo>
                    <a:pt x="33429" y="427878"/>
                  </a:lnTo>
                  <a:lnTo>
                    <a:pt x="57946" y="464881"/>
                  </a:lnTo>
                  <a:lnTo>
                    <a:pt x="88222" y="498460"/>
                  </a:lnTo>
                  <a:lnTo>
                    <a:pt x="123701" y="528151"/>
                  </a:lnTo>
                  <a:lnTo>
                    <a:pt x="163827" y="553488"/>
                  </a:lnTo>
                  <a:lnTo>
                    <a:pt x="208042" y="574004"/>
                  </a:lnTo>
                  <a:lnTo>
                    <a:pt x="255791" y="589236"/>
                  </a:lnTo>
                  <a:lnTo>
                    <a:pt x="306517" y="598716"/>
                  </a:lnTo>
                  <a:lnTo>
                    <a:pt x="359663" y="601979"/>
                  </a:lnTo>
                  <a:lnTo>
                    <a:pt x="412810" y="598716"/>
                  </a:lnTo>
                  <a:lnTo>
                    <a:pt x="463536" y="589236"/>
                  </a:lnTo>
                  <a:lnTo>
                    <a:pt x="511285" y="574004"/>
                  </a:lnTo>
                  <a:lnTo>
                    <a:pt x="555500" y="553488"/>
                  </a:lnTo>
                  <a:lnTo>
                    <a:pt x="595626" y="528151"/>
                  </a:lnTo>
                  <a:lnTo>
                    <a:pt x="631105" y="498460"/>
                  </a:lnTo>
                  <a:lnTo>
                    <a:pt x="661381" y="464881"/>
                  </a:lnTo>
                  <a:lnTo>
                    <a:pt x="685898" y="427878"/>
                  </a:lnTo>
                  <a:lnTo>
                    <a:pt x="704099" y="387919"/>
                  </a:lnTo>
                  <a:lnTo>
                    <a:pt x="715428" y="345467"/>
                  </a:lnTo>
                  <a:lnTo>
                    <a:pt x="719327" y="300989"/>
                  </a:lnTo>
                  <a:lnTo>
                    <a:pt x="715428" y="256509"/>
                  </a:lnTo>
                  <a:lnTo>
                    <a:pt x="704099" y="214056"/>
                  </a:lnTo>
                  <a:lnTo>
                    <a:pt x="685898" y="174095"/>
                  </a:lnTo>
                  <a:lnTo>
                    <a:pt x="661381" y="137093"/>
                  </a:lnTo>
                  <a:lnTo>
                    <a:pt x="631105" y="103514"/>
                  </a:lnTo>
                  <a:lnTo>
                    <a:pt x="595626" y="73824"/>
                  </a:lnTo>
                  <a:lnTo>
                    <a:pt x="555500" y="48488"/>
                  </a:lnTo>
                  <a:lnTo>
                    <a:pt x="511285" y="27973"/>
                  </a:lnTo>
                  <a:lnTo>
                    <a:pt x="463536" y="12742"/>
                  </a:lnTo>
                  <a:lnTo>
                    <a:pt x="412810" y="3263"/>
                  </a:lnTo>
                  <a:lnTo>
                    <a:pt x="359663" y="0"/>
                  </a:lnTo>
                  <a:close/>
                </a:path>
              </a:pathLst>
            </a:custGeom>
            <a:solidFill>
              <a:srgbClr val="E7E6E6"/>
            </a:solidFill>
          </p:spPr>
          <p:txBody>
            <a:bodyPr wrap="square" lIns="0" tIns="0" rIns="0" bIns="0" rtlCol="0"/>
            <a:lstStyle/>
            <a:p>
              <a:endParaRPr/>
            </a:p>
          </p:txBody>
        </p:sp>
        <p:sp>
          <p:nvSpPr>
            <p:cNvPr id="35" name="object 35"/>
            <p:cNvSpPr/>
            <p:nvPr/>
          </p:nvSpPr>
          <p:spPr>
            <a:xfrm>
              <a:off x="2362961" y="5183885"/>
              <a:ext cx="719455" cy="601980"/>
            </a:xfrm>
            <a:custGeom>
              <a:avLst/>
              <a:gdLst/>
              <a:ahLst/>
              <a:cxnLst/>
              <a:rect l="l" t="t" r="r" b="b"/>
              <a:pathLst>
                <a:path w="719455" h="601979">
                  <a:moveTo>
                    <a:pt x="0" y="300989"/>
                  </a:moveTo>
                  <a:lnTo>
                    <a:pt x="3899" y="256509"/>
                  </a:lnTo>
                  <a:lnTo>
                    <a:pt x="15228" y="214056"/>
                  </a:lnTo>
                  <a:lnTo>
                    <a:pt x="33429" y="174095"/>
                  </a:lnTo>
                  <a:lnTo>
                    <a:pt x="57946" y="137093"/>
                  </a:lnTo>
                  <a:lnTo>
                    <a:pt x="88222" y="103514"/>
                  </a:lnTo>
                  <a:lnTo>
                    <a:pt x="123701" y="73824"/>
                  </a:lnTo>
                  <a:lnTo>
                    <a:pt x="163827" y="48488"/>
                  </a:lnTo>
                  <a:lnTo>
                    <a:pt x="208042" y="27973"/>
                  </a:lnTo>
                  <a:lnTo>
                    <a:pt x="255791" y="12742"/>
                  </a:lnTo>
                  <a:lnTo>
                    <a:pt x="306517" y="3263"/>
                  </a:lnTo>
                  <a:lnTo>
                    <a:pt x="359663" y="0"/>
                  </a:lnTo>
                  <a:lnTo>
                    <a:pt x="412810" y="3263"/>
                  </a:lnTo>
                  <a:lnTo>
                    <a:pt x="463536" y="12742"/>
                  </a:lnTo>
                  <a:lnTo>
                    <a:pt x="511285" y="27973"/>
                  </a:lnTo>
                  <a:lnTo>
                    <a:pt x="555500" y="48488"/>
                  </a:lnTo>
                  <a:lnTo>
                    <a:pt x="595626" y="73824"/>
                  </a:lnTo>
                  <a:lnTo>
                    <a:pt x="631105" y="103514"/>
                  </a:lnTo>
                  <a:lnTo>
                    <a:pt x="661381" y="137093"/>
                  </a:lnTo>
                  <a:lnTo>
                    <a:pt x="685898" y="174095"/>
                  </a:lnTo>
                  <a:lnTo>
                    <a:pt x="704099" y="214056"/>
                  </a:lnTo>
                  <a:lnTo>
                    <a:pt x="715428" y="256509"/>
                  </a:lnTo>
                  <a:lnTo>
                    <a:pt x="719327" y="300989"/>
                  </a:lnTo>
                  <a:lnTo>
                    <a:pt x="715428" y="345467"/>
                  </a:lnTo>
                  <a:lnTo>
                    <a:pt x="704099" y="387919"/>
                  </a:lnTo>
                  <a:lnTo>
                    <a:pt x="685898" y="427878"/>
                  </a:lnTo>
                  <a:lnTo>
                    <a:pt x="661381" y="464881"/>
                  </a:lnTo>
                  <a:lnTo>
                    <a:pt x="631105" y="498460"/>
                  </a:lnTo>
                  <a:lnTo>
                    <a:pt x="595626" y="528151"/>
                  </a:lnTo>
                  <a:lnTo>
                    <a:pt x="555500" y="553488"/>
                  </a:lnTo>
                  <a:lnTo>
                    <a:pt x="511285" y="574004"/>
                  </a:lnTo>
                  <a:lnTo>
                    <a:pt x="463536" y="589236"/>
                  </a:lnTo>
                  <a:lnTo>
                    <a:pt x="412810" y="598716"/>
                  </a:lnTo>
                  <a:lnTo>
                    <a:pt x="359663" y="601979"/>
                  </a:lnTo>
                  <a:lnTo>
                    <a:pt x="306517" y="598716"/>
                  </a:lnTo>
                  <a:lnTo>
                    <a:pt x="255791" y="589236"/>
                  </a:lnTo>
                  <a:lnTo>
                    <a:pt x="208042" y="574004"/>
                  </a:lnTo>
                  <a:lnTo>
                    <a:pt x="163827" y="553488"/>
                  </a:lnTo>
                  <a:lnTo>
                    <a:pt x="123701" y="528151"/>
                  </a:lnTo>
                  <a:lnTo>
                    <a:pt x="88222" y="498460"/>
                  </a:lnTo>
                  <a:lnTo>
                    <a:pt x="57946" y="464881"/>
                  </a:lnTo>
                  <a:lnTo>
                    <a:pt x="33429" y="427878"/>
                  </a:lnTo>
                  <a:lnTo>
                    <a:pt x="15228" y="387919"/>
                  </a:lnTo>
                  <a:lnTo>
                    <a:pt x="3899" y="345467"/>
                  </a:lnTo>
                  <a:lnTo>
                    <a:pt x="0" y="300989"/>
                  </a:lnTo>
                  <a:close/>
                </a:path>
              </a:pathLst>
            </a:custGeom>
            <a:ln w="25400">
              <a:solidFill>
                <a:srgbClr val="2E528F"/>
              </a:solidFill>
            </a:ln>
          </p:spPr>
          <p:txBody>
            <a:bodyPr wrap="square" lIns="0" tIns="0" rIns="0" bIns="0" rtlCol="0"/>
            <a:lstStyle/>
            <a:p>
              <a:endParaRPr/>
            </a:p>
          </p:txBody>
        </p:sp>
      </p:grpSp>
      <p:sp>
        <p:nvSpPr>
          <p:cNvPr id="36" name="object 36"/>
          <p:cNvSpPr txBox="1"/>
          <p:nvPr/>
        </p:nvSpPr>
        <p:spPr>
          <a:xfrm>
            <a:off x="2569210" y="5329173"/>
            <a:ext cx="3054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A2</a:t>
            </a:r>
            <a:endParaRPr sz="1800">
              <a:latin typeface="Arial"/>
              <a:cs typeface="Arial"/>
            </a:endParaRPr>
          </a:p>
        </p:txBody>
      </p:sp>
      <p:sp>
        <p:nvSpPr>
          <p:cNvPr id="37" name="object 37"/>
          <p:cNvSpPr/>
          <p:nvPr/>
        </p:nvSpPr>
        <p:spPr>
          <a:xfrm>
            <a:off x="2566416" y="6225540"/>
            <a:ext cx="992505" cy="76200"/>
          </a:xfrm>
          <a:custGeom>
            <a:avLst/>
            <a:gdLst/>
            <a:ahLst/>
            <a:cxnLst/>
            <a:rect l="l" t="t" r="r" b="b"/>
            <a:pathLst>
              <a:path w="992504" h="76200">
                <a:moveTo>
                  <a:pt x="916050" y="0"/>
                </a:moveTo>
                <a:lnTo>
                  <a:pt x="916050" y="76200"/>
                </a:lnTo>
                <a:lnTo>
                  <a:pt x="979550" y="44450"/>
                </a:lnTo>
                <a:lnTo>
                  <a:pt x="928750" y="44450"/>
                </a:lnTo>
                <a:lnTo>
                  <a:pt x="928750" y="31750"/>
                </a:lnTo>
                <a:lnTo>
                  <a:pt x="979550" y="31750"/>
                </a:lnTo>
                <a:lnTo>
                  <a:pt x="916050" y="0"/>
                </a:lnTo>
                <a:close/>
              </a:path>
              <a:path w="992504" h="76200">
                <a:moveTo>
                  <a:pt x="916050" y="31750"/>
                </a:moveTo>
                <a:lnTo>
                  <a:pt x="0" y="31750"/>
                </a:lnTo>
                <a:lnTo>
                  <a:pt x="0" y="44450"/>
                </a:lnTo>
                <a:lnTo>
                  <a:pt x="916050" y="44450"/>
                </a:lnTo>
                <a:lnTo>
                  <a:pt x="916050" y="31750"/>
                </a:lnTo>
                <a:close/>
              </a:path>
              <a:path w="992504" h="76200">
                <a:moveTo>
                  <a:pt x="979550" y="31750"/>
                </a:moveTo>
                <a:lnTo>
                  <a:pt x="928750" y="31750"/>
                </a:lnTo>
                <a:lnTo>
                  <a:pt x="928750" y="44450"/>
                </a:lnTo>
                <a:lnTo>
                  <a:pt x="979550" y="44450"/>
                </a:lnTo>
                <a:lnTo>
                  <a:pt x="992250" y="38100"/>
                </a:lnTo>
                <a:lnTo>
                  <a:pt x="979550" y="31750"/>
                </a:lnTo>
                <a:close/>
              </a:path>
            </a:pathLst>
          </a:custGeom>
          <a:solidFill>
            <a:srgbClr val="EB792B"/>
          </a:solid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4.1.B</a:t>
            </a:r>
            <a:r>
              <a:rPr spc="-45" dirty="0"/>
              <a:t> </a:t>
            </a:r>
            <a:r>
              <a:rPr b="0" dirty="0">
                <a:latin typeface="Calibri"/>
                <a:cs typeface="Calibri"/>
              </a:rPr>
              <a:t>Perception</a:t>
            </a:r>
            <a:r>
              <a:rPr b="0" spc="-20" dirty="0">
                <a:latin typeface="Calibri"/>
                <a:cs typeface="Calibri"/>
              </a:rPr>
              <a:t> </a:t>
            </a:r>
            <a:r>
              <a:rPr b="0" dirty="0">
                <a:latin typeface="Calibri"/>
                <a:cs typeface="Calibri"/>
              </a:rPr>
              <a:t>w/</a:t>
            </a:r>
            <a:r>
              <a:rPr b="0" spc="-10" dirty="0">
                <a:latin typeface="Calibri"/>
                <a:cs typeface="Calibri"/>
              </a:rPr>
              <a:t> </a:t>
            </a:r>
            <a:r>
              <a:rPr b="0" dirty="0">
                <a:latin typeface="Calibri"/>
                <a:cs typeface="Calibri"/>
              </a:rPr>
              <a:t>Graphical</a:t>
            </a:r>
            <a:r>
              <a:rPr b="0" spc="-15" dirty="0">
                <a:latin typeface="Calibri"/>
                <a:cs typeface="Calibri"/>
              </a:rPr>
              <a:t> </a:t>
            </a:r>
            <a:r>
              <a:rPr b="0" dirty="0">
                <a:latin typeface="Calibri"/>
                <a:cs typeface="Calibri"/>
              </a:rPr>
              <a:t>Models</a:t>
            </a:r>
            <a:r>
              <a:rPr b="0" spc="-25" dirty="0">
                <a:latin typeface="Calibri"/>
                <a:cs typeface="Calibri"/>
              </a:rPr>
              <a:t> </a:t>
            </a:r>
            <a:r>
              <a:rPr b="0" dirty="0">
                <a:latin typeface="Calibri"/>
                <a:cs typeface="Calibri"/>
              </a:rPr>
              <a:t>[2</a:t>
            </a:r>
            <a:r>
              <a:rPr b="0" spc="-10" dirty="0">
                <a:latin typeface="Calibri"/>
                <a:cs typeface="Calibri"/>
              </a:rPr>
              <a:t> </a:t>
            </a:r>
            <a:r>
              <a:rPr b="0" spc="-20" dirty="0">
                <a:latin typeface="Calibri"/>
                <a:cs typeface="Calibri"/>
              </a:rPr>
              <a:t>pts]</a:t>
            </a:r>
          </a:p>
        </p:txBody>
      </p:sp>
      <p:sp>
        <p:nvSpPr>
          <p:cNvPr id="3" name="object 3"/>
          <p:cNvSpPr txBox="1"/>
          <p:nvPr/>
        </p:nvSpPr>
        <p:spPr>
          <a:xfrm>
            <a:off x="915416" y="1787778"/>
            <a:ext cx="7656830" cy="2115185"/>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Given</a:t>
            </a:r>
            <a:r>
              <a:rPr sz="1800" spc="-20" dirty="0">
                <a:latin typeface="Arial"/>
                <a:cs typeface="Arial"/>
              </a:rPr>
              <a:t> </a:t>
            </a:r>
            <a:r>
              <a:rPr sz="1800" dirty="0">
                <a:latin typeface="Arial"/>
                <a:cs typeface="Arial"/>
              </a:rPr>
              <a:t>the</a:t>
            </a:r>
            <a:r>
              <a:rPr sz="1800" spc="-20" dirty="0">
                <a:latin typeface="Arial"/>
                <a:cs typeface="Arial"/>
              </a:rPr>
              <a:t> </a:t>
            </a:r>
            <a:r>
              <a:rPr sz="1800" dirty="0">
                <a:latin typeface="Arial"/>
                <a:cs typeface="Arial"/>
              </a:rPr>
              <a:t>DBN from</a:t>
            </a:r>
            <a:r>
              <a:rPr sz="1800" spc="-20" dirty="0">
                <a:latin typeface="Arial"/>
                <a:cs typeface="Arial"/>
              </a:rPr>
              <a:t> </a:t>
            </a:r>
            <a:r>
              <a:rPr sz="1800" dirty="0">
                <a:latin typeface="Arial"/>
                <a:cs typeface="Arial"/>
              </a:rPr>
              <a:t>the</a:t>
            </a:r>
            <a:r>
              <a:rPr sz="1800" spc="-15" dirty="0">
                <a:latin typeface="Arial"/>
                <a:cs typeface="Arial"/>
              </a:rPr>
              <a:t> </a:t>
            </a:r>
            <a:r>
              <a:rPr sz="1800" spc="-10" dirty="0">
                <a:latin typeface="Arial"/>
                <a:cs typeface="Arial"/>
              </a:rPr>
              <a:t>textbook,</a:t>
            </a:r>
            <a:endParaRPr sz="1800">
              <a:latin typeface="Arial"/>
              <a:cs typeface="Arial"/>
            </a:endParaRPr>
          </a:p>
          <a:p>
            <a:pPr marL="355600" marR="5080" indent="-342900">
              <a:lnSpc>
                <a:spcPct val="100000"/>
              </a:lnSpc>
              <a:buChar char="•"/>
              <a:tabLst>
                <a:tab pos="355600" algn="l"/>
              </a:tabLst>
            </a:pPr>
            <a:r>
              <a:rPr sz="1800" dirty="0">
                <a:latin typeface="Arial"/>
                <a:cs typeface="Arial"/>
              </a:rPr>
              <a:t>If</a:t>
            </a:r>
            <a:r>
              <a:rPr sz="1800" spc="-40"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actions</a:t>
            </a:r>
            <a:r>
              <a:rPr sz="1800" spc="-30" dirty="0">
                <a:latin typeface="Arial"/>
                <a:cs typeface="Arial"/>
              </a:rPr>
              <a:t> </a:t>
            </a:r>
            <a:r>
              <a:rPr sz="1800" dirty="0">
                <a:latin typeface="Arial"/>
                <a:cs typeface="Arial"/>
              </a:rPr>
              <a:t>are</a:t>
            </a:r>
            <a:r>
              <a:rPr sz="1800" spc="-45" dirty="0">
                <a:latin typeface="Arial"/>
                <a:cs typeface="Arial"/>
              </a:rPr>
              <a:t> </a:t>
            </a:r>
            <a:r>
              <a:rPr sz="1800" dirty="0">
                <a:latin typeface="Arial"/>
                <a:cs typeface="Arial"/>
              </a:rPr>
              <a:t>known</a:t>
            </a:r>
            <a:r>
              <a:rPr sz="1800" spc="10" dirty="0">
                <a:latin typeface="Arial"/>
                <a:cs typeface="Arial"/>
              </a:rPr>
              <a:t> </a:t>
            </a:r>
            <a:r>
              <a:rPr sz="1800" dirty="0">
                <a:latin typeface="Arial"/>
                <a:cs typeface="Arial"/>
              </a:rPr>
              <a:t>but</a:t>
            </a:r>
            <a:r>
              <a:rPr sz="1800" spc="-25" dirty="0">
                <a:latin typeface="Arial"/>
                <a:cs typeface="Arial"/>
              </a:rPr>
              <a:t> </a:t>
            </a:r>
            <a:r>
              <a:rPr sz="1800" dirty="0">
                <a:latin typeface="Arial"/>
                <a:cs typeface="Arial"/>
              </a:rPr>
              <a:t>measurements</a:t>
            </a:r>
            <a:r>
              <a:rPr sz="1800" spc="-20" dirty="0">
                <a:latin typeface="Arial"/>
                <a:cs typeface="Arial"/>
              </a:rPr>
              <a:t> </a:t>
            </a:r>
            <a:r>
              <a:rPr sz="1800" dirty="0">
                <a:latin typeface="Arial"/>
                <a:cs typeface="Arial"/>
              </a:rPr>
              <a:t>are</a:t>
            </a:r>
            <a:r>
              <a:rPr sz="1800" spc="-30" dirty="0">
                <a:latin typeface="Arial"/>
                <a:cs typeface="Arial"/>
              </a:rPr>
              <a:t> </a:t>
            </a:r>
            <a:r>
              <a:rPr sz="1800" dirty="0">
                <a:latin typeface="Arial"/>
                <a:cs typeface="Arial"/>
              </a:rPr>
              <a:t>unknown,</a:t>
            </a:r>
            <a:r>
              <a:rPr sz="1800" spc="10" dirty="0">
                <a:latin typeface="Arial"/>
                <a:cs typeface="Arial"/>
              </a:rPr>
              <a:t> </a:t>
            </a:r>
            <a:r>
              <a:rPr sz="1800" dirty="0">
                <a:latin typeface="Arial"/>
                <a:cs typeface="Arial"/>
              </a:rPr>
              <a:t>what</a:t>
            </a:r>
            <a:r>
              <a:rPr sz="1800" spc="5" dirty="0">
                <a:latin typeface="Arial"/>
                <a:cs typeface="Arial"/>
              </a:rPr>
              <a:t> </a:t>
            </a:r>
            <a:r>
              <a:rPr sz="1800" dirty="0">
                <a:latin typeface="Arial"/>
                <a:cs typeface="Arial"/>
              </a:rPr>
              <a:t>does</a:t>
            </a:r>
            <a:r>
              <a:rPr sz="1800" spc="-30" dirty="0">
                <a:latin typeface="Arial"/>
                <a:cs typeface="Arial"/>
              </a:rPr>
              <a:t> </a:t>
            </a:r>
            <a:r>
              <a:rPr sz="1800" spc="-25" dirty="0">
                <a:latin typeface="Arial"/>
                <a:cs typeface="Arial"/>
              </a:rPr>
              <a:t>the </a:t>
            </a:r>
            <a:r>
              <a:rPr sz="1800" dirty="0">
                <a:latin typeface="Arial"/>
                <a:cs typeface="Arial"/>
              </a:rPr>
              <a:t>factor</a:t>
            </a:r>
            <a:r>
              <a:rPr sz="1800" spc="-15" dirty="0">
                <a:latin typeface="Arial"/>
                <a:cs typeface="Arial"/>
              </a:rPr>
              <a:t> </a:t>
            </a:r>
            <a:r>
              <a:rPr sz="1800" dirty="0">
                <a:latin typeface="Arial"/>
                <a:cs typeface="Arial"/>
              </a:rPr>
              <a:t>graph</a:t>
            </a:r>
            <a:r>
              <a:rPr sz="1800" spc="-10" dirty="0">
                <a:latin typeface="Arial"/>
                <a:cs typeface="Arial"/>
              </a:rPr>
              <a:t> </a:t>
            </a:r>
            <a:r>
              <a:rPr sz="1800" dirty="0">
                <a:latin typeface="Arial"/>
                <a:cs typeface="Arial"/>
              </a:rPr>
              <a:t>look</a:t>
            </a:r>
            <a:r>
              <a:rPr sz="1800" spc="-10" dirty="0">
                <a:latin typeface="Arial"/>
                <a:cs typeface="Arial"/>
              </a:rPr>
              <a:t> like?</a:t>
            </a:r>
            <a:endParaRPr sz="1800">
              <a:latin typeface="Arial"/>
              <a:cs typeface="Arial"/>
            </a:endParaRPr>
          </a:p>
          <a:p>
            <a:pPr>
              <a:lnSpc>
                <a:spcPct val="100000"/>
              </a:lnSpc>
              <a:spcBef>
                <a:spcPts val="1195"/>
              </a:spcBef>
            </a:pPr>
            <a:endParaRPr sz="1800">
              <a:latin typeface="Arial"/>
              <a:cs typeface="Arial"/>
            </a:endParaRPr>
          </a:p>
          <a:p>
            <a:pPr marL="181610">
              <a:lnSpc>
                <a:spcPct val="100000"/>
              </a:lnSpc>
            </a:pPr>
            <a:r>
              <a:rPr sz="1700" spc="-10" dirty="0">
                <a:solidFill>
                  <a:srgbClr val="808080"/>
                </a:solidFill>
                <a:latin typeface="Calibri"/>
                <a:cs typeface="Calibri"/>
              </a:rPr>
              <a:t>&lt;Create</a:t>
            </a:r>
            <a:r>
              <a:rPr sz="1700" spc="-60" dirty="0">
                <a:solidFill>
                  <a:srgbClr val="808080"/>
                </a:solidFill>
                <a:latin typeface="Calibri"/>
                <a:cs typeface="Calibri"/>
              </a:rPr>
              <a:t> </a:t>
            </a:r>
            <a:r>
              <a:rPr sz="1700" dirty="0">
                <a:solidFill>
                  <a:srgbClr val="808080"/>
                </a:solidFill>
                <a:latin typeface="Calibri"/>
                <a:cs typeface="Calibri"/>
              </a:rPr>
              <a:t>the</a:t>
            </a:r>
            <a:r>
              <a:rPr sz="1700" spc="-45" dirty="0">
                <a:solidFill>
                  <a:srgbClr val="808080"/>
                </a:solidFill>
                <a:latin typeface="Calibri"/>
                <a:cs typeface="Calibri"/>
              </a:rPr>
              <a:t> </a:t>
            </a:r>
            <a:r>
              <a:rPr sz="1700" dirty="0">
                <a:solidFill>
                  <a:srgbClr val="808080"/>
                </a:solidFill>
                <a:latin typeface="Calibri"/>
                <a:cs typeface="Calibri"/>
              </a:rPr>
              <a:t>factor</a:t>
            </a:r>
            <a:r>
              <a:rPr sz="1700" spc="-45" dirty="0">
                <a:solidFill>
                  <a:srgbClr val="808080"/>
                </a:solidFill>
                <a:latin typeface="Calibri"/>
                <a:cs typeface="Calibri"/>
              </a:rPr>
              <a:t> </a:t>
            </a:r>
            <a:r>
              <a:rPr sz="1700" dirty="0">
                <a:solidFill>
                  <a:srgbClr val="808080"/>
                </a:solidFill>
                <a:latin typeface="Calibri"/>
                <a:cs typeface="Calibri"/>
              </a:rPr>
              <a:t>graph</a:t>
            </a:r>
            <a:r>
              <a:rPr sz="1700" spc="-80" dirty="0">
                <a:solidFill>
                  <a:srgbClr val="808080"/>
                </a:solidFill>
                <a:latin typeface="Calibri"/>
                <a:cs typeface="Calibri"/>
              </a:rPr>
              <a:t> </a:t>
            </a:r>
            <a:r>
              <a:rPr sz="1700" spc="-20" dirty="0">
                <a:solidFill>
                  <a:srgbClr val="808080"/>
                </a:solidFill>
                <a:latin typeface="Calibri"/>
                <a:cs typeface="Calibri"/>
              </a:rPr>
              <a:t>here&gt;</a:t>
            </a:r>
            <a:endParaRPr sz="1700">
              <a:latin typeface="Calibri"/>
              <a:cs typeface="Calibri"/>
            </a:endParaRPr>
          </a:p>
          <a:p>
            <a:pPr marL="181610" marR="1685925">
              <a:lnSpc>
                <a:spcPts val="1839"/>
              </a:lnSpc>
              <a:spcBef>
                <a:spcPts val="1019"/>
              </a:spcBef>
            </a:pPr>
            <a:r>
              <a:rPr sz="1700" dirty="0">
                <a:solidFill>
                  <a:srgbClr val="808080"/>
                </a:solidFill>
                <a:latin typeface="Calibri"/>
                <a:cs typeface="Calibri"/>
              </a:rPr>
              <a:t>&lt;All</a:t>
            </a:r>
            <a:r>
              <a:rPr sz="1700" spc="-25" dirty="0">
                <a:solidFill>
                  <a:srgbClr val="808080"/>
                </a:solidFill>
                <a:latin typeface="Calibri"/>
                <a:cs typeface="Calibri"/>
              </a:rPr>
              <a:t> </a:t>
            </a:r>
            <a:r>
              <a:rPr sz="1700" dirty="0">
                <a:solidFill>
                  <a:srgbClr val="808080"/>
                </a:solidFill>
                <a:latin typeface="Calibri"/>
                <a:cs typeface="Calibri"/>
              </a:rPr>
              <a:t>the</a:t>
            </a:r>
            <a:r>
              <a:rPr sz="1700" spc="-35" dirty="0">
                <a:solidFill>
                  <a:srgbClr val="808080"/>
                </a:solidFill>
                <a:latin typeface="Calibri"/>
                <a:cs typeface="Calibri"/>
              </a:rPr>
              <a:t> </a:t>
            </a:r>
            <a:r>
              <a:rPr sz="1700" dirty="0">
                <a:solidFill>
                  <a:srgbClr val="808080"/>
                </a:solidFill>
                <a:latin typeface="Calibri"/>
                <a:cs typeface="Calibri"/>
              </a:rPr>
              <a:t>variables</a:t>
            </a:r>
            <a:r>
              <a:rPr sz="1700" spc="-50" dirty="0">
                <a:solidFill>
                  <a:srgbClr val="808080"/>
                </a:solidFill>
                <a:latin typeface="Calibri"/>
                <a:cs typeface="Calibri"/>
              </a:rPr>
              <a:t> </a:t>
            </a:r>
            <a:r>
              <a:rPr sz="1700" dirty="0">
                <a:solidFill>
                  <a:srgbClr val="808080"/>
                </a:solidFill>
                <a:latin typeface="Calibri"/>
                <a:cs typeface="Calibri"/>
              </a:rPr>
              <a:t>are</a:t>
            </a:r>
            <a:r>
              <a:rPr sz="1700" spc="-25" dirty="0">
                <a:solidFill>
                  <a:srgbClr val="808080"/>
                </a:solidFill>
                <a:latin typeface="Calibri"/>
                <a:cs typeface="Calibri"/>
              </a:rPr>
              <a:t> </a:t>
            </a:r>
            <a:r>
              <a:rPr sz="1700" spc="-10" dirty="0">
                <a:solidFill>
                  <a:srgbClr val="808080"/>
                </a:solidFill>
                <a:latin typeface="Calibri"/>
                <a:cs typeface="Calibri"/>
              </a:rPr>
              <a:t>provided,</a:t>
            </a:r>
            <a:r>
              <a:rPr sz="1700" spc="-55" dirty="0">
                <a:solidFill>
                  <a:srgbClr val="808080"/>
                </a:solidFill>
                <a:latin typeface="Calibri"/>
                <a:cs typeface="Calibri"/>
              </a:rPr>
              <a:t> </a:t>
            </a:r>
            <a:r>
              <a:rPr sz="1700" dirty="0">
                <a:solidFill>
                  <a:srgbClr val="808080"/>
                </a:solidFill>
                <a:latin typeface="Calibri"/>
                <a:cs typeface="Calibri"/>
              </a:rPr>
              <a:t>please</a:t>
            </a:r>
            <a:r>
              <a:rPr sz="1700" spc="-45" dirty="0">
                <a:solidFill>
                  <a:srgbClr val="808080"/>
                </a:solidFill>
                <a:latin typeface="Calibri"/>
                <a:cs typeface="Calibri"/>
              </a:rPr>
              <a:t> </a:t>
            </a:r>
            <a:r>
              <a:rPr sz="1700" dirty="0">
                <a:solidFill>
                  <a:srgbClr val="808080"/>
                </a:solidFill>
                <a:latin typeface="Calibri"/>
                <a:cs typeface="Calibri"/>
              </a:rPr>
              <a:t>use</a:t>
            </a:r>
            <a:r>
              <a:rPr sz="1700" spc="-40" dirty="0">
                <a:solidFill>
                  <a:srgbClr val="808080"/>
                </a:solidFill>
                <a:latin typeface="Calibri"/>
                <a:cs typeface="Calibri"/>
              </a:rPr>
              <a:t> </a:t>
            </a:r>
            <a:r>
              <a:rPr sz="1700" dirty="0">
                <a:solidFill>
                  <a:srgbClr val="808080"/>
                </a:solidFill>
                <a:latin typeface="Calibri"/>
                <a:cs typeface="Calibri"/>
              </a:rPr>
              <a:t>only</a:t>
            </a:r>
            <a:r>
              <a:rPr sz="1700" spc="-35" dirty="0">
                <a:solidFill>
                  <a:srgbClr val="808080"/>
                </a:solidFill>
                <a:latin typeface="Calibri"/>
                <a:cs typeface="Calibri"/>
              </a:rPr>
              <a:t> </a:t>
            </a:r>
            <a:r>
              <a:rPr sz="1700" dirty="0">
                <a:solidFill>
                  <a:srgbClr val="808080"/>
                </a:solidFill>
                <a:latin typeface="Calibri"/>
                <a:cs typeface="Calibri"/>
              </a:rPr>
              <a:t>ones</a:t>
            </a:r>
            <a:r>
              <a:rPr sz="1700" spc="-30" dirty="0">
                <a:solidFill>
                  <a:srgbClr val="808080"/>
                </a:solidFill>
                <a:latin typeface="Calibri"/>
                <a:cs typeface="Calibri"/>
              </a:rPr>
              <a:t> </a:t>
            </a:r>
            <a:r>
              <a:rPr sz="1700" dirty="0">
                <a:solidFill>
                  <a:srgbClr val="808080"/>
                </a:solidFill>
                <a:latin typeface="Calibri"/>
                <a:cs typeface="Calibri"/>
              </a:rPr>
              <a:t>which</a:t>
            </a:r>
            <a:r>
              <a:rPr sz="1700" spc="-45" dirty="0">
                <a:solidFill>
                  <a:srgbClr val="808080"/>
                </a:solidFill>
                <a:latin typeface="Calibri"/>
                <a:cs typeface="Calibri"/>
              </a:rPr>
              <a:t> </a:t>
            </a:r>
            <a:r>
              <a:rPr sz="1700" spc="-25" dirty="0">
                <a:solidFill>
                  <a:srgbClr val="808080"/>
                </a:solidFill>
                <a:latin typeface="Calibri"/>
                <a:cs typeface="Calibri"/>
              </a:rPr>
              <a:t>are </a:t>
            </a:r>
            <a:r>
              <a:rPr sz="1700" spc="-10" dirty="0">
                <a:solidFill>
                  <a:srgbClr val="808080"/>
                </a:solidFill>
                <a:latin typeface="Calibri"/>
                <a:cs typeface="Calibri"/>
              </a:rPr>
              <a:t>necessary.</a:t>
            </a:r>
            <a:r>
              <a:rPr sz="1700" spc="-55" dirty="0">
                <a:solidFill>
                  <a:srgbClr val="808080"/>
                </a:solidFill>
                <a:latin typeface="Calibri"/>
                <a:cs typeface="Calibri"/>
              </a:rPr>
              <a:t> </a:t>
            </a:r>
            <a:r>
              <a:rPr sz="1700" dirty="0">
                <a:solidFill>
                  <a:srgbClr val="808080"/>
                </a:solidFill>
                <a:latin typeface="Calibri"/>
                <a:cs typeface="Calibri"/>
              </a:rPr>
              <a:t>Connect</a:t>
            </a:r>
            <a:r>
              <a:rPr sz="1700" spc="-40" dirty="0">
                <a:solidFill>
                  <a:srgbClr val="808080"/>
                </a:solidFill>
                <a:latin typeface="Calibri"/>
                <a:cs typeface="Calibri"/>
              </a:rPr>
              <a:t> </a:t>
            </a:r>
            <a:r>
              <a:rPr sz="1700" dirty="0">
                <a:solidFill>
                  <a:srgbClr val="808080"/>
                </a:solidFill>
                <a:latin typeface="Calibri"/>
                <a:cs typeface="Calibri"/>
              </a:rPr>
              <a:t>them</a:t>
            </a:r>
            <a:r>
              <a:rPr sz="1700" spc="-30" dirty="0">
                <a:solidFill>
                  <a:srgbClr val="808080"/>
                </a:solidFill>
                <a:latin typeface="Calibri"/>
                <a:cs typeface="Calibri"/>
              </a:rPr>
              <a:t> </a:t>
            </a:r>
            <a:r>
              <a:rPr sz="1700" dirty="0">
                <a:solidFill>
                  <a:srgbClr val="808080"/>
                </a:solidFill>
                <a:latin typeface="Calibri"/>
                <a:cs typeface="Calibri"/>
              </a:rPr>
              <a:t>using</a:t>
            </a:r>
            <a:r>
              <a:rPr sz="1700" spc="-35" dirty="0">
                <a:solidFill>
                  <a:srgbClr val="808080"/>
                </a:solidFill>
                <a:latin typeface="Calibri"/>
                <a:cs typeface="Calibri"/>
              </a:rPr>
              <a:t> </a:t>
            </a:r>
            <a:r>
              <a:rPr sz="1700" dirty="0">
                <a:solidFill>
                  <a:srgbClr val="808080"/>
                </a:solidFill>
                <a:latin typeface="Calibri"/>
                <a:cs typeface="Calibri"/>
              </a:rPr>
              <a:t>an</a:t>
            </a:r>
            <a:r>
              <a:rPr sz="1700" spc="-65" dirty="0">
                <a:solidFill>
                  <a:srgbClr val="808080"/>
                </a:solidFill>
                <a:latin typeface="Calibri"/>
                <a:cs typeface="Calibri"/>
              </a:rPr>
              <a:t> </a:t>
            </a:r>
            <a:r>
              <a:rPr sz="1700" dirty="0">
                <a:solidFill>
                  <a:srgbClr val="808080"/>
                </a:solidFill>
                <a:latin typeface="Calibri"/>
                <a:cs typeface="Calibri"/>
              </a:rPr>
              <a:t>arrow</a:t>
            </a:r>
            <a:r>
              <a:rPr sz="1700" spc="-55" dirty="0">
                <a:solidFill>
                  <a:srgbClr val="808080"/>
                </a:solidFill>
                <a:latin typeface="Calibri"/>
                <a:cs typeface="Calibri"/>
              </a:rPr>
              <a:t> </a:t>
            </a:r>
            <a:r>
              <a:rPr sz="1700" spc="-10" dirty="0">
                <a:solidFill>
                  <a:srgbClr val="808080"/>
                </a:solidFill>
                <a:latin typeface="Calibri"/>
                <a:cs typeface="Calibri"/>
              </a:rPr>
              <a:t>line[provided</a:t>
            </a:r>
            <a:r>
              <a:rPr sz="1700" spc="-60" dirty="0">
                <a:solidFill>
                  <a:srgbClr val="808080"/>
                </a:solidFill>
                <a:latin typeface="Calibri"/>
                <a:cs typeface="Calibri"/>
              </a:rPr>
              <a:t> </a:t>
            </a:r>
            <a:r>
              <a:rPr sz="1700" dirty="0">
                <a:solidFill>
                  <a:srgbClr val="808080"/>
                </a:solidFill>
                <a:latin typeface="Calibri"/>
                <a:cs typeface="Calibri"/>
              </a:rPr>
              <a:t>in</a:t>
            </a:r>
            <a:r>
              <a:rPr sz="1700" spc="-40" dirty="0">
                <a:solidFill>
                  <a:srgbClr val="808080"/>
                </a:solidFill>
                <a:latin typeface="Calibri"/>
                <a:cs typeface="Calibri"/>
              </a:rPr>
              <a:t> </a:t>
            </a:r>
            <a:r>
              <a:rPr sz="1700" spc="-10" dirty="0">
                <a:solidFill>
                  <a:srgbClr val="808080"/>
                </a:solidFill>
                <a:latin typeface="Calibri"/>
                <a:cs typeface="Calibri"/>
              </a:rPr>
              <a:t>shapes]&gt;</a:t>
            </a:r>
            <a:endParaRPr sz="1700">
              <a:latin typeface="Calibri"/>
              <a:cs typeface="Calibri"/>
            </a:endParaRPr>
          </a:p>
        </p:txBody>
      </p:sp>
      <p:pic>
        <p:nvPicPr>
          <p:cNvPr id="4" name="object 4"/>
          <p:cNvPicPr/>
          <p:nvPr/>
        </p:nvPicPr>
        <p:blipFill>
          <a:blip r:embed="rId2" cstate="print"/>
          <a:stretch>
            <a:fillRect/>
          </a:stretch>
        </p:blipFill>
        <p:spPr>
          <a:xfrm>
            <a:off x="8841216" y="1371600"/>
            <a:ext cx="2874810" cy="2604651"/>
          </a:xfrm>
          <a:prstGeom prst="rect">
            <a:avLst/>
          </a:prstGeom>
        </p:spPr>
      </p:pic>
      <p:grpSp>
        <p:nvGrpSpPr>
          <p:cNvPr id="5" name="object 5"/>
          <p:cNvGrpSpPr/>
          <p:nvPr/>
        </p:nvGrpSpPr>
        <p:grpSpPr>
          <a:xfrm>
            <a:off x="658622" y="4404614"/>
            <a:ext cx="746760" cy="629285"/>
            <a:chOff x="658622" y="4404614"/>
            <a:chExt cx="746760" cy="629285"/>
          </a:xfrm>
        </p:grpSpPr>
        <p:sp>
          <p:nvSpPr>
            <p:cNvPr id="6" name="object 6"/>
            <p:cNvSpPr/>
            <p:nvPr/>
          </p:nvSpPr>
          <p:spPr>
            <a:xfrm>
              <a:off x="671322" y="4417314"/>
              <a:ext cx="721360" cy="603885"/>
            </a:xfrm>
            <a:custGeom>
              <a:avLst/>
              <a:gdLst/>
              <a:ahLst/>
              <a:cxnLst/>
              <a:rect l="l" t="t" r="r" b="b"/>
              <a:pathLst>
                <a:path w="721360" h="603885">
                  <a:moveTo>
                    <a:pt x="360425" y="0"/>
                  </a:moveTo>
                  <a:lnTo>
                    <a:pt x="307164" y="3272"/>
                  </a:lnTo>
                  <a:lnTo>
                    <a:pt x="256329" y="12778"/>
                  </a:lnTo>
                  <a:lnTo>
                    <a:pt x="208478" y="28050"/>
                  </a:lnTo>
                  <a:lnTo>
                    <a:pt x="164169" y="48621"/>
                  </a:lnTo>
                  <a:lnTo>
                    <a:pt x="123959" y="74024"/>
                  </a:lnTo>
                  <a:lnTo>
                    <a:pt x="88405" y="103792"/>
                  </a:lnTo>
                  <a:lnTo>
                    <a:pt x="58066" y="137457"/>
                  </a:lnTo>
                  <a:lnTo>
                    <a:pt x="33498" y="174553"/>
                  </a:lnTo>
                  <a:lnTo>
                    <a:pt x="15259" y="214612"/>
                  </a:lnTo>
                  <a:lnTo>
                    <a:pt x="3907" y="257167"/>
                  </a:lnTo>
                  <a:lnTo>
                    <a:pt x="0" y="301752"/>
                  </a:lnTo>
                  <a:lnTo>
                    <a:pt x="3907" y="346336"/>
                  </a:lnTo>
                  <a:lnTo>
                    <a:pt x="15259" y="388891"/>
                  </a:lnTo>
                  <a:lnTo>
                    <a:pt x="33498" y="428950"/>
                  </a:lnTo>
                  <a:lnTo>
                    <a:pt x="58066" y="466046"/>
                  </a:lnTo>
                  <a:lnTo>
                    <a:pt x="88405" y="499711"/>
                  </a:lnTo>
                  <a:lnTo>
                    <a:pt x="123959" y="529479"/>
                  </a:lnTo>
                  <a:lnTo>
                    <a:pt x="164169" y="554882"/>
                  </a:lnTo>
                  <a:lnTo>
                    <a:pt x="208478" y="575453"/>
                  </a:lnTo>
                  <a:lnTo>
                    <a:pt x="256329" y="590725"/>
                  </a:lnTo>
                  <a:lnTo>
                    <a:pt x="307164" y="600231"/>
                  </a:lnTo>
                  <a:lnTo>
                    <a:pt x="360425" y="603504"/>
                  </a:lnTo>
                  <a:lnTo>
                    <a:pt x="413687" y="600231"/>
                  </a:lnTo>
                  <a:lnTo>
                    <a:pt x="464522" y="590725"/>
                  </a:lnTo>
                  <a:lnTo>
                    <a:pt x="512373" y="575453"/>
                  </a:lnTo>
                  <a:lnTo>
                    <a:pt x="556682" y="554882"/>
                  </a:lnTo>
                  <a:lnTo>
                    <a:pt x="596892" y="529479"/>
                  </a:lnTo>
                  <a:lnTo>
                    <a:pt x="632446" y="499711"/>
                  </a:lnTo>
                  <a:lnTo>
                    <a:pt x="662785" y="466046"/>
                  </a:lnTo>
                  <a:lnTo>
                    <a:pt x="687353" y="428950"/>
                  </a:lnTo>
                  <a:lnTo>
                    <a:pt x="705592" y="388891"/>
                  </a:lnTo>
                  <a:lnTo>
                    <a:pt x="716944" y="346336"/>
                  </a:lnTo>
                  <a:lnTo>
                    <a:pt x="720852" y="301752"/>
                  </a:lnTo>
                  <a:lnTo>
                    <a:pt x="716944" y="257167"/>
                  </a:lnTo>
                  <a:lnTo>
                    <a:pt x="705592" y="214612"/>
                  </a:lnTo>
                  <a:lnTo>
                    <a:pt x="687353" y="174553"/>
                  </a:lnTo>
                  <a:lnTo>
                    <a:pt x="662785" y="137457"/>
                  </a:lnTo>
                  <a:lnTo>
                    <a:pt x="632446" y="103792"/>
                  </a:lnTo>
                  <a:lnTo>
                    <a:pt x="596892" y="74024"/>
                  </a:lnTo>
                  <a:lnTo>
                    <a:pt x="556682" y="48621"/>
                  </a:lnTo>
                  <a:lnTo>
                    <a:pt x="512373" y="28050"/>
                  </a:lnTo>
                  <a:lnTo>
                    <a:pt x="464522" y="12778"/>
                  </a:lnTo>
                  <a:lnTo>
                    <a:pt x="413687" y="3272"/>
                  </a:lnTo>
                  <a:lnTo>
                    <a:pt x="360425" y="0"/>
                  </a:lnTo>
                  <a:close/>
                </a:path>
              </a:pathLst>
            </a:custGeom>
            <a:solidFill>
              <a:srgbClr val="E7E6E6"/>
            </a:solidFill>
          </p:spPr>
          <p:txBody>
            <a:bodyPr wrap="square" lIns="0" tIns="0" rIns="0" bIns="0" rtlCol="0"/>
            <a:lstStyle/>
            <a:p>
              <a:endParaRPr/>
            </a:p>
          </p:txBody>
        </p:sp>
        <p:sp>
          <p:nvSpPr>
            <p:cNvPr id="7" name="object 7"/>
            <p:cNvSpPr/>
            <p:nvPr/>
          </p:nvSpPr>
          <p:spPr>
            <a:xfrm>
              <a:off x="671322" y="4417314"/>
              <a:ext cx="721360" cy="603885"/>
            </a:xfrm>
            <a:custGeom>
              <a:avLst/>
              <a:gdLst/>
              <a:ahLst/>
              <a:cxnLst/>
              <a:rect l="l" t="t" r="r" b="b"/>
              <a:pathLst>
                <a:path w="721360" h="603885">
                  <a:moveTo>
                    <a:pt x="0" y="301752"/>
                  </a:moveTo>
                  <a:lnTo>
                    <a:pt x="3907" y="257167"/>
                  </a:lnTo>
                  <a:lnTo>
                    <a:pt x="15259" y="214612"/>
                  </a:lnTo>
                  <a:lnTo>
                    <a:pt x="33498" y="174553"/>
                  </a:lnTo>
                  <a:lnTo>
                    <a:pt x="58066" y="137457"/>
                  </a:lnTo>
                  <a:lnTo>
                    <a:pt x="88405" y="103792"/>
                  </a:lnTo>
                  <a:lnTo>
                    <a:pt x="123959" y="74024"/>
                  </a:lnTo>
                  <a:lnTo>
                    <a:pt x="164169" y="48621"/>
                  </a:lnTo>
                  <a:lnTo>
                    <a:pt x="208478" y="28050"/>
                  </a:lnTo>
                  <a:lnTo>
                    <a:pt x="256329" y="12778"/>
                  </a:lnTo>
                  <a:lnTo>
                    <a:pt x="307164" y="3272"/>
                  </a:lnTo>
                  <a:lnTo>
                    <a:pt x="360425" y="0"/>
                  </a:lnTo>
                  <a:lnTo>
                    <a:pt x="413687" y="3272"/>
                  </a:lnTo>
                  <a:lnTo>
                    <a:pt x="464522" y="12778"/>
                  </a:lnTo>
                  <a:lnTo>
                    <a:pt x="512373" y="28050"/>
                  </a:lnTo>
                  <a:lnTo>
                    <a:pt x="556682" y="48621"/>
                  </a:lnTo>
                  <a:lnTo>
                    <a:pt x="596892" y="74024"/>
                  </a:lnTo>
                  <a:lnTo>
                    <a:pt x="632446" y="103792"/>
                  </a:lnTo>
                  <a:lnTo>
                    <a:pt x="662785" y="137457"/>
                  </a:lnTo>
                  <a:lnTo>
                    <a:pt x="687353" y="174553"/>
                  </a:lnTo>
                  <a:lnTo>
                    <a:pt x="705592" y="214612"/>
                  </a:lnTo>
                  <a:lnTo>
                    <a:pt x="716944" y="257167"/>
                  </a:lnTo>
                  <a:lnTo>
                    <a:pt x="720852" y="301752"/>
                  </a:lnTo>
                  <a:lnTo>
                    <a:pt x="716944" y="346336"/>
                  </a:lnTo>
                  <a:lnTo>
                    <a:pt x="705592" y="388891"/>
                  </a:lnTo>
                  <a:lnTo>
                    <a:pt x="687353" y="428950"/>
                  </a:lnTo>
                  <a:lnTo>
                    <a:pt x="662785" y="466046"/>
                  </a:lnTo>
                  <a:lnTo>
                    <a:pt x="632446" y="499711"/>
                  </a:lnTo>
                  <a:lnTo>
                    <a:pt x="596892" y="529479"/>
                  </a:lnTo>
                  <a:lnTo>
                    <a:pt x="556682" y="554882"/>
                  </a:lnTo>
                  <a:lnTo>
                    <a:pt x="512373" y="575453"/>
                  </a:lnTo>
                  <a:lnTo>
                    <a:pt x="464522" y="590725"/>
                  </a:lnTo>
                  <a:lnTo>
                    <a:pt x="413687" y="600231"/>
                  </a:lnTo>
                  <a:lnTo>
                    <a:pt x="360425" y="603504"/>
                  </a:lnTo>
                  <a:lnTo>
                    <a:pt x="307164" y="600231"/>
                  </a:lnTo>
                  <a:lnTo>
                    <a:pt x="256329" y="590725"/>
                  </a:lnTo>
                  <a:lnTo>
                    <a:pt x="208478" y="575453"/>
                  </a:lnTo>
                  <a:lnTo>
                    <a:pt x="164169" y="554882"/>
                  </a:lnTo>
                  <a:lnTo>
                    <a:pt x="123959" y="529479"/>
                  </a:lnTo>
                  <a:lnTo>
                    <a:pt x="88405" y="499711"/>
                  </a:lnTo>
                  <a:lnTo>
                    <a:pt x="58066" y="466046"/>
                  </a:lnTo>
                  <a:lnTo>
                    <a:pt x="33498" y="428950"/>
                  </a:lnTo>
                  <a:lnTo>
                    <a:pt x="15259" y="388891"/>
                  </a:lnTo>
                  <a:lnTo>
                    <a:pt x="3907" y="346336"/>
                  </a:lnTo>
                  <a:lnTo>
                    <a:pt x="0" y="301752"/>
                  </a:lnTo>
                  <a:close/>
                </a:path>
              </a:pathLst>
            </a:custGeom>
            <a:ln w="25399">
              <a:solidFill>
                <a:srgbClr val="2E528F"/>
              </a:solidFill>
            </a:ln>
          </p:spPr>
          <p:txBody>
            <a:bodyPr wrap="square" lIns="0" tIns="0" rIns="0" bIns="0" rtlCol="0"/>
            <a:lstStyle/>
            <a:p>
              <a:endParaRPr/>
            </a:p>
          </p:txBody>
        </p:sp>
      </p:grpSp>
      <p:sp>
        <p:nvSpPr>
          <p:cNvPr id="8" name="object 8"/>
          <p:cNvSpPr txBox="1"/>
          <p:nvPr/>
        </p:nvSpPr>
        <p:spPr>
          <a:xfrm>
            <a:off x="880363" y="4563617"/>
            <a:ext cx="3022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X1</a:t>
            </a:r>
            <a:endParaRPr sz="1800">
              <a:latin typeface="Arial"/>
              <a:cs typeface="Arial"/>
            </a:endParaRPr>
          </a:p>
        </p:txBody>
      </p:sp>
      <p:grpSp>
        <p:nvGrpSpPr>
          <p:cNvPr id="9" name="object 9"/>
          <p:cNvGrpSpPr/>
          <p:nvPr/>
        </p:nvGrpSpPr>
        <p:grpSpPr>
          <a:xfrm>
            <a:off x="658622" y="5171185"/>
            <a:ext cx="746760" cy="627380"/>
            <a:chOff x="658622" y="5171185"/>
            <a:chExt cx="746760" cy="627380"/>
          </a:xfrm>
        </p:grpSpPr>
        <p:sp>
          <p:nvSpPr>
            <p:cNvPr id="10" name="object 10"/>
            <p:cNvSpPr/>
            <p:nvPr/>
          </p:nvSpPr>
          <p:spPr>
            <a:xfrm>
              <a:off x="671322" y="5183885"/>
              <a:ext cx="721360" cy="601980"/>
            </a:xfrm>
            <a:custGeom>
              <a:avLst/>
              <a:gdLst/>
              <a:ahLst/>
              <a:cxnLst/>
              <a:rect l="l" t="t" r="r" b="b"/>
              <a:pathLst>
                <a:path w="721360" h="601979">
                  <a:moveTo>
                    <a:pt x="360425" y="0"/>
                  </a:moveTo>
                  <a:lnTo>
                    <a:pt x="307164" y="3263"/>
                  </a:lnTo>
                  <a:lnTo>
                    <a:pt x="256329" y="12742"/>
                  </a:lnTo>
                  <a:lnTo>
                    <a:pt x="208478" y="27973"/>
                  </a:lnTo>
                  <a:lnTo>
                    <a:pt x="164169" y="48488"/>
                  </a:lnTo>
                  <a:lnTo>
                    <a:pt x="123959" y="73824"/>
                  </a:lnTo>
                  <a:lnTo>
                    <a:pt x="88405" y="103514"/>
                  </a:lnTo>
                  <a:lnTo>
                    <a:pt x="58066" y="137093"/>
                  </a:lnTo>
                  <a:lnTo>
                    <a:pt x="33498" y="174095"/>
                  </a:lnTo>
                  <a:lnTo>
                    <a:pt x="15259" y="214056"/>
                  </a:lnTo>
                  <a:lnTo>
                    <a:pt x="3907" y="256509"/>
                  </a:lnTo>
                  <a:lnTo>
                    <a:pt x="0" y="300989"/>
                  </a:lnTo>
                  <a:lnTo>
                    <a:pt x="3907" y="345467"/>
                  </a:lnTo>
                  <a:lnTo>
                    <a:pt x="15259" y="387919"/>
                  </a:lnTo>
                  <a:lnTo>
                    <a:pt x="33498" y="427878"/>
                  </a:lnTo>
                  <a:lnTo>
                    <a:pt x="58066" y="464881"/>
                  </a:lnTo>
                  <a:lnTo>
                    <a:pt x="88405" y="498460"/>
                  </a:lnTo>
                  <a:lnTo>
                    <a:pt x="123959" y="528151"/>
                  </a:lnTo>
                  <a:lnTo>
                    <a:pt x="164169" y="553488"/>
                  </a:lnTo>
                  <a:lnTo>
                    <a:pt x="208478" y="574004"/>
                  </a:lnTo>
                  <a:lnTo>
                    <a:pt x="256329" y="589236"/>
                  </a:lnTo>
                  <a:lnTo>
                    <a:pt x="307164" y="598716"/>
                  </a:lnTo>
                  <a:lnTo>
                    <a:pt x="360425" y="601979"/>
                  </a:lnTo>
                  <a:lnTo>
                    <a:pt x="413687" y="598716"/>
                  </a:lnTo>
                  <a:lnTo>
                    <a:pt x="464522" y="589236"/>
                  </a:lnTo>
                  <a:lnTo>
                    <a:pt x="512373" y="574004"/>
                  </a:lnTo>
                  <a:lnTo>
                    <a:pt x="556682" y="553488"/>
                  </a:lnTo>
                  <a:lnTo>
                    <a:pt x="596892" y="528151"/>
                  </a:lnTo>
                  <a:lnTo>
                    <a:pt x="632446" y="498460"/>
                  </a:lnTo>
                  <a:lnTo>
                    <a:pt x="662785" y="464881"/>
                  </a:lnTo>
                  <a:lnTo>
                    <a:pt x="687353" y="427878"/>
                  </a:lnTo>
                  <a:lnTo>
                    <a:pt x="705592" y="387919"/>
                  </a:lnTo>
                  <a:lnTo>
                    <a:pt x="716944" y="345467"/>
                  </a:lnTo>
                  <a:lnTo>
                    <a:pt x="720852" y="300989"/>
                  </a:lnTo>
                  <a:lnTo>
                    <a:pt x="716944" y="256509"/>
                  </a:lnTo>
                  <a:lnTo>
                    <a:pt x="705592" y="214056"/>
                  </a:lnTo>
                  <a:lnTo>
                    <a:pt x="687353" y="174095"/>
                  </a:lnTo>
                  <a:lnTo>
                    <a:pt x="662785" y="137093"/>
                  </a:lnTo>
                  <a:lnTo>
                    <a:pt x="632446" y="103514"/>
                  </a:lnTo>
                  <a:lnTo>
                    <a:pt x="596892" y="73824"/>
                  </a:lnTo>
                  <a:lnTo>
                    <a:pt x="556682" y="48488"/>
                  </a:lnTo>
                  <a:lnTo>
                    <a:pt x="512373" y="27973"/>
                  </a:lnTo>
                  <a:lnTo>
                    <a:pt x="464522" y="12742"/>
                  </a:lnTo>
                  <a:lnTo>
                    <a:pt x="413687" y="3263"/>
                  </a:lnTo>
                  <a:lnTo>
                    <a:pt x="360425" y="0"/>
                  </a:lnTo>
                  <a:close/>
                </a:path>
              </a:pathLst>
            </a:custGeom>
            <a:solidFill>
              <a:srgbClr val="E7E6E6"/>
            </a:solidFill>
          </p:spPr>
          <p:txBody>
            <a:bodyPr wrap="square" lIns="0" tIns="0" rIns="0" bIns="0" rtlCol="0"/>
            <a:lstStyle/>
            <a:p>
              <a:endParaRPr/>
            </a:p>
          </p:txBody>
        </p:sp>
        <p:sp>
          <p:nvSpPr>
            <p:cNvPr id="11" name="object 11"/>
            <p:cNvSpPr/>
            <p:nvPr/>
          </p:nvSpPr>
          <p:spPr>
            <a:xfrm>
              <a:off x="671322" y="5183885"/>
              <a:ext cx="721360" cy="601980"/>
            </a:xfrm>
            <a:custGeom>
              <a:avLst/>
              <a:gdLst/>
              <a:ahLst/>
              <a:cxnLst/>
              <a:rect l="l" t="t" r="r" b="b"/>
              <a:pathLst>
                <a:path w="721360" h="601979">
                  <a:moveTo>
                    <a:pt x="0" y="300989"/>
                  </a:moveTo>
                  <a:lnTo>
                    <a:pt x="3907" y="256509"/>
                  </a:lnTo>
                  <a:lnTo>
                    <a:pt x="15259" y="214056"/>
                  </a:lnTo>
                  <a:lnTo>
                    <a:pt x="33498" y="174095"/>
                  </a:lnTo>
                  <a:lnTo>
                    <a:pt x="58066" y="137093"/>
                  </a:lnTo>
                  <a:lnTo>
                    <a:pt x="88405" y="103514"/>
                  </a:lnTo>
                  <a:lnTo>
                    <a:pt x="123959" y="73824"/>
                  </a:lnTo>
                  <a:lnTo>
                    <a:pt x="164169" y="48488"/>
                  </a:lnTo>
                  <a:lnTo>
                    <a:pt x="208478" y="27973"/>
                  </a:lnTo>
                  <a:lnTo>
                    <a:pt x="256329" y="12742"/>
                  </a:lnTo>
                  <a:lnTo>
                    <a:pt x="307164" y="3263"/>
                  </a:lnTo>
                  <a:lnTo>
                    <a:pt x="360425" y="0"/>
                  </a:lnTo>
                  <a:lnTo>
                    <a:pt x="413687" y="3263"/>
                  </a:lnTo>
                  <a:lnTo>
                    <a:pt x="464522" y="12742"/>
                  </a:lnTo>
                  <a:lnTo>
                    <a:pt x="512373" y="27973"/>
                  </a:lnTo>
                  <a:lnTo>
                    <a:pt x="556682" y="48488"/>
                  </a:lnTo>
                  <a:lnTo>
                    <a:pt x="596892" y="73824"/>
                  </a:lnTo>
                  <a:lnTo>
                    <a:pt x="632446" y="103514"/>
                  </a:lnTo>
                  <a:lnTo>
                    <a:pt x="662785" y="137093"/>
                  </a:lnTo>
                  <a:lnTo>
                    <a:pt x="687353" y="174095"/>
                  </a:lnTo>
                  <a:lnTo>
                    <a:pt x="705592" y="214056"/>
                  </a:lnTo>
                  <a:lnTo>
                    <a:pt x="716944" y="256509"/>
                  </a:lnTo>
                  <a:lnTo>
                    <a:pt x="720852" y="300989"/>
                  </a:lnTo>
                  <a:lnTo>
                    <a:pt x="716944" y="345467"/>
                  </a:lnTo>
                  <a:lnTo>
                    <a:pt x="705592" y="387919"/>
                  </a:lnTo>
                  <a:lnTo>
                    <a:pt x="687353" y="427878"/>
                  </a:lnTo>
                  <a:lnTo>
                    <a:pt x="662785" y="464881"/>
                  </a:lnTo>
                  <a:lnTo>
                    <a:pt x="632446" y="498460"/>
                  </a:lnTo>
                  <a:lnTo>
                    <a:pt x="596892" y="528151"/>
                  </a:lnTo>
                  <a:lnTo>
                    <a:pt x="556682" y="553488"/>
                  </a:lnTo>
                  <a:lnTo>
                    <a:pt x="512373" y="574004"/>
                  </a:lnTo>
                  <a:lnTo>
                    <a:pt x="464522" y="589236"/>
                  </a:lnTo>
                  <a:lnTo>
                    <a:pt x="413687" y="598716"/>
                  </a:lnTo>
                  <a:lnTo>
                    <a:pt x="360425" y="601979"/>
                  </a:lnTo>
                  <a:lnTo>
                    <a:pt x="307164" y="598716"/>
                  </a:lnTo>
                  <a:lnTo>
                    <a:pt x="256329" y="589236"/>
                  </a:lnTo>
                  <a:lnTo>
                    <a:pt x="208478" y="574004"/>
                  </a:lnTo>
                  <a:lnTo>
                    <a:pt x="164169" y="553488"/>
                  </a:lnTo>
                  <a:lnTo>
                    <a:pt x="123959" y="528151"/>
                  </a:lnTo>
                  <a:lnTo>
                    <a:pt x="88405" y="498460"/>
                  </a:lnTo>
                  <a:lnTo>
                    <a:pt x="58066" y="464881"/>
                  </a:lnTo>
                  <a:lnTo>
                    <a:pt x="33498" y="427878"/>
                  </a:lnTo>
                  <a:lnTo>
                    <a:pt x="15259" y="387919"/>
                  </a:lnTo>
                  <a:lnTo>
                    <a:pt x="3907" y="345467"/>
                  </a:lnTo>
                  <a:lnTo>
                    <a:pt x="0" y="300989"/>
                  </a:lnTo>
                  <a:close/>
                </a:path>
              </a:pathLst>
            </a:custGeom>
            <a:ln w="25400">
              <a:solidFill>
                <a:srgbClr val="2E528F"/>
              </a:solidFill>
            </a:ln>
          </p:spPr>
          <p:txBody>
            <a:bodyPr wrap="square" lIns="0" tIns="0" rIns="0" bIns="0" rtlCol="0"/>
            <a:lstStyle/>
            <a:p>
              <a:endParaRPr/>
            </a:p>
          </p:txBody>
        </p:sp>
      </p:grpSp>
      <p:sp>
        <p:nvSpPr>
          <p:cNvPr id="12" name="object 12"/>
          <p:cNvSpPr txBox="1"/>
          <p:nvPr/>
        </p:nvSpPr>
        <p:spPr>
          <a:xfrm>
            <a:off x="880363" y="5329173"/>
            <a:ext cx="3022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X2</a:t>
            </a:r>
            <a:endParaRPr sz="1800">
              <a:latin typeface="Arial"/>
              <a:cs typeface="Arial"/>
            </a:endParaRPr>
          </a:p>
        </p:txBody>
      </p:sp>
      <p:grpSp>
        <p:nvGrpSpPr>
          <p:cNvPr id="13" name="object 13"/>
          <p:cNvGrpSpPr/>
          <p:nvPr/>
        </p:nvGrpSpPr>
        <p:grpSpPr>
          <a:xfrm>
            <a:off x="658622" y="5949950"/>
            <a:ext cx="746760" cy="627380"/>
            <a:chOff x="658622" y="5949950"/>
            <a:chExt cx="746760" cy="627380"/>
          </a:xfrm>
        </p:grpSpPr>
        <p:sp>
          <p:nvSpPr>
            <p:cNvPr id="14" name="object 14"/>
            <p:cNvSpPr/>
            <p:nvPr/>
          </p:nvSpPr>
          <p:spPr>
            <a:xfrm>
              <a:off x="671322" y="5962650"/>
              <a:ext cx="721360" cy="601980"/>
            </a:xfrm>
            <a:custGeom>
              <a:avLst/>
              <a:gdLst/>
              <a:ahLst/>
              <a:cxnLst/>
              <a:rect l="l" t="t" r="r" b="b"/>
              <a:pathLst>
                <a:path w="721360" h="601979">
                  <a:moveTo>
                    <a:pt x="360425" y="0"/>
                  </a:moveTo>
                  <a:lnTo>
                    <a:pt x="307164" y="3263"/>
                  </a:lnTo>
                  <a:lnTo>
                    <a:pt x="256329" y="12743"/>
                  </a:lnTo>
                  <a:lnTo>
                    <a:pt x="208478" y="27975"/>
                  </a:lnTo>
                  <a:lnTo>
                    <a:pt x="164169" y="48491"/>
                  </a:lnTo>
                  <a:lnTo>
                    <a:pt x="123959" y="73828"/>
                  </a:lnTo>
                  <a:lnTo>
                    <a:pt x="88405" y="103519"/>
                  </a:lnTo>
                  <a:lnTo>
                    <a:pt x="58066" y="137098"/>
                  </a:lnTo>
                  <a:lnTo>
                    <a:pt x="33498" y="174101"/>
                  </a:lnTo>
                  <a:lnTo>
                    <a:pt x="15259" y="214060"/>
                  </a:lnTo>
                  <a:lnTo>
                    <a:pt x="3907" y="256512"/>
                  </a:lnTo>
                  <a:lnTo>
                    <a:pt x="0" y="300990"/>
                  </a:lnTo>
                  <a:lnTo>
                    <a:pt x="3907" y="345467"/>
                  </a:lnTo>
                  <a:lnTo>
                    <a:pt x="15259" y="387919"/>
                  </a:lnTo>
                  <a:lnTo>
                    <a:pt x="33498" y="427878"/>
                  </a:lnTo>
                  <a:lnTo>
                    <a:pt x="58066" y="464881"/>
                  </a:lnTo>
                  <a:lnTo>
                    <a:pt x="88405" y="498460"/>
                  </a:lnTo>
                  <a:lnTo>
                    <a:pt x="123959" y="528151"/>
                  </a:lnTo>
                  <a:lnTo>
                    <a:pt x="164169" y="553488"/>
                  </a:lnTo>
                  <a:lnTo>
                    <a:pt x="208478" y="574004"/>
                  </a:lnTo>
                  <a:lnTo>
                    <a:pt x="256329" y="589236"/>
                  </a:lnTo>
                  <a:lnTo>
                    <a:pt x="307164" y="598716"/>
                  </a:lnTo>
                  <a:lnTo>
                    <a:pt x="360425" y="601980"/>
                  </a:lnTo>
                  <a:lnTo>
                    <a:pt x="413687" y="598716"/>
                  </a:lnTo>
                  <a:lnTo>
                    <a:pt x="464522" y="589236"/>
                  </a:lnTo>
                  <a:lnTo>
                    <a:pt x="512373" y="574004"/>
                  </a:lnTo>
                  <a:lnTo>
                    <a:pt x="556682" y="553488"/>
                  </a:lnTo>
                  <a:lnTo>
                    <a:pt x="596892" y="528151"/>
                  </a:lnTo>
                  <a:lnTo>
                    <a:pt x="632446" y="498460"/>
                  </a:lnTo>
                  <a:lnTo>
                    <a:pt x="662785" y="464881"/>
                  </a:lnTo>
                  <a:lnTo>
                    <a:pt x="687353" y="427878"/>
                  </a:lnTo>
                  <a:lnTo>
                    <a:pt x="705592" y="387919"/>
                  </a:lnTo>
                  <a:lnTo>
                    <a:pt x="716944" y="345467"/>
                  </a:lnTo>
                  <a:lnTo>
                    <a:pt x="720852" y="300990"/>
                  </a:lnTo>
                  <a:lnTo>
                    <a:pt x="716944" y="256512"/>
                  </a:lnTo>
                  <a:lnTo>
                    <a:pt x="705592" y="214060"/>
                  </a:lnTo>
                  <a:lnTo>
                    <a:pt x="687353" y="174101"/>
                  </a:lnTo>
                  <a:lnTo>
                    <a:pt x="662785" y="137098"/>
                  </a:lnTo>
                  <a:lnTo>
                    <a:pt x="632446" y="103519"/>
                  </a:lnTo>
                  <a:lnTo>
                    <a:pt x="596892" y="73828"/>
                  </a:lnTo>
                  <a:lnTo>
                    <a:pt x="556682" y="48491"/>
                  </a:lnTo>
                  <a:lnTo>
                    <a:pt x="512373" y="27975"/>
                  </a:lnTo>
                  <a:lnTo>
                    <a:pt x="464522" y="12743"/>
                  </a:lnTo>
                  <a:lnTo>
                    <a:pt x="413687" y="3263"/>
                  </a:lnTo>
                  <a:lnTo>
                    <a:pt x="360425" y="0"/>
                  </a:lnTo>
                  <a:close/>
                </a:path>
              </a:pathLst>
            </a:custGeom>
            <a:solidFill>
              <a:srgbClr val="E7E6E6"/>
            </a:solidFill>
          </p:spPr>
          <p:txBody>
            <a:bodyPr wrap="square" lIns="0" tIns="0" rIns="0" bIns="0" rtlCol="0"/>
            <a:lstStyle/>
            <a:p>
              <a:endParaRPr/>
            </a:p>
          </p:txBody>
        </p:sp>
        <p:sp>
          <p:nvSpPr>
            <p:cNvPr id="15" name="object 15"/>
            <p:cNvSpPr/>
            <p:nvPr/>
          </p:nvSpPr>
          <p:spPr>
            <a:xfrm>
              <a:off x="671322" y="5962650"/>
              <a:ext cx="721360" cy="601980"/>
            </a:xfrm>
            <a:custGeom>
              <a:avLst/>
              <a:gdLst/>
              <a:ahLst/>
              <a:cxnLst/>
              <a:rect l="l" t="t" r="r" b="b"/>
              <a:pathLst>
                <a:path w="721360" h="601979">
                  <a:moveTo>
                    <a:pt x="0" y="300990"/>
                  </a:moveTo>
                  <a:lnTo>
                    <a:pt x="3907" y="256512"/>
                  </a:lnTo>
                  <a:lnTo>
                    <a:pt x="15259" y="214060"/>
                  </a:lnTo>
                  <a:lnTo>
                    <a:pt x="33498" y="174101"/>
                  </a:lnTo>
                  <a:lnTo>
                    <a:pt x="58066" y="137098"/>
                  </a:lnTo>
                  <a:lnTo>
                    <a:pt x="88405" y="103519"/>
                  </a:lnTo>
                  <a:lnTo>
                    <a:pt x="123959" y="73828"/>
                  </a:lnTo>
                  <a:lnTo>
                    <a:pt x="164169" y="48491"/>
                  </a:lnTo>
                  <a:lnTo>
                    <a:pt x="208478" y="27975"/>
                  </a:lnTo>
                  <a:lnTo>
                    <a:pt x="256329" y="12743"/>
                  </a:lnTo>
                  <a:lnTo>
                    <a:pt x="307164" y="3263"/>
                  </a:lnTo>
                  <a:lnTo>
                    <a:pt x="360425" y="0"/>
                  </a:lnTo>
                  <a:lnTo>
                    <a:pt x="413687" y="3263"/>
                  </a:lnTo>
                  <a:lnTo>
                    <a:pt x="464522" y="12743"/>
                  </a:lnTo>
                  <a:lnTo>
                    <a:pt x="512373" y="27975"/>
                  </a:lnTo>
                  <a:lnTo>
                    <a:pt x="556682" y="48491"/>
                  </a:lnTo>
                  <a:lnTo>
                    <a:pt x="596892" y="73828"/>
                  </a:lnTo>
                  <a:lnTo>
                    <a:pt x="632446" y="103519"/>
                  </a:lnTo>
                  <a:lnTo>
                    <a:pt x="662785" y="137098"/>
                  </a:lnTo>
                  <a:lnTo>
                    <a:pt x="687353" y="174101"/>
                  </a:lnTo>
                  <a:lnTo>
                    <a:pt x="705592" y="214060"/>
                  </a:lnTo>
                  <a:lnTo>
                    <a:pt x="716944" y="256512"/>
                  </a:lnTo>
                  <a:lnTo>
                    <a:pt x="720852" y="300990"/>
                  </a:lnTo>
                  <a:lnTo>
                    <a:pt x="716944" y="345467"/>
                  </a:lnTo>
                  <a:lnTo>
                    <a:pt x="705592" y="387919"/>
                  </a:lnTo>
                  <a:lnTo>
                    <a:pt x="687353" y="427878"/>
                  </a:lnTo>
                  <a:lnTo>
                    <a:pt x="662785" y="464881"/>
                  </a:lnTo>
                  <a:lnTo>
                    <a:pt x="632446" y="498460"/>
                  </a:lnTo>
                  <a:lnTo>
                    <a:pt x="596892" y="528151"/>
                  </a:lnTo>
                  <a:lnTo>
                    <a:pt x="556682" y="553488"/>
                  </a:lnTo>
                  <a:lnTo>
                    <a:pt x="512373" y="574004"/>
                  </a:lnTo>
                  <a:lnTo>
                    <a:pt x="464522" y="589236"/>
                  </a:lnTo>
                  <a:lnTo>
                    <a:pt x="413687" y="598716"/>
                  </a:lnTo>
                  <a:lnTo>
                    <a:pt x="360425" y="601980"/>
                  </a:lnTo>
                  <a:lnTo>
                    <a:pt x="307164" y="598716"/>
                  </a:lnTo>
                  <a:lnTo>
                    <a:pt x="256329" y="589236"/>
                  </a:lnTo>
                  <a:lnTo>
                    <a:pt x="208478" y="574004"/>
                  </a:lnTo>
                  <a:lnTo>
                    <a:pt x="164169" y="553488"/>
                  </a:lnTo>
                  <a:lnTo>
                    <a:pt x="123959" y="528151"/>
                  </a:lnTo>
                  <a:lnTo>
                    <a:pt x="88405" y="498460"/>
                  </a:lnTo>
                  <a:lnTo>
                    <a:pt x="58066" y="464881"/>
                  </a:lnTo>
                  <a:lnTo>
                    <a:pt x="33498" y="427878"/>
                  </a:lnTo>
                  <a:lnTo>
                    <a:pt x="15259" y="387919"/>
                  </a:lnTo>
                  <a:lnTo>
                    <a:pt x="3907" y="345467"/>
                  </a:lnTo>
                  <a:lnTo>
                    <a:pt x="0" y="300990"/>
                  </a:lnTo>
                  <a:close/>
                </a:path>
              </a:pathLst>
            </a:custGeom>
            <a:ln w="25400">
              <a:solidFill>
                <a:srgbClr val="2E528F"/>
              </a:solidFill>
            </a:ln>
          </p:spPr>
          <p:txBody>
            <a:bodyPr wrap="square" lIns="0" tIns="0" rIns="0" bIns="0" rtlCol="0"/>
            <a:lstStyle/>
            <a:p>
              <a:endParaRPr/>
            </a:p>
          </p:txBody>
        </p:sp>
      </p:grpSp>
      <p:sp>
        <p:nvSpPr>
          <p:cNvPr id="16" name="object 16"/>
          <p:cNvSpPr txBox="1"/>
          <p:nvPr/>
        </p:nvSpPr>
        <p:spPr>
          <a:xfrm>
            <a:off x="880363" y="6108598"/>
            <a:ext cx="3022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X3</a:t>
            </a:r>
            <a:endParaRPr sz="1800">
              <a:latin typeface="Arial"/>
              <a:cs typeface="Arial"/>
            </a:endParaRPr>
          </a:p>
        </p:txBody>
      </p:sp>
      <p:grpSp>
        <p:nvGrpSpPr>
          <p:cNvPr id="17" name="object 17"/>
          <p:cNvGrpSpPr/>
          <p:nvPr/>
        </p:nvGrpSpPr>
        <p:grpSpPr>
          <a:xfrm>
            <a:off x="1504441" y="4404614"/>
            <a:ext cx="744855" cy="629285"/>
            <a:chOff x="1504441" y="4404614"/>
            <a:chExt cx="744855" cy="629285"/>
          </a:xfrm>
        </p:grpSpPr>
        <p:sp>
          <p:nvSpPr>
            <p:cNvPr id="18" name="object 18"/>
            <p:cNvSpPr/>
            <p:nvPr/>
          </p:nvSpPr>
          <p:spPr>
            <a:xfrm>
              <a:off x="1517141" y="4417314"/>
              <a:ext cx="719455" cy="603885"/>
            </a:xfrm>
            <a:custGeom>
              <a:avLst/>
              <a:gdLst/>
              <a:ahLst/>
              <a:cxnLst/>
              <a:rect l="l" t="t" r="r" b="b"/>
              <a:pathLst>
                <a:path w="719455" h="603885">
                  <a:moveTo>
                    <a:pt x="359664" y="0"/>
                  </a:moveTo>
                  <a:lnTo>
                    <a:pt x="306517" y="3272"/>
                  </a:lnTo>
                  <a:lnTo>
                    <a:pt x="255791" y="12778"/>
                  </a:lnTo>
                  <a:lnTo>
                    <a:pt x="208042" y="28050"/>
                  </a:lnTo>
                  <a:lnTo>
                    <a:pt x="163827" y="48621"/>
                  </a:lnTo>
                  <a:lnTo>
                    <a:pt x="123701" y="74024"/>
                  </a:lnTo>
                  <a:lnTo>
                    <a:pt x="88222" y="103792"/>
                  </a:lnTo>
                  <a:lnTo>
                    <a:pt x="57946" y="137457"/>
                  </a:lnTo>
                  <a:lnTo>
                    <a:pt x="33429" y="174553"/>
                  </a:lnTo>
                  <a:lnTo>
                    <a:pt x="15228" y="214612"/>
                  </a:lnTo>
                  <a:lnTo>
                    <a:pt x="3899" y="257167"/>
                  </a:lnTo>
                  <a:lnTo>
                    <a:pt x="0" y="301752"/>
                  </a:lnTo>
                  <a:lnTo>
                    <a:pt x="3899" y="346336"/>
                  </a:lnTo>
                  <a:lnTo>
                    <a:pt x="15228" y="388891"/>
                  </a:lnTo>
                  <a:lnTo>
                    <a:pt x="33429" y="428950"/>
                  </a:lnTo>
                  <a:lnTo>
                    <a:pt x="57946" y="466046"/>
                  </a:lnTo>
                  <a:lnTo>
                    <a:pt x="88222" y="499711"/>
                  </a:lnTo>
                  <a:lnTo>
                    <a:pt x="123701" y="529479"/>
                  </a:lnTo>
                  <a:lnTo>
                    <a:pt x="163827" y="554882"/>
                  </a:lnTo>
                  <a:lnTo>
                    <a:pt x="208042" y="575453"/>
                  </a:lnTo>
                  <a:lnTo>
                    <a:pt x="255791" y="590725"/>
                  </a:lnTo>
                  <a:lnTo>
                    <a:pt x="306517" y="600231"/>
                  </a:lnTo>
                  <a:lnTo>
                    <a:pt x="359664" y="603504"/>
                  </a:lnTo>
                  <a:lnTo>
                    <a:pt x="412810" y="600231"/>
                  </a:lnTo>
                  <a:lnTo>
                    <a:pt x="463536" y="590725"/>
                  </a:lnTo>
                  <a:lnTo>
                    <a:pt x="511285" y="575453"/>
                  </a:lnTo>
                  <a:lnTo>
                    <a:pt x="555500" y="554882"/>
                  </a:lnTo>
                  <a:lnTo>
                    <a:pt x="595626" y="529479"/>
                  </a:lnTo>
                  <a:lnTo>
                    <a:pt x="631105" y="499711"/>
                  </a:lnTo>
                  <a:lnTo>
                    <a:pt x="661381" y="466046"/>
                  </a:lnTo>
                  <a:lnTo>
                    <a:pt x="685898" y="428950"/>
                  </a:lnTo>
                  <a:lnTo>
                    <a:pt x="704099" y="388891"/>
                  </a:lnTo>
                  <a:lnTo>
                    <a:pt x="715428" y="346336"/>
                  </a:lnTo>
                  <a:lnTo>
                    <a:pt x="719328" y="301752"/>
                  </a:lnTo>
                  <a:lnTo>
                    <a:pt x="715428" y="257167"/>
                  </a:lnTo>
                  <a:lnTo>
                    <a:pt x="704099" y="214612"/>
                  </a:lnTo>
                  <a:lnTo>
                    <a:pt x="685898" y="174553"/>
                  </a:lnTo>
                  <a:lnTo>
                    <a:pt x="661381" y="137457"/>
                  </a:lnTo>
                  <a:lnTo>
                    <a:pt x="631105" y="103792"/>
                  </a:lnTo>
                  <a:lnTo>
                    <a:pt x="595626" y="74024"/>
                  </a:lnTo>
                  <a:lnTo>
                    <a:pt x="555500" y="48621"/>
                  </a:lnTo>
                  <a:lnTo>
                    <a:pt x="511285" y="28050"/>
                  </a:lnTo>
                  <a:lnTo>
                    <a:pt x="463536" y="12778"/>
                  </a:lnTo>
                  <a:lnTo>
                    <a:pt x="412810" y="3272"/>
                  </a:lnTo>
                  <a:lnTo>
                    <a:pt x="359664" y="0"/>
                  </a:lnTo>
                  <a:close/>
                </a:path>
              </a:pathLst>
            </a:custGeom>
            <a:solidFill>
              <a:srgbClr val="E7E6E6"/>
            </a:solidFill>
          </p:spPr>
          <p:txBody>
            <a:bodyPr wrap="square" lIns="0" tIns="0" rIns="0" bIns="0" rtlCol="0"/>
            <a:lstStyle/>
            <a:p>
              <a:endParaRPr/>
            </a:p>
          </p:txBody>
        </p:sp>
        <p:sp>
          <p:nvSpPr>
            <p:cNvPr id="19" name="object 19"/>
            <p:cNvSpPr/>
            <p:nvPr/>
          </p:nvSpPr>
          <p:spPr>
            <a:xfrm>
              <a:off x="1517141" y="4417314"/>
              <a:ext cx="719455" cy="603885"/>
            </a:xfrm>
            <a:custGeom>
              <a:avLst/>
              <a:gdLst/>
              <a:ahLst/>
              <a:cxnLst/>
              <a:rect l="l" t="t" r="r" b="b"/>
              <a:pathLst>
                <a:path w="719455" h="603885">
                  <a:moveTo>
                    <a:pt x="0" y="301752"/>
                  </a:moveTo>
                  <a:lnTo>
                    <a:pt x="3899" y="257167"/>
                  </a:lnTo>
                  <a:lnTo>
                    <a:pt x="15228" y="214612"/>
                  </a:lnTo>
                  <a:lnTo>
                    <a:pt x="33429" y="174553"/>
                  </a:lnTo>
                  <a:lnTo>
                    <a:pt x="57946" y="137457"/>
                  </a:lnTo>
                  <a:lnTo>
                    <a:pt x="88222" y="103792"/>
                  </a:lnTo>
                  <a:lnTo>
                    <a:pt x="123701" y="74024"/>
                  </a:lnTo>
                  <a:lnTo>
                    <a:pt x="163827" y="48621"/>
                  </a:lnTo>
                  <a:lnTo>
                    <a:pt x="208042" y="28050"/>
                  </a:lnTo>
                  <a:lnTo>
                    <a:pt x="255791" y="12778"/>
                  </a:lnTo>
                  <a:lnTo>
                    <a:pt x="306517" y="3272"/>
                  </a:lnTo>
                  <a:lnTo>
                    <a:pt x="359664" y="0"/>
                  </a:lnTo>
                  <a:lnTo>
                    <a:pt x="412810" y="3272"/>
                  </a:lnTo>
                  <a:lnTo>
                    <a:pt x="463536" y="12778"/>
                  </a:lnTo>
                  <a:lnTo>
                    <a:pt x="511285" y="28050"/>
                  </a:lnTo>
                  <a:lnTo>
                    <a:pt x="555500" y="48621"/>
                  </a:lnTo>
                  <a:lnTo>
                    <a:pt x="595626" y="74024"/>
                  </a:lnTo>
                  <a:lnTo>
                    <a:pt x="631105" y="103792"/>
                  </a:lnTo>
                  <a:lnTo>
                    <a:pt x="661381" y="137457"/>
                  </a:lnTo>
                  <a:lnTo>
                    <a:pt x="685898" y="174553"/>
                  </a:lnTo>
                  <a:lnTo>
                    <a:pt x="704099" y="214612"/>
                  </a:lnTo>
                  <a:lnTo>
                    <a:pt x="715428" y="257167"/>
                  </a:lnTo>
                  <a:lnTo>
                    <a:pt x="719328" y="301752"/>
                  </a:lnTo>
                  <a:lnTo>
                    <a:pt x="715428" y="346336"/>
                  </a:lnTo>
                  <a:lnTo>
                    <a:pt x="704099" y="388891"/>
                  </a:lnTo>
                  <a:lnTo>
                    <a:pt x="685898" y="428950"/>
                  </a:lnTo>
                  <a:lnTo>
                    <a:pt x="661381" y="466046"/>
                  </a:lnTo>
                  <a:lnTo>
                    <a:pt x="631105" y="499711"/>
                  </a:lnTo>
                  <a:lnTo>
                    <a:pt x="595626" y="529479"/>
                  </a:lnTo>
                  <a:lnTo>
                    <a:pt x="555500" y="554882"/>
                  </a:lnTo>
                  <a:lnTo>
                    <a:pt x="511285" y="575453"/>
                  </a:lnTo>
                  <a:lnTo>
                    <a:pt x="463536" y="590725"/>
                  </a:lnTo>
                  <a:lnTo>
                    <a:pt x="412810" y="600231"/>
                  </a:lnTo>
                  <a:lnTo>
                    <a:pt x="359664" y="603504"/>
                  </a:lnTo>
                  <a:lnTo>
                    <a:pt x="306517" y="600231"/>
                  </a:lnTo>
                  <a:lnTo>
                    <a:pt x="255791" y="590725"/>
                  </a:lnTo>
                  <a:lnTo>
                    <a:pt x="208042" y="575453"/>
                  </a:lnTo>
                  <a:lnTo>
                    <a:pt x="163827" y="554882"/>
                  </a:lnTo>
                  <a:lnTo>
                    <a:pt x="123701" y="529479"/>
                  </a:lnTo>
                  <a:lnTo>
                    <a:pt x="88222" y="499711"/>
                  </a:lnTo>
                  <a:lnTo>
                    <a:pt x="57946" y="466046"/>
                  </a:lnTo>
                  <a:lnTo>
                    <a:pt x="33429" y="428950"/>
                  </a:lnTo>
                  <a:lnTo>
                    <a:pt x="15228" y="388891"/>
                  </a:lnTo>
                  <a:lnTo>
                    <a:pt x="3899" y="346336"/>
                  </a:lnTo>
                  <a:lnTo>
                    <a:pt x="0" y="301752"/>
                  </a:lnTo>
                  <a:close/>
                </a:path>
              </a:pathLst>
            </a:custGeom>
            <a:ln w="25400">
              <a:solidFill>
                <a:srgbClr val="2E528F"/>
              </a:solidFill>
            </a:ln>
          </p:spPr>
          <p:txBody>
            <a:bodyPr wrap="square" lIns="0" tIns="0" rIns="0" bIns="0" rtlCol="0"/>
            <a:lstStyle/>
            <a:p>
              <a:endParaRPr/>
            </a:p>
          </p:txBody>
        </p:sp>
      </p:grpSp>
      <p:sp>
        <p:nvSpPr>
          <p:cNvPr id="20" name="object 20"/>
          <p:cNvSpPr txBox="1"/>
          <p:nvPr/>
        </p:nvSpPr>
        <p:spPr>
          <a:xfrm>
            <a:off x="1730120" y="4563617"/>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Z1</a:t>
            </a:r>
            <a:endParaRPr sz="1800">
              <a:latin typeface="Arial"/>
              <a:cs typeface="Arial"/>
            </a:endParaRPr>
          </a:p>
        </p:txBody>
      </p:sp>
      <p:grpSp>
        <p:nvGrpSpPr>
          <p:cNvPr id="21" name="object 21"/>
          <p:cNvGrpSpPr/>
          <p:nvPr/>
        </p:nvGrpSpPr>
        <p:grpSpPr>
          <a:xfrm>
            <a:off x="1504441" y="5171185"/>
            <a:ext cx="744855" cy="627380"/>
            <a:chOff x="1504441" y="5171185"/>
            <a:chExt cx="744855" cy="627380"/>
          </a:xfrm>
        </p:grpSpPr>
        <p:sp>
          <p:nvSpPr>
            <p:cNvPr id="22" name="object 22"/>
            <p:cNvSpPr/>
            <p:nvPr/>
          </p:nvSpPr>
          <p:spPr>
            <a:xfrm>
              <a:off x="1517141" y="5183885"/>
              <a:ext cx="719455" cy="601980"/>
            </a:xfrm>
            <a:custGeom>
              <a:avLst/>
              <a:gdLst/>
              <a:ahLst/>
              <a:cxnLst/>
              <a:rect l="l" t="t" r="r" b="b"/>
              <a:pathLst>
                <a:path w="719455" h="601979">
                  <a:moveTo>
                    <a:pt x="359664" y="0"/>
                  </a:moveTo>
                  <a:lnTo>
                    <a:pt x="306517" y="3263"/>
                  </a:lnTo>
                  <a:lnTo>
                    <a:pt x="255791" y="12742"/>
                  </a:lnTo>
                  <a:lnTo>
                    <a:pt x="208042" y="27973"/>
                  </a:lnTo>
                  <a:lnTo>
                    <a:pt x="163827" y="48488"/>
                  </a:lnTo>
                  <a:lnTo>
                    <a:pt x="123701" y="73824"/>
                  </a:lnTo>
                  <a:lnTo>
                    <a:pt x="88222" y="103514"/>
                  </a:lnTo>
                  <a:lnTo>
                    <a:pt x="57946" y="137093"/>
                  </a:lnTo>
                  <a:lnTo>
                    <a:pt x="33429" y="174095"/>
                  </a:lnTo>
                  <a:lnTo>
                    <a:pt x="15228" y="214056"/>
                  </a:lnTo>
                  <a:lnTo>
                    <a:pt x="3899" y="256509"/>
                  </a:lnTo>
                  <a:lnTo>
                    <a:pt x="0" y="300989"/>
                  </a:lnTo>
                  <a:lnTo>
                    <a:pt x="3899" y="345467"/>
                  </a:lnTo>
                  <a:lnTo>
                    <a:pt x="15228" y="387919"/>
                  </a:lnTo>
                  <a:lnTo>
                    <a:pt x="33429" y="427878"/>
                  </a:lnTo>
                  <a:lnTo>
                    <a:pt x="57946" y="464881"/>
                  </a:lnTo>
                  <a:lnTo>
                    <a:pt x="88222" y="498460"/>
                  </a:lnTo>
                  <a:lnTo>
                    <a:pt x="123701" y="528151"/>
                  </a:lnTo>
                  <a:lnTo>
                    <a:pt x="163827" y="553488"/>
                  </a:lnTo>
                  <a:lnTo>
                    <a:pt x="208042" y="574004"/>
                  </a:lnTo>
                  <a:lnTo>
                    <a:pt x="255791" y="589236"/>
                  </a:lnTo>
                  <a:lnTo>
                    <a:pt x="306517" y="598716"/>
                  </a:lnTo>
                  <a:lnTo>
                    <a:pt x="359664" y="601979"/>
                  </a:lnTo>
                  <a:lnTo>
                    <a:pt x="412810" y="598716"/>
                  </a:lnTo>
                  <a:lnTo>
                    <a:pt x="463536" y="589236"/>
                  </a:lnTo>
                  <a:lnTo>
                    <a:pt x="511285" y="574004"/>
                  </a:lnTo>
                  <a:lnTo>
                    <a:pt x="555500" y="553488"/>
                  </a:lnTo>
                  <a:lnTo>
                    <a:pt x="595626" y="528151"/>
                  </a:lnTo>
                  <a:lnTo>
                    <a:pt x="631105" y="498460"/>
                  </a:lnTo>
                  <a:lnTo>
                    <a:pt x="661381" y="464881"/>
                  </a:lnTo>
                  <a:lnTo>
                    <a:pt x="685898" y="427878"/>
                  </a:lnTo>
                  <a:lnTo>
                    <a:pt x="704099" y="387919"/>
                  </a:lnTo>
                  <a:lnTo>
                    <a:pt x="715428" y="345467"/>
                  </a:lnTo>
                  <a:lnTo>
                    <a:pt x="719328" y="300989"/>
                  </a:lnTo>
                  <a:lnTo>
                    <a:pt x="715428" y="256509"/>
                  </a:lnTo>
                  <a:lnTo>
                    <a:pt x="704099" y="214056"/>
                  </a:lnTo>
                  <a:lnTo>
                    <a:pt x="685898" y="174095"/>
                  </a:lnTo>
                  <a:lnTo>
                    <a:pt x="661381" y="137093"/>
                  </a:lnTo>
                  <a:lnTo>
                    <a:pt x="631105" y="103514"/>
                  </a:lnTo>
                  <a:lnTo>
                    <a:pt x="595626" y="73824"/>
                  </a:lnTo>
                  <a:lnTo>
                    <a:pt x="555500" y="48488"/>
                  </a:lnTo>
                  <a:lnTo>
                    <a:pt x="511285" y="27973"/>
                  </a:lnTo>
                  <a:lnTo>
                    <a:pt x="463536" y="12742"/>
                  </a:lnTo>
                  <a:lnTo>
                    <a:pt x="412810" y="3263"/>
                  </a:lnTo>
                  <a:lnTo>
                    <a:pt x="359664" y="0"/>
                  </a:lnTo>
                  <a:close/>
                </a:path>
              </a:pathLst>
            </a:custGeom>
            <a:solidFill>
              <a:srgbClr val="E7E6E6"/>
            </a:solidFill>
          </p:spPr>
          <p:txBody>
            <a:bodyPr wrap="square" lIns="0" tIns="0" rIns="0" bIns="0" rtlCol="0"/>
            <a:lstStyle/>
            <a:p>
              <a:endParaRPr/>
            </a:p>
          </p:txBody>
        </p:sp>
        <p:sp>
          <p:nvSpPr>
            <p:cNvPr id="23" name="object 23"/>
            <p:cNvSpPr/>
            <p:nvPr/>
          </p:nvSpPr>
          <p:spPr>
            <a:xfrm>
              <a:off x="1517141" y="5183885"/>
              <a:ext cx="719455" cy="601980"/>
            </a:xfrm>
            <a:custGeom>
              <a:avLst/>
              <a:gdLst/>
              <a:ahLst/>
              <a:cxnLst/>
              <a:rect l="l" t="t" r="r" b="b"/>
              <a:pathLst>
                <a:path w="719455" h="601979">
                  <a:moveTo>
                    <a:pt x="0" y="300989"/>
                  </a:moveTo>
                  <a:lnTo>
                    <a:pt x="3899" y="256509"/>
                  </a:lnTo>
                  <a:lnTo>
                    <a:pt x="15228" y="214056"/>
                  </a:lnTo>
                  <a:lnTo>
                    <a:pt x="33429" y="174095"/>
                  </a:lnTo>
                  <a:lnTo>
                    <a:pt x="57946" y="137093"/>
                  </a:lnTo>
                  <a:lnTo>
                    <a:pt x="88222" y="103514"/>
                  </a:lnTo>
                  <a:lnTo>
                    <a:pt x="123701" y="73824"/>
                  </a:lnTo>
                  <a:lnTo>
                    <a:pt x="163827" y="48488"/>
                  </a:lnTo>
                  <a:lnTo>
                    <a:pt x="208042" y="27973"/>
                  </a:lnTo>
                  <a:lnTo>
                    <a:pt x="255791" y="12742"/>
                  </a:lnTo>
                  <a:lnTo>
                    <a:pt x="306517" y="3263"/>
                  </a:lnTo>
                  <a:lnTo>
                    <a:pt x="359664" y="0"/>
                  </a:lnTo>
                  <a:lnTo>
                    <a:pt x="412810" y="3263"/>
                  </a:lnTo>
                  <a:lnTo>
                    <a:pt x="463536" y="12742"/>
                  </a:lnTo>
                  <a:lnTo>
                    <a:pt x="511285" y="27973"/>
                  </a:lnTo>
                  <a:lnTo>
                    <a:pt x="555500" y="48488"/>
                  </a:lnTo>
                  <a:lnTo>
                    <a:pt x="595626" y="73824"/>
                  </a:lnTo>
                  <a:lnTo>
                    <a:pt x="631105" y="103514"/>
                  </a:lnTo>
                  <a:lnTo>
                    <a:pt x="661381" y="137093"/>
                  </a:lnTo>
                  <a:lnTo>
                    <a:pt x="685898" y="174095"/>
                  </a:lnTo>
                  <a:lnTo>
                    <a:pt x="704099" y="214056"/>
                  </a:lnTo>
                  <a:lnTo>
                    <a:pt x="715428" y="256509"/>
                  </a:lnTo>
                  <a:lnTo>
                    <a:pt x="719328" y="300989"/>
                  </a:lnTo>
                  <a:lnTo>
                    <a:pt x="715428" y="345467"/>
                  </a:lnTo>
                  <a:lnTo>
                    <a:pt x="704099" y="387919"/>
                  </a:lnTo>
                  <a:lnTo>
                    <a:pt x="685898" y="427878"/>
                  </a:lnTo>
                  <a:lnTo>
                    <a:pt x="661381" y="464881"/>
                  </a:lnTo>
                  <a:lnTo>
                    <a:pt x="631105" y="498460"/>
                  </a:lnTo>
                  <a:lnTo>
                    <a:pt x="595626" y="528151"/>
                  </a:lnTo>
                  <a:lnTo>
                    <a:pt x="555500" y="553488"/>
                  </a:lnTo>
                  <a:lnTo>
                    <a:pt x="511285" y="574004"/>
                  </a:lnTo>
                  <a:lnTo>
                    <a:pt x="463536" y="589236"/>
                  </a:lnTo>
                  <a:lnTo>
                    <a:pt x="412810" y="598716"/>
                  </a:lnTo>
                  <a:lnTo>
                    <a:pt x="359664" y="601979"/>
                  </a:lnTo>
                  <a:lnTo>
                    <a:pt x="306517" y="598716"/>
                  </a:lnTo>
                  <a:lnTo>
                    <a:pt x="255791" y="589236"/>
                  </a:lnTo>
                  <a:lnTo>
                    <a:pt x="208042" y="574004"/>
                  </a:lnTo>
                  <a:lnTo>
                    <a:pt x="163827" y="553488"/>
                  </a:lnTo>
                  <a:lnTo>
                    <a:pt x="123701" y="528151"/>
                  </a:lnTo>
                  <a:lnTo>
                    <a:pt x="88222" y="498460"/>
                  </a:lnTo>
                  <a:lnTo>
                    <a:pt x="57946" y="464881"/>
                  </a:lnTo>
                  <a:lnTo>
                    <a:pt x="33429" y="427878"/>
                  </a:lnTo>
                  <a:lnTo>
                    <a:pt x="15228" y="387919"/>
                  </a:lnTo>
                  <a:lnTo>
                    <a:pt x="3899" y="345467"/>
                  </a:lnTo>
                  <a:lnTo>
                    <a:pt x="0" y="300989"/>
                  </a:lnTo>
                  <a:close/>
                </a:path>
              </a:pathLst>
            </a:custGeom>
            <a:ln w="25400">
              <a:solidFill>
                <a:srgbClr val="2E528F"/>
              </a:solidFill>
            </a:ln>
          </p:spPr>
          <p:txBody>
            <a:bodyPr wrap="square" lIns="0" tIns="0" rIns="0" bIns="0" rtlCol="0"/>
            <a:lstStyle/>
            <a:p>
              <a:endParaRPr/>
            </a:p>
          </p:txBody>
        </p:sp>
      </p:grpSp>
      <p:sp>
        <p:nvSpPr>
          <p:cNvPr id="24" name="object 24"/>
          <p:cNvSpPr txBox="1"/>
          <p:nvPr/>
        </p:nvSpPr>
        <p:spPr>
          <a:xfrm>
            <a:off x="1730120" y="5329173"/>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Z2</a:t>
            </a:r>
            <a:endParaRPr sz="1800">
              <a:latin typeface="Arial"/>
              <a:cs typeface="Arial"/>
            </a:endParaRPr>
          </a:p>
        </p:txBody>
      </p:sp>
      <p:grpSp>
        <p:nvGrpSpPr>
          <p:cNvPr id="25" name="object 25"/>
          <p:cNvGrpSpPr/>
          <p:nvPr/>
        </p:nvGrpSpPr>
        <p:grpSpPr>
          <a:xfrm>
            <a:off x="1504441" y="5949950"/>
            <a:ext cx="744855" cy="627380"/>
            <a:chOff x="1504441" y="5949950"/>
            <a:chExt cx="744855" cy="627380"/>
          </a:xfrm>
        </p:grpSpPr>
        <p:sp>
          <p:nvSpPr>
            <p:cNvPr id="26" name="object 26"/>
            <p:cNvSpPr/>
            <p:nvPr/>
          </p:nvSpPr>
          <p:spPr>
            <a:xfrm>
              <a:off x="1517141" y="5962650"/>
              <a:ext cx="719455" cy="601980"/>
            </a:xfrm>
            <a:custGeom>
              <a:avLst/>
              <a:gdLst/>
              <a:ahLst/>
              <a:cxnLst/>
              <a:rect l="l" t="t" r="r" b="b"/>
              <a:pathLst>
                <a:path w="719455" h="601979">
                  <a:moveTo>
                    <a:pt x="359664" y="0"/>
                  </a:moveTo>
                  <a:lnTo>
                    <a:pt x="306517" y="3263"/>
                  </a:lnTo>
                  <a:lnTo>
                    <a:pt x="255791" y="12743"/>
                  </a:lnTo>
                  <a:lnTo>
                    <a:pt x="208042" y="27975"/>
                  </a:lnTo>
                  <a:lnTo>
                    <a:pt x="163827" y="48491"/>
                  </a:lnTo>
                  <a:lnTo>
                    <a:pt x="123701" y="73828"/>
                  </a:lnTo>
                  <a:lnTo>
                    <a:pt x="88222" y="103519"/>
                  </a:lnTo>
                  <a:lnTo>
                    <a:pt x="57946" y="137098"/>
                  </a:lnTo>
                  <a:lnTo>
                    <a:pt x="33429" y="174101"/>
                  </a:lnTo>
                  <a:lnTo>
                    <a:pt x="15228" y="214060"/>
                  </a:lnTo>
                  <a:lnTo>
                    <a:pt x="3899" y="256512"/>
                  </a:lnTo>
                  <a:lnTo>
                    <a:pt x="0" y="300990"/>
                  </a:lnTo>
                  <a:lnTo>
                    <a:pt x="3899" y="345467"/>
                  </a:lnTo>
                  <a:lnTo>
                    <a:pt x="15228" y="387919"/>
                  </a:lnTo>
                  <a:lnTo>
                    <a:pt x="33429" y="427878"/>
                  </a:lnTo>
                  <a:lnTo>
                    <a:pt x="57946" y="464881"/>
                  </a:lnTo>
                  <a:lnTo>
                    <a:pt x="88222" y="498460"/>
                  </a:lnTo>
                  <a:lnTo>
                    <a:pt x="123701" y="528151"/>
                  </a:lnTo>
                  <a:lnTo>
                    <a:pt x="163827" y="553488"/>
                  </a:lnTo>
                  <a:lnTo>
                    <a:pt x="208042" y="574004"/>
                  </a:lnTo>
                  <a:lnTo>
                    <a:pt x="255791" y="589236"/>
                  </a:lnTo>
                  <a:lnTo>
                    <a:pt x="306517" y="598716"/>
                  </a:lnTo>
                  <a:lnTo>
                    <a:pt x="359664" y="601980"/>
                  </a:lnTo>
                  <a:lnTo>
                    <a:pt x="412810" y="598716"/>
                  </a:lnTo>
                  <a:lnTo>
                    <a:pt x="463536" y="589236"/>
                  </a:lnTo>
                  <a:lnTo>
                    <a:pt x="511285" y="574004"/>
                  </a:lnTo>
                  <a:lnTo>
                    <a:pt x="555500" y="553488"/>
                  </a:lnTo>
                  <a:lnTo>
                    <a:pt x="595626" y="528151"/>
                  </a:lnTo>
                  <a:lnTo>
                    <a:pt x="631105" y="498460"/>
                  </a:lnTo>
                  <a:lnTo>
                    <a:pt x="661381" y="464881"/>
                  </a:lnTo>
                  <a:lnTo>
                    <a:pt x="685898" y="427878"/>
                  </a:lnTo>
                  <a:lnTo>
                    <a:pt x="704099" y="387919"/>
                  </a:lnTo>
                  <a:lnTo>
                    <a:pt x="715428" y="345467"/>
                  </a:lnTo>
                  <a:lnTo>
                    <a:pt x="719328" y="300990"/>
                  </a:lnTo>
                  <a:lnTo>
                    <a:pt x="715428" y="256512"/>
                  </a:lnTo>
                  <a:lnTo>
                    <a:pt x="704099" y="214060"/>
                  </a:lnTo>
                  <a:lnTo>
                    <a:pt x="685898" y="174101"/>
                  </a:lnTo>
                  <a:lnTo>
                    <a:pt x="661381" y="137098"/>
                  </a:lnTo>
                  <a:lnTo>
                    <a:pt x="631105" y="103519"/>
                  </a:lnTo>
                  <a:lnTo>
                    <a:pt x="595626" y="73828"/>
                  </a:lnTo>
                  <a:lnTo>
                    <a:pt x="555500" y="48491"/>
                  </a:lnTo>
                  <a:lnTo>
                    <a:pt x="511285" y="27975"/>
                  </a:lnTo>
                  <a:lnTo>
                    <a:pt x="463536" y="12743"/>
                  </a:lnTo>
                  <a:lnTo>
                    <a:pt x="412810" y="3263"/>
                  </a:lnTo>
                  <a:lnTo>
                    <a:pt x="359664" y="0"/>
                  </a:lnTo>
                  <a:close/>
                </a:path>
              </a:pathLst>
            </a:custGeom>
            <a:solidFill>
              <a:srgbClr val="E7E6E6"/>
            </a:solidFill>
          </p:spPr>
          <p:txBody>
            <a:bodyPr wrap="square" lIns="0" tIns="0" rIns="0" bIns="0" rtlCol="0"/>
            <a:lstStyle/>
            <a:p>
              <a:endParaRPr/>
            </a:p>
          </p:txBody>
        </p:sp>
        <p:sp>
          <p:nvSpPr>
            <p:cNvPr id="27" name="object 27"/>
            <p:cNvSpPr/>
            <p:nvPr/>
          </p:nvSpPr>
          <p:spPr>
            <a:xfrm>
              <a:off x="1517141" y="5962650"/>
              <a:ext cx="719455" cy="601980"/>
            </a:xfrm>
            <a:custGeom>
              <a:avLst/>
              <a:gdLst/>
              <a:ahLst/>
              <a:cxnLst/>
              <a:rect l="l" t="t" r="r" b="b"/>
              <a:pathLst>
                <a:path w="719455" h="601979">
                  <a:moveTo>
                    <a:pt x="0" y="300990"/>
                  </a:moveTo>
                  <a:lnTo>
                    <a:pt x="3899" y="256512"/>
                  </a:lnTo>
                  <a:lnTo>
                    <a:pt x="15228" y="214060"/>
                  </a:lnTo>
                  <a:lnTo>
                    <a:pt x="33429" y="174101"/>
                  </a:lnTo>
                  <a:lnTo>
                    <a:pt x="57946" y="137098"/>
                  </a:lnTo>
                  <a:lnTo>
                    <a:pt x="88222" y="103519"/>
                  </a:lnTo>
                  <a:lnTo>
                    <a:pt x="123701" y="73828"/>
                  </a:lnTo>
                  <a:lnTo>
                    <a:pt x="163827" y="48491"/>
                  </a:lnTo>
                  <a:lnTo>
                    <a:pt x="208042" y="27975"/>
                  </a:lnTo>
                  <a:lnTo>
                    <a:pt x="255791" y="12743"/>
                  </a:lnTo>
                  <a:lnTo>
                    <a:pt x="306517" y="3263"/>
                  </a:lnTo>
                  <a:lnTo>
                    <a:pt x="359664" y="0"/>
                  </a:lnTo>
                  <a:lnTo>
                    <a:pt x="412810" y="3263"/>
                  </a:lnTo>
                  <a:lnTo>
                    <a:pt x="463536" y="12743"/>
                  </a:lnTo>
                  <a:lnTo>
                    <a:pt x="511285" y="27975"/>
                  </a:lnTo>
                  <a:lnTo>
                    <a:pt x="555500" y="48491"/>
                  </a:lnTo>
                  <a:lnTo>
                    <a:pt x="595626" y="73828"/>
                  </a:lnTo>
                  <a:lnTo>
                    <a:pt x="631105" y="103519"/>
                  </a:lnTo>
                  <a:lnTo>
                    <a:pt x="661381" y="137098"/>
                  </a:lnTo>
                  <a:lnTo>
                    <a:pt x="685898" y="174101"/>
                  </a:lnTo>
                  <a:lnTo>
                    <a:pt x="704099" y="214060"/>
                  </a:lnTo>
                  <a:lnTo>
                    <a:pt x="715428" y="256512"/>
                  </a:lnTo>
                  <a:lnTo>
                    <a:pt x="719328" y="300990"/>
                  </a:lnTo>
                  <a:lnTo>
                    <a:pt x="715428" y="345467"/>
                  </a:lnTo>
                  <a:lnTo>
                    <a:pt x="704099" y="387919"/>
                  </a:lnTo>
                  <a:lnTo>
                    <a:pt x="685898" y="427878"/>
                  </a:lnTo>
                  <a:lnTo>
                    <a:pt x="661381" y="464881"/>
                  </a:lnTo>
                  <a:lnTo>
                    <a:pt x="631105" y="498460"/>
                  </a:lnTo>
                  <a:lnTo>
                    <a:pt x="595626" y="528151"/>
                  </a:lnTo>
                  <a:lnTo>
                    <a:pt x="555500" y="553488"/>
                  </a:lnTo>
                  <a:lnTo>
                    <a:pt x="511285" y="574004"/>
                  </a:lnTo>
                  <a:lnTo>
                    <a:pt x="463536" y="589236"/>
                  </a:lnTo>
                  <a:lnTo>
                    <a:pt x="412810" y="598716"/>
                  </a:lnTo>
                  <a:lnTo>
                    <a:pt x="359664" y="601980"/>
                  </a:lnTo>
                  <a:lnTo>
                    <a:pt x="306517" y="598716"/>
                  </a:lnTo>
                  <a:lnTo>
                    <a:pt x="255791" y="589236"/>
                  </a:lnTo>
                  <a:lnTo>
                    <a:pt x="208042" y="574004"/>
                  </a:lnTo>
                  <a:lnTo>
                    <a:pt x="163827" y="553488"/>
                  </a:lnTo>
                  <a:lnTo>
                    <a:pt x="123701" y="528151"/>
                  </a:lnTo>
                  <a:lnTo>
                    <a:pt x="88222" y="498460"/>
                  </a:lnTo>
                  <a:lnTo>
                    <a:pt x="57946" y="464881"/>
                  </a:lnTo>
                  <a:lnTo>
                    <a:pt x="33429" y="427878"/>
                  </a:lnTo>
                  <a:lnTo>
                    <a:pt x="15228" y="387919"/>
                  </a:lnTo>
                  <a:lnTo>
                    <a:pt x="3899" y="345467"/>
                  </a:lnTo>
                  <a:lnTo>
                    <a:pt x="0" y="300990"/>
                  </a:lnTo>
                  <a:close/>
                </a:path>
              </a:pathLst>
            </a:custGeom>
            <a:ln w="25400">
              <a:solidFill>
                <a:srgbClr val="2E528F"/>
              </a:solidFill>
            </a:ln>
          </p:spPr>
          <p:txBody>
            <a:bodyPr wrap="square" lIns="0" tIns="0" rIns="0" bIns="0" rtlCol="0"/>
            <a:lstStyle/>
            <a:p>
              <a:endParaRPr/>
            </a:p>
          </p:txBody>
        </p:sp>
      </p:grpSp>
      <p:sp>
        <p:nvSpPr>
          <p:cNvPr id="28" name="object 28"/>
          <p:cNvSpPr txBox="1"/>
          <p:nvPr/>
        </p:nvSpPr>
        <p:spPr>
          <a:xfrm>
            <a:off x="1730120" y="6108598"/>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Z3</a:t>
            </a:r>
            <a:endParaRPr sz="1800">
              <a:latin typeface="Arial"/>
              <a:cs typeface="Arial"/>
            </a:endParaRPr>
          </a:p>
        </p:txBody>
      </p:sp>
      <p:grpSp>
        <p:nvGrpSpPr>
          <p:cNvPr id="29" name="object 29"/>
          <p:cNvGrpSpPr/>
          <p:nvPr/>
        </p:nvGrpSpPr>
        <p:grpSpPr>
          <a:xfrm>
            <a:off x="2350261" y="4404614"/>
            <a:ext cx="744855" cy="629285"/>
            <a:chOff x="2350261" y="4404614"/>
            <a:chExt cx="744855" cy="629285"/>
          </a:xfrm>
        </p:grpSpPr>
        <p:sp>
          <p:nvSpPr>
            <p:cNvPr id="30" name="object 30"/>
            <p:cNvSpPr/>
            <p:nvPr/>
          </p:nvSpPr>
          <p:spPr>
            <a:xfrm>
              <a:off x="2362961" y="4417314"/>
              <a:ext cx="719455" cy="603885"/>
            </a:xfrm>
            <a:custGeom>
              <a:avLst/>
              <a:gdLst/>
              <a:ahLst/>
              <a:cxnLst/>
              <a:rect l="l" t="t" r="r" b="b"/>
              <a:pathLst>
                <a:path w="719455" h="603885">
                  <a:moveTo>
                    <a:pt x="359663" y="0"/>
                  </a:moveTo>
                  <a:lnTo>
                    <a:pt x="306517" y="3272"/>
                  </a:lnTo>
                  <a:lnTo>
                    <a:pt x="255791" y="12778"/>
                  </a:lnTo>
                  <a:lnTo>
                    <a:pt x="208042" y="28050"/>
                  </a:lnTo>
                  <a:lnTo>
                    <a:pt x="163827" y="48621"/>
                  </a:lnTo>
                  <a:lnTo>
                    <a:pt x="123701" y="74024"/>
                  </a:lnTo>
                  <a:lnTo>
                    <a:pt x="88222" y="103792"/>
                  </a:lnTo>
                  <a:lnTo>
                    <a:pt x="57946" y="137457"/>
                  </a:lnTo>
                  <a:lnTo>
                    <a:pt x="33429" y="174553"/>
                  </a:lnTo>
                  <a:lnTo>
                    <a:pt x="15228" y="214612"/>
                  </a:lnTo>
                  <a:lnTo>
                    <a:pt x="3899" y="257167"/>
                  </a:lnTo>
                  <a:lnTo>
                    <a:pt x="0" y="301752"/>
                  </a:lnTo>
                  <a:lnTo>
                    <a:pt x="3899" y="346336"/>
                  </a:lnTo>
                  <a:lnTo>
                    <a:pt x="15228" y="388891"/>
                  </a:lnTo>
                  <a:lnTo>
                    <a:pt x="33429" y="428950"/>
                  </a:lnTo>
                  <a:lnTo>
                    <a:pt x="57946" y="466046"/>
                  </a:lnTo>
                  <a:lnTo>
                    <a:pt x="88222" y="499711"/>
                  </a:lnTo>
                  <a:lnTo>
                    <a:pt x="123701" y="529479"/>
                  </a:lnTo>
                  <a:lnTo>
                    <a:pt x="163827" y="554882"/>
                  </a:lnTo>
                  <a:lnTo>
                    <a:pt x="208042" y="575453"/>
                  </a:lnTo>
                  <a:lnTo>
                    <a:pt x="255791" y="590725"/>
                  </a:lnTo>
                  <a:lnTo>
                    <a:pt x="306517" y="600231"/>
                  </a:lnTo>
                  <a:lnTo>
                    <a:pt x="359663" y="603504"/>
                  </a:lnTo>
                  <a:lnTo>
                    <a:pt x="412810" y="600231"/>
                  </a:lnTo>
                  <a:lnTo>
                    <a:pt x="463536" y="590725"/>
                  </a:lnTo>
                  <a:lnTo>
                    <a:pt x="511285" y="575453"/>
                  </a:lnTo>
                  <a:lnTo>
                    <a:pt x="555500" y="554882"/>
                  </a:lnTo>
                  <a:lnTo>
                    <a:pt x="595626" y="529479"/>
                  </a:lnTo>
                  <a:lnTo>
                    <a:pt x="631105" y="499711"/>
                  </a:lnTo>
                  <a:lnTo>
                    <a:pt x="661381" y="466046"/>
                  </a:lnTo>
                  <a:lnTo>
                    <a:pt x="685898" y="428950"/>
                  </a:lnTo>
                  <a:lnTo>
                    <a:pt x="704099" y="388891"/>
                  </a:lnTo>
                  <a:lnTo>
                    <a:pt x="715428" y="346336"/>
                  </a:lnTo>
                  <a:lnTo>
                    <a:pt x="719327" y="301752"/>
                  </a:lnTo>
                  <a:lnTo>
                    <a:pt x="715428" y="257167"/>
                  </a:lnTo>
                  <a:lnTo>
                    <a:pt x="704099" y="214612"/>
                  </a:lnTo>
                  <a:lnTo>
                    <a:pt x="685898" y="174553"/>
                  </a:lnTo>
                  <a:lnTo>
                    <a:pt x="661381" y="137457"/>
                  </a:lnTo>
                  <a:lnTo>
                    <a:pt x="631105" y="103792"/>
                  </a:lnTo>
                  <a:lnTo>
                    <a:pt x="595626" y="74024"/>
                  </a:lnTo>
                  <a:lnTo>
                    <a:pt x="555500" y="48621"/>
                  </a:lnTo>
                  <a:lnTo>
                    <a:pt x="511285" y="28050"/>
                  </a:lnTo>
                  <a:lnTo>
                    <a:pt x="463536" y="12778"/>
                  </a:lnTo>
                  <a:lnTo>
                    <a:pt x="412810" y="3272"/>
                  </a:lnTo>
                  <a:lnTo>
                    <a:pt x="359663" y="0"/>
                  </a:lnTo>
                  <a:close/>
                </a:path>
              </a:pathLst>
            </a:custGeom>
            <a:solidFill>
              <a:srgbClr val="E7E6E6"/>
            </a:solidFill>
          </p:spPr>
          <p:txBody>
            <a:bodyPr wrap="square" lIns="0" tIns="0" rIns="0" bIns="0" rtlCol="0"/>
            <a:lstStyle/>
            <a:p>
              <a:endParaRPr/>
            </a:p>
          </p:txBody>
        </p:sp>
        <p:sp>
          <p:nvSpPr>
            <p:cNvPr id="31" name="object 31"/>
            <p:cNvSpPr/>
            <p:nvPr/>
          </p:nvSpPr>
          <p:spPr>
            <a:xfrm>
              <a:off x="2362961" y="4417314"/>
              <a:ext cx="719455" cy="603885"/>
            </a:xfrm>
            <a:custGeom>
              <a:avLst/>
              <a:gdLst/>
              <a:ahLst/>
              <a:cxnLst/>
              <a:rect l="l" t="t" r="r" b="b"/>
              <a:pathLst>
                <a:path w="719455" h="603885">
                  <a:moveTo>
                    <a:pt x="0" y="301752"/>
                  </a:moveTo>
                  <a:lnTo>
                    <a:pt x="3899" y="257167"/>
                  </a:lnTo>
                  <a:lnTo>
                    <a:pt x="15228" y="214612"/>
                  </a:lnTo>
                  <a:lnTo>
                    <a:pt x="33429" y="174553"/>
                  </a:lnTo>
                  <a:lnTo>
                    <a:pt x="57946" y="137457"/>
                  </a:lnTo>
                  <a:lnTo>
                    <a:pt x="88222" y="103792"/>
                  </a:lnTo>
                  <a:lnTo>
                    <a:pt x="123701" y="74024"/>
                  </a:lnTo>
                  <a:lnTo>
                    <a:pt x="163827" y="48621"/>
                  </a:lnTo>
                  <a:lnTo>
                    <a:pt x="208042" y="28050"/>
                  </a:lnTo>
                  <a:lnTo>
                    <a:pt x="255791" y="12778"/>
                  </a:lnTo>
                  <a:lnTo>
                    <a:pt x="306517" y="3272"/>
                  </a:lnTo>
                  <a:lnTo>
                    <a:pt x="359663" y="0"/>
                  </a:lnTo>
                  <a:lnTo>
                    <a:pt x="412810" y="3272"/>
                  </a:lnTo>
                  <a:lnTo>
                    <a:pt x="463536" y="12778"/>
                  </a:lnTo>
                  <a:lnTo>
                    <a:pt x="511285" y="28050"/>
                  </a:lnTo>
                  <a:lnTo>
                    <a:pt x="555500" y="48621"/>
                  </a:lnTo>
                  <a:lnTo>
                    <a:pt x="595626" y="74024"/>
                  </a:lnTo>
                  <a:lnTo>
                    <a:pt x="631105" y="103792"/>
                  </a:lnTo>
                  <a:lnTo>
                    <a:pt x="661381" y="137457"/>
                  </a:lnTo>
                  <a:lnTo>
                    <a:pt x="685898" y="174553"/>
                  </a:lnTo>
                  <a:lnTo>
                    <a:pt x="704099" y="214612"/>
                  </a:lnTo>
                  <a:lnTo>
                    <a:pt x="715428" y="257167"/>
                  </a:lnTo>
                  <a:lnTo>
                    <a:pt x="719327" y="301752"/>
                  </a:lnTo>
                  <a:lnTo>
                    <a:pt x="715428" y="346336"/>
                  </a:lnTo>
                  <a:lnTo>
                    <a:pt x="704099" y="388891"/>
                  </a:lnTo>
                  <a:lnTo>
                    <a:pt x="685898" y="428950"/>
                  </a:lnTo>
                  <a:lnTo>
                    <a:pt x="661381" y="466046"/>
                  </a:lnTo>
                  <a:lnTo>
                    <a:pt x="631105" y="499711"/>
                  </a:lnTo>
                  <a:lnTo>
                    <a:pt x="595626" y="529479"/>
                  </a:lnTo>
                  <a:lnTo>
                    <a:pt x="555500" y="554882"/>
                  </a:lnTo>
                  <a:lnTo>
                    <a:pt x="511285" y="575453"/>
                  </a:lnTo>
                  <a:lnTo>
                    <a:pt x="463536" y="590725"/>
                  </a:lnTo>
                  <a:lnTo>
                    <a:pt x="412810" y="600231"/>
                  </a:lnTo>
                  <a:lnTo>
                    <a:pt x="359663" y="603504"/>
                  </a:lnTo>
                  <a:lnTo>
                    <a:pt x="306517" y="600231"/>
                  </a:lnTo>
                  <a:lnTo>
                    <a:pt x="255791" y="590725"/>
                  </a:lnTo>
                  <a:lnTo>
                    <a:pt x="208042" y="575453"/>
                  </a:lnTo>
                  <a:lnTo>
                    <a:pt x="163827" y="554882"/>
                  </a:lnTo>
                  <a:lnTo>
                    <a:pt x="123701" y="529479"/>
                  </a:lnTo>
                  <a:lnTo>
                    <a:pt x="88222" y="499711"/>
                  </a:lnTo>
                  <a:lnTo>
                    <a:pt x="57946" y="466046"/>
                  </a:lnTo>
                  <a:lnTo>
                    <a:pt x="33429" y="428950"/>
                  </a:lnTo>
                  <a:lnTo>
                    <a:pt x="15228" y="388891"/>
                  </a:lnTo>
                  <a:lnTo>
                    <a:pt x="3899" y="346336"/>
                  </a:lnTo>
                  <a:lnTo>
                    <a:pt x="0" y="301752"/>
                  </a:lnTo>
                  <a:close/>
                </a:path>
              </a:pathLst>
            </a:custGeom>
            <a:ln w="25399">
              <a:solidFill>
                <a:srgbClr val="2E528F"/>
              </a:solidFill>
            </a:ln>
          </p:spPr>
          <p:txBody>
            <a:bodyPr wrap="square" lIns="0" tIns="0" rIns="0" bIns="0" rtlCol="0"/>
            <a:lstStyle/>
            <a:p>
              <a:endParaRPr/>
            </a:p>
          </p:txBody>
        </p:sp>
      </p:grpSp>
      <p:sp>
        <p:nvSpPr>
          <p:cNvPr id="32" name="object 32"/>
          <p:cNvSpPr txBox="1"/>
          <p:nvPr/>
        </p:nvSpPr>
        <p:spPr>
          <a:xfrm>
            <a:off x="2569210" y="4563617"/>
            <a:ext cx="3054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A1</a:t>
            </a:r>
            <a:endParaRPr sz="1800">
              <a:latin typeface="Arial"/>
              <a:cs typeface="Arial"/>
            </a:endParaRPr>
          </a:p>
        </p:txBody>
      </p:sp>
      <p:grpSp>
        <p:nvGrpSpPr>
          <p:cNvPr id="33" name="object 33"/>
          <p:cNvGrpSpPr/>
          <p:nvPr/>
        </p:nvGrpSpPr>
        <p:grpSpPr>
          <a:xfrm>
            <a:off x="2350261" y="5171185"/>
            <a:ext cx="744855" cy="627380"/>
            <a:chOff x="2350261" y="5171185"/>
            <a:chExt cx="744855" cy="627380"/>
          </a:xfrm>
        </p:grpSpPr>
        <p:sp>
          <p:nvSpPr>
            <p:cNvPr id="34" name="object 34"/>
            <p:cNvSpPr/>
            <p:nvPr/>
          </p:nvSpPr>
          <p:spPr>
            <a:xfrm>
              <a:off x="2362961" y="5183885"/>
              <a:ext cx="719455" cy="601980"/>
            </a:xfrm>
            <a:custGeom>
              <a:avLst/>
              <a:gdLst/>
              <a:ahLst/>
              <a:cxnLst/>
              <a:rect l="l" t="t" r="r" b="b"/>
              <a:pathLst>
                <a:path w="719455" h="601979">
                  <a:moveTo>
                    <a:pt x="359663" y="0"/>
                  </a:moveTo>
                  <a:lnTo>
                    <a:pt x="306517" y="3263"/>
                  </a:lnTo>
                  <a:lnTo>
                    <a:pt x="255791" y="12742"/>
                  </a:lnTo>
                  <a:lnTo>
                    <a:pt x="208042" y="27973"/>
                  </a:lnTo>
                  <a:lnTo>
                    <a:pt x="163827" y="48488"/>
                  </a:lnTo>
                  <a:lnTo>
                    <a:pt x="123701" y="73824"/>
                  </a:lnTo>
                  <a:lnTo>
                    <a:pt x="88222" y="103514"/>
                  </a:lnTo>
                  <a:lnTo>
                    <a:pt x="57946" y="137093"/>
                  </a:lnTo>
                  <a:lnTo>
                    <a:pt x="33429" y="174095"/>
                  </a:lnTo>
                  <a:lnTo>
                    <a:pt x="15228" y="214056"/>
                  </a:lnTo>
                  <a:lnTo>
                    <a:pt x="3899" y="256509"/>
                  </a:lnTo>
                  <a:lnTo>
                    <a:pt x="0" y="300989"/>
                  </a:lnTo>
                  <a:lnTo>
                    <a:pt x="3899" y="345467"/>
                  </a:lnTo>
                  <a:lnTo>
                    <a:pt x="15228" y="387919"/>
                  </a:lnTo>
                  <a:lnTo>
                    <a:pt x="33429" y="427878"/>
                  </a:lnTo>
                  <a:lnTo>
                    <a:pt x="57946" y="464881"/>
                  </a:lnTo>
                  <a:lnTo>
                    <a:pt x="88222" y="498460"/>
                  </a:lnTo>
                  <a:lnTo>
                    <a:pt x="123701" y="528151"/>
                  </a:lnTo>
                  <a:lnTo>
                    <a:pt x="163827" y="553488"/>
                  </a:lnTo>
                  <a:lnTo>
                    <a:pt x="208042" y="574004"/>
                  </a:lnTo>
                  <a:lnTo>
                    <a:pt x="255791" y="589236"/>
                  </a:lnTo>
                  <a:lnTo>
                    <a:pt x="306517" y="598716"/>
                  </a:lnTo>
                  <a:lnTo>
                    <a:pt x="359663" y="601979"/>
                  </a:lnTo>
                  <a:lnTo>
                    <a:pt x="412810" y="598716"/>
                  </a:lnTo>
                  <a:lnTo>
                    <a:pt x="463536" y="589236"/>
                  </a:lnTo>
                  <a:lnTo>
                    <a:pt x="511285" y="574004"/>
                  </a:lnTo>
                  <a:lnTo>
                    <a:pt x="555500" y="553488"/>
                  </a:lnTo>
                  <a:lnTo>
                    <a:pt x="595626" y="528151"/>
                  </a:lnTo>
                  <a:lnTo>
                    <a:pt x="631105" y="498460"/>
                  </a:lnTo>
                  <a:lnTo>
                    <a:pt x="661381" y="464881"/>
                  </a:lnTo>
                  <a:lnTo>
                    <a:pt x="685898" y="427878"/>
                  </a:lnTo>
                  <a:lnTo>
                    <a:pt x="704099" y="387919"/>
                  </a:lnTo>
                  <a:lnTo>
                    <a:pt x="715428" y="345467"/>
                  </a:lnTo>
                  <a:lnTo>
                    <a:pt x="719327" y="300989"/>
                  </a:lnTo>
                  <a:lnTo>
                    <a:pt x="715428" y="256509"/>
                  </a:lnTo>
                  <a:lnTo>
                    <a:pt x="704099" y="214056"/>
                  </a:lnTo>
                  <a:lnTo>
                    <a:pt x="685898" y="174095"/>
                  </a:lnTo>
                  <a:lnTo>
                    <a:pt x="661381" y="137093"/>
                  </a:lnTo>
                  <a:lnTo>
                    <a:pt x="631105" y="103514"/>
                  </a:lnTo>
                  <a:lnTo>
                    <a:pt x="595626" y="73824"/>
                  </a:lnTo>
                  <a:lnTo>
                    <a:pt x="555500" y="48488"/>
                  </a:lnTo>
                  <a:lnTo>
                    <a:pt x="511285" y="27973"/>
                  </a:lnTo>
                  <a:lnTo>
                    <a:pt x="463536" y="12742"/>
                  </a:lnTo>
                  <a:lnTo>
                    <a:pt x="412810" y="3263"/>
                  </a:lnTo>
                  <a:lnTo>
                    <a:pt x="359663" y="0"/>
                  </a:lnTo>
                  <a:close/>
                </a:path>
              </a:pathLst>
            </a:custGeom>
            <a:solidFill>
              <a:srgbClr val="E7E6E6"/>
            </a:solidFill>
          </p:spPr>
          <p:txBody>
            <a:bodyPr wrap="square" lIns="0" tIns="0" rIns="0" bIns="0" rtlCol="0"/>
            <a:lstStyle/>
            <a:p>
              <a:endParaRPr/>
            </a:p>
          </p:txBody>
        </p:sp>
        <p:sp>
          <p:nvSpPr>
            <p:cNvPr id="35" name="object 35"/>
            <p:cNvSpPr/>
            <p:nvPr/>
          </p:nvSpPr>
          <p:spPr>
            <a:xfrm>
              <a:off x="2362961" y="5183885"/>
              <a:ext cx="719455" cy="601980"/>
            </a:xfrm>
            <a:custGeom>
              <a:avLst/>
              <a:gdLst/>
              <a:ahLst/>
              <a:cxnLst/>
              <a:rect l="l" t="t" r="r" b="b"/>
              <a:pathLst>
                <a:path w="719455" h="601979">
                  <a:moveTo>
                    <a:pt x="0" y="300989"/>
                  </a:moveTo>
                  <a:lnTo>
                    <a:pt x="3899" y="256509"/>
                  </a:lnTo>
                  <a:lnTo>
                    <a:pt x="15228" y="214056"/>
                  </a:lnTo>
                  <a:lnTo>
                    <a:pt x="33429" y="174095"/>
                  </a:lnTo>
                  <a:lnTo>
                    <a:pt x="57946" y="137093"/>
                  </a:lnTo>
                  <a:lnTo>
                    <a:pt x="88222" y="103514"/>
                  </a:lnTo>
                  <a:lnTo>
                    <a:pt x="123701" y="73824"/>
                  </a:lnTo>
                  <a:lnTo>
                    <a:pt x="163827" y="48488"/>
                  </a:lnTo>
                  <a:lnTo>
                    <a:pt x="208042" y="27973"/>
                  </a:lnTo>
                  <a:lnTo>
                    <a:pt x="255791" y="12742"/>
                  </a:lnTo>
                  <a:lnTo>
                    <a:pt x="306517" y="3263"/>
                  </a:lnTo>
                  <a:lnTo>
                    <a:pt x="359663" y="0"/>
                  </a:lnTo>
                  <a:lnTo>
                    <a:pt x="412810" y="3263"/>
                  </a:lnTo>
                  <a:lnTo>
                    <a:pt x="463536" y="12742"/>
                  </a:lnTo>
                  <a:lnTo>
                    <a:pt x="511285" y="27973"/>
                  </a:lnTo>
                  <a:lnTo>
                    <a:pt x="555500" y="48488"/>
                  </a:lnTo>
                  <a:lnTo>
                    <a:pt x="595626" y="73824"/>
                  </a:lnTo>
                  <a:lnTo>
                    <a:pt x="631105" y="103514"/>
                  </a:lnTo>
                  <a:lnTo>
                    <a:pt x="661381" y="137093"/>
                  </a:lnTo>
                  <a:lnTo>
                    <a:pt x="685898" y="174095"/>
                  </a:lnTo>
                  <a:lnTo>
                    <a:pt x="704099" y="214056"/>
                  </a:lnTo>
                  <a:lnTo>
                    <a:pt x="715428" y="256509"/>
                  </a:lnTo>
                  <a:lnTo>
                    <a:pt x="719327" y="300989"/>
                  </a:lnTo>
                  <a:lnTo>
                    <a:pt x="715428" y="345467"/>
                  </a:lnTo>
                  <a:lnTo>
                    <a:pt x="704099" y="387919"/>
                  </a:lnTo>
                  <a:lnTo>
                    <a:pt x="685898" y="427878"/>
                  </a:lnTo>
                  <a:lnTo>
                    <a:pt x="661381" y="464881"/>
                  </a:lnTo>
                  <a:lnTo>
                    <a:pt x="631105" y="498460"/>
                  </a:lnTo>
                  <a:lnTo>
                    <a:pt x="595626" y="528151"/>
                  </a:lnTo>
                  <a:lnTo>
                    <a:pt x="555500" y="553488"/>
                  </a:lnTo>
                  <a:lnTo>
                    <a:pt x="511285" y="574004"/>
                  </a:lnTo>
                  <a:lnTo>
                    <a:pt x="463536" y="589236"/>
                  </a:lnTo>
                  <a:lnTo>
                    <a:pt x="412810" y="598716"/>
                  </a:lnTo>
                  <a:lnTo>
                    <a:pt x="359663" y="601979"/>
                  </a:lnTo>
                  <a:lnTo>
                    <a:pt x="306517" y="598716"/>
                  </a:lnTo>
                  <a:lnTo>
                    <a:pt x="255791" y="589236"/>
                  </a:lnTo>
                  <a:lnTo>
                    <a:pt x="208042" y="574004"/>
                  </a:lnTo>
                  <a:lnTo>
                    <a:pt x="163827" y="553488"/>
                  </a:lnTo>
                  <a:lnTo>
                    <a:pt x="123701" y="528151"/>
                  </a:lnTo>
                  <a:lnTo>
                    <a:pt x="88222" y="498460"/>
                  </a:lnTo>
                  <a:lnTo>
                    <a:pt x="57946" y="464881"/>
                  </a:lnTo>
                  <a:lnTo>
                    <a:pt x="33429" y="427878"/>
                  </a:lnTo>
                  <a:lnTo>
                    <a:pt x="15228" y="387919"/>
                  </a:lnTo>
                  <a:lnTo>
                    <a:pt x="3899" y="345467"/>
                  </a:lnTo>
                  <a:lnTo>
                    <a:pt x="0" y="300989"/>
                  </a:lnTo>
                  <a:close/>
                </a:path>
              </a:pathLst>
            </a:custGeom>
            <a:ln w="25400">
              <a:solidFill>
                <a:srgbClr val="2E528F"/>
              </a:solidFill>
            </a:ln>
          </p:spPr>
          <p:txBody>
            <a:bodyPr wrap="square" lIns="0" tIns="0" rIns="0" bIns="0" rtlCol="0"/>
            <a:lstStyle/>
            <a:p>
              <a:endParaRPr/>
            </a:p>
          </p:txBody>
        </p:sp>
      </p:grpSp>
      <p:sp>
        <p:nvSpPr>
          <p:cNvPr id="36" name="object 36"/>
          <p:cNvSpPr txBox="1"/>
          <p:nvPr/>
        </p:nvSpPr>
        <p:spPr>
          <a:xfrm>
            <a:off x="2569210" y="5329173"/>
            <a:ext cx="3054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A2</a:t>
            </a:r>
            <a:endParaRPr sz="1800">
              <a:latin typeface="Arial"/>
              <a:cs typeface="Arial"/>
            </a:endParaRPr>
          </a:p>
        </p:txBody>
      </p:sp>
      <p:sp>
        <p:nvSpPr>
          <p:cNvPr id="37" name="object 37"/>
          <p:cNvSpPr/>
          <p:nvPr/>
        </p:nvSpPr>
        <p:spPr>
          <a:xfrm>
            <a:off x="2566416" y="6225540"/>
            <a:ext cx="992505" cy="76200"/>
          </a:xfrm>
          <a:custGeom>
            <a:avLst/>
            <a:gdLst/>
            <a:ahLst/>
            <a:cxnLst/>
            <a:rect l="l" t="t" r="r" b="b"/>
            <a:pathLst>
              <a:path w="992504" h="76200">
                <a:moveTo>
                  <a:pt x="916050" y="0"/>
                </a:moveTo>
                <a:lnTo>
                  <a:pt x="916050" y="76200"/>
                </a:lnTo>
                <a:lnTo>
                  <a:pt x="979550" y="44450"/>
                </a:lnTo>
                <a:lnTo>
                  <a:pt x="928750" y="44450"/>
                </a:lnTo>
                <a:lnTo>
                  <a:pt x="928750" y="31750"/>
                </a:lnTo>
                <a:lnTo>
                  <a:pt x="979550" y="31750"/>
                </a:lnTo>
                <a:lnTo>
                  <a:pt x="916050" y="0"/>
                </a:lnTo>
                <a:close/>
              </a:path>
              <a:path w="992504" h="76200">
                <a:moveTo>
                  <a:pt x="916050" y="31750"/>
                </a:moveTo>
                <a:lnTo>
                  <a:pt x="0" y="31750"/>
                </a:lnTo>
                <a:lnTo>
                  <a:pt x="0" y="44450"/>
                </a:lnTo>
                <a:lnTo>
                  <a:pt x="916050" y="44450"/>
                </a:lnTo>
                <a:lnTo>
                  <a:pt x="916050" y="31750"/>
                </a:lnTo>
                <a:close/>
              </a:path>
              <a:path w="992504" h="76200">
                <a:moveTo>
                  <a:pt x="979550" y="31750"/>
                </a:moveTo>
                <a:lnTo>
                  <a:pt x="928750" y="31750"/>
                </a:lnTo>
                <a:lnTo>
                  <a:pt x="928750" y="44450"/>
                </a:lnTo>
                <a:lnTo>
                  <a:pt x="979550" y="44450"/>
                </a:lnTo>
                <a:lnTo>
                  <a:pt x="992250" y="38100"/>
                </a:lnTo>
                <a:lnTo>
                  <a:pt x="979550" y="31750"/>
                </a:lnTo>
                <a:close/>
              </a:path>
            </a:pathLst>
          </a:custGeom>
          <a:solidFill>
            <a:srgbClr val="EB792B"/>
          </a:solid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4.1.C</a:t>
            </a:r>
            <a:r>
              <a:rPr spc="-120" dirty="0"/>
              <a:t> </a:t>
            </a:r>
            <a:r>
              <a:rPr b="0" dirty="0">
                <a:latin typeface="Calibri"/>
                <a:cs typeface="Calibri"/>
              </a:rPr>
              <a:t>Perception</a:t>
            </a:r>
            <a:r>
              <a:rPr b="0" spc="-100" dirty="0">
                <a:latin typeface="Calibri"/>
                <a:cs typeface="Calibri"/>
              </a:rPr>
              <a:t> </a:t>
            </a:r>
            <a:r>
              <a:rPr b="0" dirty="0">
                <a:latin typeface="Calibri"/>
                <a:cs typeface="Calibri"/>
              </a:rPr>
              <a:t>w/</a:t>
            </a:r>
            <a:r>
              <a:rPr b="0" spc="-65" dirty="0">
                <a:latin typeface="Calibri"/>
                <a:cs typeface="Calibri"/>
              </a:rPr>
              <a:t> </a:t>
            </a:r>
            <a:r>
              <a:rPr b="0" dirty="0">
                <a:latin typeface="Calibri"/>
                <a:cs typeface="Calibri"/>
              </a:rPr>
              <a:t>Graphical</a:t>
            </a:r>
            <a:r>
              <a:rPr b="0" spc="-85" dirty="0">
                <a:latin typeface="Calibri"/>
                <a:cs typeface="Calibri"/>
              </a:rPr>
              <a:t> </a:t>
            </a:r>
            <a:r>
              <a:rPr b="0" dirty="0">
                <a:latin typeface="Calibri"/>
                <a:cs typeface="Calibri"/>
              </a:rPr>
              <a:t>Models</a:t>
            </a:r>
            <a:r>
              <a:rPr b="0" spc="-90" dirty="0">
                <a:latin typeface="Calibri"/>
                <a:cs typeface="Calibri"/>
              </a:rPr>
              <a:t> </a:t>
            </a:r>
            <a:r>
              <a:rPr b="0" dirty="0">
                <a:latin typeface="Calibri"/>
                <a:cs typeface="Calibri"/>
              </a:rPr>
              <a:t>[2</a:t>
            </a:r>
            <a:r>
              <a:rPr b="0" spc="-80" dirty="0">
                <a:latin typeface="Calibri"/>
                <a:cs typeface="Calibri"/>
              </a:rPr>
              <a:t> </a:t>
            </a:r>
            <a:r>
              <a:rPr b="0" spc="-20" dirty="0">
                <a:latin typeface="Calibri"/>
                <a:cs typeface="Calibri"/>
              </a:rPr>
              <a:t>pts]</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2700" algn="just">
              <a:lnSpc>
                <a:spcPct val="100000"/>
              </a:lnSpc>
              <a:spcBef>
                <a:spcPts val="100"/>
              </a:spcBef>
            </a:pPr>
            <a:r>
              <a:rPr dirty="0"/>
              <a:t>Given</a:t>
            </a:r>
            <a:r>
              <a:rPr spc="-20" dirty="0"/>
              <a:t> </a:t>
            </a:r>
            <a:r>
              <a:rPr dirty="0"/>
              <a:t>the</a:t>
            </a:r>
            <a:r>
              <a:rPr spc="-15" dirty="0"/>
              <a:t> </a:t>
            </a:r>
            <a:r>
              <a:rPr dirty="0"/>
              <a:t>DBN from</a:t>
            </a:r>
            <a:r>
              <a:rPr spc="-15" dirty="0"/>
              <a:t> </a:t>
            </a:r>
            <a:r>
              <a:rPr dirty="0"/>
              <a:t>the</a:t>
            </a:r>
            <a:r>
              <a:rPr spc="-15" dirty="0"/>
              <a:t> </a:t>
            </a:r>
            <a:r>
              <a:rPr spc="-10" dirty="0"/>
              <a:t>textbook,</a:t>
            </a:r>
          </a:p>
          <a:p>
            <a:pPr marL="355600" marR="5080" indent="-342900" algn="just">
              <a:lnSpc>
                <a:spcPct val="100000"/>
              </a:lnSpc>
              <a:buChar char="•"/>
              <a:tabLst>
                <a:tab pos="355600" algn="l"/>
              </a:tabLst>
            </a:pPr>
            <a:r>
              <a:rPr dirty="0"/>
              <a:t>If</a:t>
            </a:r>
            <a:r>
              <a:rPr spc="-35" dirty="0"/>
              <a:t> </a:t>
            </a:r>
            <a:r>
              <a:rPr dirty="0"/>
              <a:t>the</a:t>
            </a:r>
            <a:r>
              <a:rPr spc="-35" dirty="0"/>
              <a:t> </a:t>
            </a:r>
            <a:r>
              <a:rPr dirty="0"/>
              <a:t>actions</a:t>
            </a:r>
            <a:r>
              <a:rPr spc="-20" dirty="0"/>
              <a:t> </a:t>
            </a:r>
            <a:r>
              <a:rPr dirty="0"/>
              <a:t>and</a:t>
            </a:r>
            <a:r>
              <a:rPr spc="-25" dirty="0"/>
              <a:t> </a:t>
            </a:r>
            <a:r>
              <a:rPr dirty="0"/>
              <a:t>the</a:t>
            </a:r>
            <a:r>
              <a:rPr spc="-35" dirty="0"/>
              <a:t> </a:t>
            </a:r>
            <a:r>
              <a:rPr dirty="0"/>
              <a:t>measurements are</a:t>
            </a:r>
            <a:r>
              <a:rPr spc="-35" dirty="0"/>
              <a:t> </a:t>
            </a:r>
            <a:r>
              <a:rPr dirty="0"/>
              <a:t>unknown,</a:t>
            </a:r>
            <a:r>
              <a:rPr spc="15" dirty="0"/>
              <a:t> </a:t>
            </a:r>
            <a:r>
              <a:rPr dirty="0"/>
              <a:t>but</a:t>
            </a:r>
            <a:r>
              <a:rPr spc="-20" dirty="0"/>
              <a:t> </a:t>
            </a:r>
            <a:r>
              <a:rPr lang="en-US" dirty="0"/>
              <a:t>state series is known</a:t>
            </a:r>
            <a:r>
              <a:rPr dirty="0"/>
              <a:t>,</a:t>
            </a:r>
            <a:r>
              <a:rPr spc="10" dirty="0"/>
              <a:t> </a:t>
            </a:r>
            <a:r>
              <a:rPr dirty="0"/>
              <a:t>what</a:t>
            </a:r>
            <a:r>
              <a:rPr spc="25" dirty="0"/>
              <a:t> </a:t>
            </a:r>
            <a:r>
              <a:rPr dirty="0"/>
              <a:t>does</a:t>
            </a:r>
            <a:r>
              <a:rPr spc="-25" dirty="0"/>
              <a:t> </a:t>
            </a:r>
            <a:r>
              <a:rPr dirty="0"/>
              <a:t>the</a:t>
            </a:r>
            <a:r>
              <a:rPr spc="-30" dirty="0"/>
              <a:t> </a:t>
            </a:r>
            <a:r>
              <a:rPr dirty="0"/>
              <a:t>factor</a:t>
            </a:r>
            <a:r>
              <a:rPr spc="-25" dirty="0"/>
              <a:t> </a:t>
            </a:r>
            <a:r>
              <a:rPr dirty="0"/>
              <a:t>graph</a:t>
            </a:r>
            <a:r>
              <a:rPr spc="-15" dirty="0"/>
              <a:t> </a:t>
            </a:r>
            <a:r>
              <a:rPr dirty="0"/>
              <a:t>look</a:t>
            </a:r>
            <a:r>
              <a:rPr spc="-20" dirty="0"/>
              <a:t> </a:t>
            </a:r>
            <a:r>
              <a:rPr dirty="0"/>
              <a:t>like?</a:t>
            </a:r>
            <a:r>
              <a:rPr spc="-20" dirty="0"/>
              <a:t> </a:t>
            </a:r>
            <a:r>
              <a:rPr dirty="0"/>
              <a:t>Do</a:t>
            </a:r>
            <a:r>
              <a:rPr spc="-30" dirty="0"/>
              <a:t> </a:t>
            </a:r>
            <a:r>
              <a:rPr dirty="0"/>
              <a:t>you</a:t>
            </a:r>
            <a:r>
              <a:rPr spc="-10" dirty="0"/>
              <a:t> </a:t>
            </a:r>
            <a:r>
              <a:rPr dirty="0"/>
              <a:t>observe</a:t>
            </a:r>
            <a:r>
              <a:rPr spc="-20" dirty="0"/>
              <a:t> </a:t>
            </a:r>
            <a:r>
              <a:rPr spc="-25" dirty="0"/>
              <a:t>any </a:t>
            </a:r>
            <a:r>
              <a:rPr dirty="0"/>
              <a:t>direct</a:t>
            </a:r>
            <a:r>
              <a:rPr spc="-20" dirty="0"/>
              <a:t> </a:t>
            </a:r>
            <a:r>
              <a:rPr dirty="0"/>
              <a:t>findings</a:t>
            </a:r>
            <a:r>
              <a:rPr spc="5" dirty="0"/>
              <a:t> </a:t>
            </a:r>
            <a:r>
              <a:rPr dirty="0"/>
              <a:t>from</a:t>
            </a:r>
            <a:r>
              <a:rPr spc="-25" dirty="0"/>
              <a:t> </a:t>
            </a:r>
            <a:r>
              <a:rPr dirty="0"/>
              <a:t>the</a:t>
            </a:r>
            <a:r>
              <a:rPr spc="-30" dirty="0"/>
              <a:t> </a:t>
            </a:r>
            <a:r>
              <a:rPr dirty="0"/>
              <a:t>factor</a:t>
            </a:r>
            <a:r>
              <a:rPr spc="-20" dirty="0"/>
              <a:t> </a:t>
            </a:r>
            <a:r>
              <a:rPr spc="-10" dirty="0"/>
              <a:t>graph?</a:t>
            </a:r>
          </a:p>
          <a:p>
            <a:pPr marL="193675">
              <a:lnSpc>
                <a:spcPct val="100000"/>
              </a:lnSpc>
              <a:spcBef>
                <a:spcPts val="1610"/>
              </a:spcBef>
            </a:pPr>
            <a:r>
              <a:rPr sz="1500" spc="-10" dirty="0">
                <a:solidFill>
                  <a:srgbClr val="808080"/>
                </a:solidFill>
                <a:latin typeface="Calibri"/>
                <a:cs typeface="Calibri"/>
              </a:rPr>
              <a:t>&lt;Create</a:t>
            </a:r>
            <a:r>
              <a:rPr sz="1500" spc="-45" dirty="0">
                <a:solidFill>
                  <a:srgbClr val="808080"/>
                </a:solidFill>
                <a:latin typeface="Calibri"/>
                <a:cs typeface="Calibri"/>
              </a:rPr>
              <a:t> </a:t>
            </a:r>
            <a:r>
              <a:rPr sz="1500" dirty="0">
                <a:solidFill>
                  <a:srgbClr val="808080"/>
                </a:solidFill>
                <a:latin typeface="Calibri"/>
                <a:cs typeface="Calibri"/>
              </a:rPr>
              <a:t>the</a:t>
            </a:r>
            <a:r>
              <a:rPr sz="1500" spc="-30" dirty="0">
                <a:solidFill>
                  <a:srgbClr val="808080"/>
                </a:solidFill>
                <a:latin typeface="Calibri"/>
                <a:cs typeface="Calibri"/>
              </a:rPr>
              <a:t> </a:t>
            </a:r>
            <a:r>
              <a:rPr sz="1500" dirty="0">
                <a:solidFill>
                  <a:srgbClr val="808080"/>
                </a:solidFill>
                <a:latin typeface="Calibri"/>
                <a:cs typeface="Calibri"/>
              </a:rPr>
              <a:t>factor</a:t>
            </a:r>
            <a:r>
              <a:rPr sz="1500" spc="-50" dirty="0">
                <a:solidFill>
                  <a:srgbClr val="808080"/>
                </a:solidFill>
                <a:latin typeface="Calibri"/>
                <a:cs typeface="Calibri"/>
              </a:rPr>
              <a:t> </a:t>
            </a:r>
            <a:r>
              <a:rPr sz="1500" dirty="0">
                <a:solidFill>
                  <a:srgbClr val="808080"/>
                </a:solidFill>
                <a:latin typeface="Calibri"/>
                <a:cs typeface="Calibri"/>
              </a:rPr>
              <a:t>graph</a:t>
            </a:r>
            <a:r>
              <a:rPr sz="1500" spc="-45" dirty="0">
                <a:solidFill>
                  <a:srgbClr val="808080"/>
                </a:solidFill>
                <a:latin typeface="Calibri"/>
                <a:cs typeface="Calibri"/>
              </a:rPr>
              <a:t> </a:t>
            </a:r>
            <a:r>
              <a:rPr sz="1500" dirty="0">
                <a:solidFill>
                  <a:srgbClr val="808080"/>
                </a:solidFill>
                <a:latin typeface="Calibri"/>
                <a:cs typeface="Calibri"/>
              </a:rPr>
              <a:t>here.</a:t>
            </a:r>
            <a:r>
              <a:rPr sz="1500" spc="-45" dirty="0">
                <a:solidFill>
                  <a:srgbClr val="808080"/>
                </a:solidFill>
                <a:latin typeface="Calibri"/>
                <a:cs typeface="Calibri"/>
              </a:rPr>
              <a:t> </a:t>
            </a:r>
            <a:r>
              <a:rPr sz="1500" spc="-10" dirty="0">
                <a:solidFill>
                  <a:srgbClr val="808080"/>
                </a:solidFill>
                <a:latin typeface="Calibri"/>
                <a:cs typeface="Calibri"/>
              </a:rPr>
              <a:t>Replace</a:t>
            </a:r>
            <a:r>
              <a:rPr sz="1500" spc="-45" dirty="0">
                <a:solidFill>
                  <a:srgbClr val="808080"/>
                </a:solidFill>
                <a:latin typeface="Calibri"/>
                <a:cs typeface="Calibri"/>
              </a:rPr>
              <a:t> </a:t>
            </a:r>
            <a:r>
              <a:rPr sz="1500" dirty="0">
                <a:solidFill>
                  <a:srgbClr val="808080"/>
                </a:solidFill>
                <a:latin typeface="Calibri"/>
                <a:cs typeface="Calibri"/>
              </a:rPr>
              <a:t>the</a:t>
            </a:r>
            <a:r>
              <a:rPr sz="1500" spc="-30" dirty="0">
                <a:solidFill>
                  <a:srgbClr val="808080"/>
                </a:solidFill>
                <a:latin typeface="Calibri"/>
                <a:cs typeface="Calibri"/>
              </a:rPr>
              <a:t> </a:t>
            </a:r>
            <a:r>
              <a:rPr sz="1500" dirty="0">
                <a:solidFill>
                  <a:srgbClr val="808080"/>
                </a:solidFill>
                <a:latin typeface="Calibri"/>
                <a:cs typeface="Calibri"/>
              </a:rPr>
              <a:t>text</a:t>
            </a:r>
            <a:r>
              <a:rPr sz="1500" spc="-35" dirty="0">
                <a:solidFill>
                  <a:srgbClr val="808080"/>
                </a:solidFill>
                <a:latin typeface="Calibri"/>
                <a:cs typeface="Calibri"/>
              </a:rPr>
              <a:t> </a:t>
            </a:r>
            <a:r>
              <a:rPr sz="1500" dirty="0">
                <a:solidFill>
                  <a:srgbClr val="808080"/>
                </a:solidFill>
                <a:latin typeface="Calibri"/>
                <a:cs typeface="Calibri"/>
              </a:rPr>
              <a:t>here</a:t>
            </a:r>
            <a:r>
              <a:rPr sz="1500" spc="-35" dirty="0">
                <a:solidFill>
                  <a:srgbClr val="808080"/>
                </a:solidFill>
                <a:latin typeface="Calibri"/>
                <a:cs typeface="Calibri"/>
              </a:rPr>
              <a:t> </a:t>
            </a:r>
            <a:r>
              <a:rPr sz="1500" dirty="0">
                <a:solidFill>
                  <a:srgbClr val="808080"/>
                </a:solidFill>
                <a:latin typeface="Calibri"/>
                <a:cs typeface="Calibri"/>
              </a:rPr>
              <a:t>with</a:t>
            </a:r>
            <a:r>
              <a:rPr sz="1500" spc="-30" dirty="0">
                <a:solidFill>
                  <a:srgbClr val="808080"/>
                </a:solidFill>
                <a:latin typeface="Calibri"/>
                <a:cs typeface="Calibri"/>
              </a:rPr>
              <a:t> </a:t>
            </a:r>
            <a:r>
              <a:rPr sz="1500" dirty="0">
                <a:solidFill>
                  <a:srgbClr val="808080"/>
                </a:solidFill>
                <a:latin typeface="Calibri"/>
                <a:cs typeface="Calibri"/>
              </a:rPr>
              <a:t>your</a:t>
            </a:r>
            <a:r>
              <a:rPr sz="1500" spc="-50" dirty="0">
                <a:solidFill>
                  <a:srgbClr val="808080"/>
                </a:solidFill>
                <a:latin typeface="Calibri"/>
                <a:cs typeface="Calibri"/>
              </a:rPr>
              <a:t> </a:t>
            </a:r>
            <a:r>
              <a:rPr sz="1500" spc="-10" dirty="0">
                <a:solidFill>
                  <a:srgbClr val="808080"/>
                </a:solidFill>
                <a:latin typeface="Calibri"/>
                <a:cs typeface="Calibri"/>
              </a:rPr>
              <a:t>observation</a:t>
            </a:r>
            <a:r>
              <a:rPr sz="1500" spc="-60" dirty="0">
                <a:solidFill>
                  <a:srgbClr val="808080"/>
                </a:solidFill>
                <a:latin typeface="Calibri"/>
                <a:cs typeface="Calibri"/>
              </a:rPr>
              <a:t> </a:t>
            </a:r>
            <a:r>
              <a:rPr sz="1500" spc="-50" dirty="0">
                <a:solidFill>
                  <a:srgbClr val="808080"/>
                </a:solidFill>
                <a:latin typeface="Calibri"/>
                <a:cs typeface="Calibri"/>
              </a:rPr>
              <a:t>&gt;</a:t>
            </a:r>
            <a:endParaRPr sz="1500" dirty="0">
              <a:latin typeface="Calibri"/>
              <a:cs typeface="Calibri"/>
            </a:endParaRPr>
          </a:p>
          <a:p>
            <a:pPr marL="193675" marR="2023110">
              <a:lnSpc>
                <a:spcPct val="80000"/>
              </a:lnSpc>
              <a:spcBef>
                <a:spcPts val="994"/>
              </a:spcBef>
            </a:pPr>
            <a:r>
              <a:rPr sz="1500" dirty="0">
                <a:solidFill>
                  <a:srgbClr val="808080"/>
                </a:solidFill>
                <a:latin typeface="Calibri"/>
                <a:cs typeface="Calibri"/>
              </a:rPr>
              <a:t>&lt;All</a:t>
            </a:r>
            <a:r>
              <a:rPr sz="1500" spc="-25" dirty="0">
                <a:solidFill>
                  <a:srgbClr val="808080"/>
                </a:solidFill>
                <a:latin typeface="Calibri"/>
                <a:cs typeface="Calibri"/>
              </a:rPr>
              <a:t> </a:t>
            </a:r>
            <a:r>
              <a:rPr sz="1500" dirty="0">
                <a:solidFill>
                  <a:srgbClr val="808080"/>
                </a:solidFill>
                <a:latin typeface="Calibri"/>
                <a:cs typeface="Calibri"/>
              </a:rPr>
              <a:t>the</a:t>
            </a:r>
            <a:r>
              <a:rPr sz="1500" spc="-25" dirty="0">
                <a:solidFill>
                  <a:srgbClr val="808080"/>
                </a:solidFill>
                <a:latin typeface="Calibri"/>
                <a:cs typeface="Calibri"/>
              </a:rPr>
              <a:t> </a:t>
            </a:r>
            <a:r>
              <a:rPr sz="1500" dirty="0">
                <a:solidFill>
                  <a:srgbClr val="808080"/>
                </a:solidFill>
                <a:latin typeface="Calibri"/>
                <a:cs typeface="Calibri"/>
              </a:rPr>
              <a:t>variables</a:t>
            </a:r>
            <a:r>
              <a:rPr sz="1500" spc="-40" dirty="0">
                <a:solidFill>
                  <a:srgbClr val="808080"/>
                </a:solidFill>
                <a:latin typeface="Calibri"/>
                <a:cs typeface="Calibri"/>
              </a:rPr>
              <a:t> </a:t>
            </a:r>
            <a:r>
              <a:rPr sz="1500" dirty="0">
                <a:solidFill>
                  <a:srgbClr val="808080"/>
                </a:solidFill>
                <a:latin typeface="Calibri"/>
                <a:cs typeface="Calibri"/>
              </a:rPr>
              <a:t>are</a:t>
            </a:r>
            <a:r>
              <a:rPr sz="1500" spc="-45" dirty="0">
                <a:solidFill>
                  <a:srgbClr val="808080"/>
                </a:solidFill>
                <a:latin typeface="Calibri"/>
                <a:cs typeface="Calibri"/>
              </a:rPr>
              <a:t> </a:t>
            </a:r>
            <a:r>
              <a:rPr sz="1500" spc="-10" dirty="0">
                <a:solidFill>
                  <a:srgbClr val="808080"/>
                </a:solidFill>
                <a:latin typeface="Calibri"/>
                <a:cs typeface="Calibri"/>
              </a:rPr>
              <a:t>provided,</a:t>
            </a:r>
            <a:r>
              <a:rPr sz="1500" spc="-30" dirty="0">
                <a:solidFill>
                  <a:srgbClr val="808080"/>
                </a:solidFill>
                <a:latin typeface="Calibri"/>
                <a:cs typeface="Calibri"/>
              </a:rPr>
              <a:t> </a:t>
            </a:r>
            <a:r>
              <a:rPr sz="1500" dirty="0">
                <a:solidFill>
                  <a:srgbClr val="808080"/>
                </a:solidFill>
                <a:latin typeface="Calibri"/>
                <a:cs typeface="Calibri"/>
              </a:rPr>
              <a:t>please</a:t>
            </a:r>
            <a:r>
              <a:rPr sz="1500" spc="-40" dirty="0">
                <a:solidFill>
                  <a:srgbClr val="808080"/>
                </a:solidFill>
                <a:latin typeface="Calibri"/>
                <a:cs typeface="Calibri"/>
              </a:rPr>
              <a:t> </a:t>
            </a:r>
            <a:r>
              <a:rPr sz="1500" dirty="0">
                <a:solidFill>
                  <a:srgbClr val="808080"/>
                </a:solidFill>
                <a:latin typeface="Calibri"/>
                <a:cs typeface="Calibri"/>
              </a:rPr>
              <a:t>use</a:t>
            </a:r>
            <a:r>
              <a:rPr sz="1500" spc="-30" dirty="0">
                <a:solidFill>
                  <a:srgbClr val="808080"/>
                </a:solidFill>
                <a:latin typeface="Calibri"/>
                <a:cs typeface="Calibri"/>
              </a:rPr>
              <a:t> </a:t>
            </a:r>
            <a:r>
              <a:rPr sz="1500" dirty="0">
                <a:solidFill>
                  <a:srgbClr val="808080"/>
                </a:solidFill>
                <a:latin typeface="Calibri"/>
                <a:cs typeface="Calibri"/>
              </a:rPr>
              <a:t>only</a:t>
            </a:r>
            <a:r>
              <a:rPr sz="1500" spc="-50" dirty="0">
                <a:solidFill>
                  <a:srgbClr val="808080"/>
                </a:solidFill>
                <a:latin typeface="Calibri"/>
                <a:cs typeface="Calibri"/>
              </a:rPr>
              <a:t> </a:t>
            </a:r>
            <a:r>
              <a:rPr sz="1500" dirty="0">
                <a:solidFill>
                  <a:srgbClr val="808080"/>
                </a:solidFill>
                <a:latin typeface="Calibri"/>
                <a:cs typeface="Calibri"/>
              </a:rPr>
              <a:t>ones</a:t>
            </a:r>
            <a:r>
              <a:rPr sz="1500" spc="-30" dirty="0">
                <a:solidFill>
                  <a:srgbClr val="808080"/>
                </a:solidFill>
                <a:latin typeface="Calibri"/>
                <a:cs typeface="Calibri"/>
              </a:rPr>
              <a:t> </a:t>
            </a:r>
            <a:r>
              <a:rPr sz="1500" dirty="0">
                <a:solidFill>
                  <a:srgbClr val="808080"/>
                </a:solidFill>
                <a:latin typeface="Calibri"/>
                <a:cs typeface="Calibri"/>
              </a:rPr>
              <a:t>which</a:t>
            </a:r>
            <a:r>
              <a:rPr sz="1500" spc="-20" dirty="0">
                <a:solidFill>
                  <a:srgbClr val="808080"/>
                </a:solidFill>
                <a:latin typeface="Calibri"/>
                <a:cs typeface="Calibri"/>
              </a:rPr>
              <a:t> </a:t>
            </a:r>
            <a:r>
              <a:rPr sz="1500" dirty="0">
                <a:solidFill>
                  <a:srgbClr val="808080"/>
                </a:solidFill>
                <a:latin typeface="Calibri"/>
                <a:cs typeface="Calibri"/>
              </a:rPr>
              <a:t>are</a:t>
            </a:r>
            <a:r>
              <a:rPr sz="1500" spc="-45" dirty="0">
                <a:solidFill>
                  <a:srgbClr val="808080"/>
                </a:solidFill>
                <a:latin typeface="Calibri"/>
                <a:cs typeface="Calibri"/>
              </a:rPr>
              <a:t> </a:t>
            </a:r>
            <a:r>
              <a:rPr sz="1500" spc="-10" dirty="0">
                <a:solidFill>
                  <a:srgbClr val="808080"/>
                </a:solidFill>
                <a:latin typeface="Calibri"/>
                <a:cs typeface="Calibri"/>
              </a:rPr>
              <a:t>necessary. </a:t>
            </a:r>
            <a:r>
              <a:rPr sz="1500" dirty="0">
                <a:solidFill>
                  <a:srgbClr val="808080"/>
                </a:solidFill>
                <a:latin typeface="Calibri"/>
                <a:cs typeface="Calibri"/>
              </a:rPr>
              <a:t>Connect</a:t>
            </a:r>
            <a:r>
              <a:rPr sz="1500" spc="-45" dirty="0">
                <a:solidFill>
                  <a:srgbClr val="808080"/>
                </a:solidFill>
                <a:latin typeface="Calibri"/>
                <a:cs typeface="Calibri"/>
              </a:rPr>
              <a:t> </a:t>
            </a:r>
            <a:r>
              <a:rPr sz="1500" dirty="0">
                <a:solidFill>
                  <a:srgbClr val="808080"/>
                </a:solidFill>
                <a:latin typeface="Calibri"/>
                <a:cs typeface="Calibri"/>
              </a:rPr>
              <a:t>them</a:t>
            </a:r>
            <a:r>
              <a:rPr sz="1500" spc="-20" dirty="0">
                <a:solidFill>
                  <a:srgbClr val="808080"/>
                </a:solidFill>
                <a:latin typeface="Calibri"/>
                <a:cs typeface="Calibri"/>
              </a:rPr>
              <a:t> </a:t>
            </a:r>
            <a:r>
              <a:rPr sz="1500" dirty="0">
                <a:solidFill>
                  <a:srgbClr val="808080"/>
                </a:solidFill>
                <a:latin typeface="Calibri"/>
                <a:cs typeface="Calibri"/>
              </a:rPr>
              <a:t>using</a:t>
            </a:r>
            <a:r>
              <a:rPr sz="1500" spc="-40" dirty="0">
                <a:solidFill>
                  <a:srgbClr val="808080"/>
                </a:solidFill>
                <a:latin typeface="Calibri"/>
                <a:cs typeface="Calibri"/>
              </a:rPr>
              <a:t> </a:t>
            </a:r>
            <a:r>
              <a:rPr sz="1500" dirty="0">
                <a:solidFill>
                  <a:srgbClr val="808080"/>
                </a:solidFill>
                <a:latin typeface="Calibri"/>
                <a:cs typeface="Calibri"/>
              </a:rPr>
              <a:t>an</a:t>
            </a:r>
            <a:r>
              <a:rPr sz="1500" spc="-30" dirty="0">
                <a:solidFill>
                  <a:srgbClr val="808080"/>
                </a:solidFill>
                <a:latin typeface="Calibri"/>
                <a:cs typeface="Calibri"/>
              </a:rPr>
              <a:t> </a:t>
            </a:r>
            <a:r>
              <a:rPr sz="1500" dirty="0">
                <a:solidFill>
                  <a:srgbClr val="808080"/>
                </a:solidFill>
                <a:latin typeface="Calibri"/>
                <a:cs typeface="Calibri"/>
              </a:rPr>
              <a:t>arrow</a:t>
            </a:r>
            <a:r>
              <a:rPr sz="1500" spc="-40" dirty="0">
                <a:solidFill>
                  <a:srgbClr val="808080"/>
                </a:solidFill>
                <a:latin typeface="Calibri"/>
                <a:cs typeface="Calibri"/>
              </a:rPr>
              <a:t> </a:t>
            </a:r>
            <a:r>
              <a:rPr sz="1500" spc="-10" dirty="0">
                <a:solidFill>
                  <a:srgbClr val="808080"/>
                </a:solidFill>
                <a:latin typeface="Calibri"/>
                <a:cs typeface="Calibri"/>
              </a:rPr>
              <a:t>line[provided</a:t>
            </a:r>
            <a:r>
              <a:rPr sz="1500" spc="-20" dirty="0">
                <a:solidFill>
                  <a:srgbClr val="808080"/>
                </a:solidFill>
                <a:latin typeface="Calibri"/>
                <a:cs typeface="Calibri"/>
              </a:rPr>
              <a:t> </a:t>
            </a:r>
            <a:r>
              <a:rPr sz="1500" dirty="0">
                <a:solidFill>
                  <a:srgbClr val="808080"/>
                </a:solidFill>
                <a:latin typeface="Calibri"/>
                <a:cs typeface="Calibri"/>
              </a:rPr>
              <a:t>in</a:t>
            </a:r>
            <a:r>
              <a:rPr sz="1500" spc="-30" dirty="0">
                <a:solidFill>
                  <a:srgbClr val="808080"/>
                </a:solidFill>
                <a:latin typeface="Calibri"/>
                <a:cs typeface="Calibri"/>
              </a:rPr>
              <a:t> </a:t>
            </a:r>
            <a:r>
              <a:rPr sz="1500" spc="-10" dirty="0">
                <a:solidFill>
                  <a:srgbClr val="808080"/>
                </a:solidFill>
                <a:latin typeface="Calibri"/>
                <a:cs typeface="Calibri"/>
              </a:rPr>
              <a:t>shapes]&gt;</a:t>
            </a:r>
            <a:endParaRPr sz="1500" dirty="0">
              <a:latin typeface="Calibri"/>
              <a:cs typeface="Calibri"/>
            </a:endParaRPr>
          </a:p>
        </p:txBody>
      </p:sp>
      <p:pic>
        <p:nvPicPr>
          <p:cNvPr id="4" name="object 4"/>
          <p:cNvPicPr/>
          <p:nvPr/>
        </p:nvPicPr>
        <p:blipFill>
          <a:blip r:embed="rId2" cstate="print"/>
          <a:stretch>
            <a:fillRect/>
          </a:stretch>
        </p:blipFill>
        <p:spPr>
          <a:xfrm>
            <a:off x="8841216" y="1362455"/>
            <a:ext cx="2874810" cy="2604651"/>
          </a:xfrm>
          <a:prstGeom prst="rect">
            <a:avLst/>
          </a:prstGeom>
        </p:spPr>
      </p:pic>
      <p:grpSp>
        <p:nvGrpSpPr>
          <p:cNvPr id="5" name="object 5"/>
          <p:cNvGrpSpPr/>
          <p:nvPr/>
        </p:nvGrpSpPr>
        <p:grpSpPr>
          <a:xfrm>
            <a:off x="658622" y="4395470"/>
            <a:ext cx="746760" cy="627380"/>
            <a:chOff x="658622" y="4395470"/>
            <a:chExt cx="746760" cy="627380"/>
          </a:xfrm>
        </p:grpSpPr>
        <p:sp>
          <p:nvSpPr>
            <p:cNvPr id="6" name="object 6"/>
            <p:cNvSpPr/>
            <p:nvPr/>
          </p:nvSpPr>
          <p:spPr>
            <a:xfrm>
              <a:off x="671322" y="4408170"/>
              <a:ext cx="721360" cy="601980"/>
            </a:xfrm>
            <a:custGeom>
              <a:avLst/>
              <a:gdLst/>
              <a:ahLst/>
              <a:cxnLst/>
              <a:rect l="l" t="t" r="r" b="b"/>
              <a:pathLst>
                <a:path w="721360" h="601979">
                  <a:moveTo>
                    <a:pt x="360425" y="0"/>
                  </a:moveTo>
                  <a:lnTo>
                    <a:pt x="307164" y="3263"/>
                  </a:lnTo>
                  <a:lnTo>
                    <a:pt x="256329" y="12742"/>
                  </a:lnTo>
                  <a:lnTo>
                    <a:pt x="208478" y="27973"/>
                  </a:lnTo>
                  <a:lnTo>
                    <a:pt x="164169" y="48488"/>
                  </a:lnTo>
                  <a:lnTo>
                    <a:pt x="123959" y="73824"/>
                  </a:lnTo>
                  <a:lnTo>
                    <a:pt x="88405" y="103514"/>
                  </a:lnTo>
                  <a:lnTo>
                    <a:pt x="58066" y="137093"/>
                  </a:lnTo>
                  <a:lnTo>
                    <a:pt x="33498" y="174095"/>
                  </a:lnTo>
                  <a:lnTo>
                    <a:pt x="15259" y="214056"/>
                  </a:lnTo>
                  <a:lnTo>
                    <a:pt x="3907" y="256509"/>
                  </a:lnTo>
                  <a:lnTo>
                    <a:pt x="0" y="300989"/>
                  </a:lnTo>
                  <a:lnTo>
                    <a:pt x="3907" y="345470"/>
                  </a:lnTo>
                  <a:lnTo>
                    <a:pt x="15259" y="387923"/>
                  </a:lnTo>
                  <a:lnTo>
                    <a:pt x="33498" y="427884"/>
                  </a:lnTo>
                  <a:lnTo>
                    <a:pt x="58066" y="464886"/>
                  </a:lnTo>
                  <a:lnTo>
                    <a:pt x="88405" y="498465"/>
                  </a:lnTo>
                  <a:lnTo>
                    <a:pt x="123959" y="528155"/>
                  </a:lnTo>
                  <a:lnTo>
                    <a:pt x="164169" y="553491"/>
                  </a:lnTo>
                  <a:lnTo>
                    <a:pt x="208478" y="574006"/>
                  </a:lnTo>
                  <a:lnTo>
                    <a:pt x="256329" y="589237"/>
                  </a:lnTo>
                  <a:lnTo>
                    <a:pt x="307164" y="598716"/>
                  </a:lnTo>
                  <a:lnTo>
                    <a:pt x="360425" y="601979"/>
                  </a:lnTo>
                  <a:lnTo>
                    <a:pt x="413687" y="598716"/>
                  </a:lnTo>
                  <a:lnTo>
                    <a:pt x="464522" y="589237"/>
                  </a:lnTo>
                  <a:lnTo>
                    <a:pt x="512373" y="574006"/>
                  </a:lnTo>
                  <a:lnTo>
                    <a:pt x="556682" y="553491"/>
                  </a:lnTo>
                  <a:lnTo>
                    <a:pt x="596892" y="528155"/>
                  </a:lnTo>
                  <a:lnTo>
                    <a:pt x="632446" y="498465"/>
                  </a:lnTo>
                  <a:lnTo>
                    <a:pt x="662785" y="464886"/>
                  </a:lnTo>
                  <a:lnTo>
                    <a:pt x="687353" y="427884"/>
                  </a:lnTo>
                  <a:lnTo>
                    <a:pt x="705592" y="387923"/>
                  </a:lnTo>
                  <a:lnTo>
                    <a:pt x="716944" y="345470"/>
                  </a:lnTo>
                  <a:lnTo>
                    <a:pt x="720852" y="300989"/>
                  </a:lnTo>
                  <a:lnTo>
                    <a:pt x="716944" y="256509"/>
                  </a:lnTo>
                  <a:lnTo>
                    <a:pt x="705592" y="214056"/>
                  </a:lnTo>
                  <a:lnTo>
                    <a:pt x="687353" y="174095"/>
                  </a:lnTo>
                  <a:lnTo>
                    <a:pt x="662785" y="137093"/>
                  </a:lnTo>
                  <a:lnTo>
                    <a:pt x="632446" y="103514"/>
                  </a:lnTo>
                  <a:lnTo>
                    <a:pt x="596892" y="73824"/>
                  </a:lnTo>
                  <a:lnTo>
                    <a:pt x="556682" y="48488"/>
                  </a:lnTo>
                  <a:lnTo>
                    <a:pt x="512373" y="27973"/>
                  </a:lnTo>
                  <a:lnTo>
                    <a:pt x="464522" y="12742"/>
                  </a:lnTo>
                  <a:lnTo>
                    <a:pt x="413687" y="3263"/>
                  </a:lnTo>
                  <a:lnTo>
                    <a:pt x="360425" y="0"/>
                  </a:lnTo>
                  <a:close/>
                </a:path>
              </a:pathLst>
            </a:custGeom>
            <a:solidFill>
              <a:srgbClr val="E7E6E6"/>
            </a:solidFill>
          </p:spPr>
          <p:txBody>
            <a:bodyPr wrap="square" lIns="0" tIns="0" rIns="0" bIns="0" rtlCol="0"/>
            <a:lstStyle/>
            <a:p>
              <a:endParaRPr/>
            </a:p>
          </p:txBody>
        </p:sp>
        <p:sp>
          <p:nvSpPr>
            <p:cNvPr id="7" name="object 7"/>
            <p:cNvSpPr/>
            <p:nvPr/>
          </p:nvSpPr>
          <p:spPr>
            <a:xfrm>
              <a:off x="671322" y="4408170"/>
              <a:ext cx="721360" cy="601980"/>
            </a:xfrm>
            <a:custGeom>
              <a:avLst/>
              <a:gdLst/>
              <a:ahLst/>
              <a:cxnLst/>
              <a:rect l="l" t="t" r="r" b="b"/>
              <a:pathLst>
                <a:path w="721360" h="601979">
                  <a:moveTo>
                    <a:pt x="0" y="300989"/>
                  </a:moveTo>
                  <a:lnTo>
                    <a:pt x="3907" y="256509"/>
                  </a:lnTo>
                  <a:lnTo>
                    <a:pt x="15259" y="214056"/>
                  </a:lnTo>
                  <a:lnTo>
                    <a:pt x="33498" y="174095"/>
                  </a:lnTo>
                  <a:lnTo>
                    <a:pt x="58066" y="137093"/>
                  </a:lnTo>
                  <a:lnTo>
                    <a:pt x="88405" y="103514"/>
                  </a:lnTo>
                  <a:lnTo>
                    <a:pt x="123959" y="73824"/>
                  </a:lnTo>
                  <a:lnTo>
                    <a:pt x="164169" y="48488"/>
                  </a:lnTo>
                  <a:lnTo>
                    <a:pt x="208478" y="27973"/>
                  </a:lnTo>
                  <a:lnTo>
                    <a:pt x="256329" y="12742"/>
                  </a:lnTo>
                  <a:lnTo>
                    <a:pt x="307164" y="3263"/>
                  </a:lnTo>
                  <a:lnTo>
                    <a:pt x="360425" y="0"/>
                  </a:lnTo>
                  <a:lnTo>
                    <a:pt x="413687" y="3263"/>
                  </a:lnTo>
                  <a:lnTo>
                    <a:pt x="464522" y="12742"/>
                  </a:lnTo>
                  <a:lnTo>
                    <a:pt x="512373" y="27973"/>
                  </a:lnTo>
                  <a:lnTo>
                    <a:pt x="556682" y="48488"/>
                  </a:lnTo>
                  <a:lnTo>
                    <a:pt x="596892" y="73824"/>
                  </a:lnTo>
                  <a:lnTo>
                    <a:pt x="632446" y="103514"/>
                  </a:lnTo>
                  <a:lnTo>
                    <a:pt x="662785" y="137093"/>
                  </a:lnTo>
                  <a:lnTo>
                    <a:pt x="687353" y="174095"/>
                  </a:lnTo>
                  <a:lnTo>
                    <a:pt x="705592" y="214056"/>
                  </a:lnTo>
                  <a:lnTo>
                    <a:pt x="716944" y="256509"/>
                  </a:lnTo>
                  <a:lnTo>
                    <a:pt x="720852" y="300989"/>
                  </a:lnTo>
                  <a:lnTo>
                    <a:pt x="716944" y="345470"/>
                  </a:lnTo>
                  <a:lnTo>
                    <a:pt x="705592" y="387923"/>
                  </a:lnTo>
                  <a:lnTo>
                    <a:pt x="687353" y="427884"/>
                  </a:lnTo>
                  <a:lnTo>
                    <a:pt x="662785" y="464886"/>
                  </a:lnTo>
                  <a:lnTo>
                    <a:pt x="632446" y="498465"/>
                  </a:lnTo>
                  <a:lnTo>
                    <a:pt x="596892" y="528155"/>
                  </a:lnTo>
                  <a:lnTo>
                    <a:pt x="556682" y="553491"/>
                  </a:lnTo>
                  <a:lnTo>
                    <a:pt x="512373" y="574006"/>
                  </a:lnTo>
                  <a:lnTo>
                    <a:pt x="464522" y="589237"/>
                  </a:lnTo>
                  <a:lnTo>
                    <a:pt x="413687" y="598716"/>
                  </a:lnTo>
                  <a:lnTo>
                    <a:pt x="360425" y="601979"/>
                  </a:lnTo>
                  <a:lnTo>
                    <a:pt x="307164" y="598716"/>
                  </a:lnTo>
                  <a:lnTo>
                    <a:pt x="256329" y="589237"/>
                  </a:lnTo>
                  <a:lnTo>
                    <a:pt x="208478" y="574006"/>
                  </a:lnTo>
                  <a:lnTo>
                    <a:pt x="164169" y="553491"/>
                  </a:lnTo>
                  <a:lnTo>
                    <a:pt x="123959" y="528155"/>
                  </a:lnTo>
                  <a:lnTo>
                    <a:pt x="88405" y="498465"/>
                  </a:lnTo>
                  <a:lnTo>
                    <a:pt x="58066" y="464886"/>
                  </a:lnTo>
                  <a:lnTo>
                    <a:pt x="33498" y="427884"/>
                  </a:lnTo>
                  <a:lnTo>
                    <a:pt x="15259" y="387923"/>
                  </a:lnTo>
                  <a:lnTo>
                    <a:pt x="3907" y="345470"/>
                  </a:lnTo>
                  <a:lnTo>
                    <a:pt x="0" y="300989"/>
                  </a:lnTo>
                  <a:close/>
                </a:path>
              </a:pathLst>
            </a:custGeom>
            <a:ln w="25400">
              <a:solidFill>
                <a:srgbClr val="2E528F"/>
              </a:solidFill>
            </a:ln>
          </p:spPr>
          <p:txBody>
            <a:bodyPr wrap="square" lIns="0" tIns="0" rIns="0" bIns="0" rtlCol="0"/>
            <a:lstStyle/>
            <a:p>
              <a:endParaRPr/>
            </a:p>
          </p:txBody>
        </p:sp>
      </p:grpSp>
      <p:sp>
        <p:nvSpPr>
          <p:cNvPr id="8" name="object 8"/>
          <p:cNvSpPr txBox="1"/>
          <p:nvPr/>
        </p:nvSpPr>
        <p:spPr>
          <a:xfrm>
            <a:off x="880363" y="4553839"/>
            <a:ext cx="3022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X1</a:t>
            </a:r>
            <a:endParaRPr sz="1800">
              <a:latin typeface="Arial"/>
              <a:cs typeface="Arial"/>
            </a:endParaRPr>
          </a:p>
        </p:txBody>
      </p:sp>
      <p:grpSp>
        <p:nvGrpSpPr>
          <p:cNvPr id="9" name="object 9"/>
          <p:cNvGrpSpPr/>
          <p:nvPr/>
        </p:nvGrpSpPr>
        <p:grpSpPr>
          <a:xfrm>
            <a:off x="658622" y="5160517"/>
            <a:ext cx="746760" cy="629285"/>
            <a:chOff x="658622" y="5160517"/>
            <a:chExt cx="746760" cy="629285"/>
          </a:xfrm>
        </p:grpSpPr>
        <p:sp>
          <p:nvSpPr>
            <p:cNvPr id="10" name="object 10"/>
            <p:cNvSpPr/>
            <p:nvPr/>
          </p:nvSpPr>
          <p:spPr>
            <a:xfrm>
              <a:off x="671322" y="5173217"/>
              <a:ext cx="721360" cy="603885"/>
            </a:xfrm>
            <a:custGeom>
              <a:avLst/>
              <a:gdLst/>
              <a:ahLst/>
              <a:cxnLst/>
              <a:rect l="l" t="t" r="r" b="b"/>
              <a:pathLst>
                <a:path w="721360" h="603885">
                  <a:moveTo>
                    <a:pt x="360425" y="0"/>
                  </a:moveTo>
                  <a:lnTo>
                    <a:pt x="307164" y="3272"/>
                  </a:lnTo>
                  <a:lnTo>
                    <a:pt x="256329" y="12778"/>
                  </a:lnTo>
                  <a:lnTo>
                    <a:pt x="208478" y="28050"/>
                  </a:lnTo>
                  <a:lnTo>
                    <a:pt x="164169" y="48621"/>
                  </a:lnTo>
                  <a:lnTo>
                    <a:pt x="123959" y="74024"/>
                  </a:lnTo>
                  <a:lnTo>
                    <a:pt x="88405" y="103792"/>
                  </a:lnTo>
                  <a:lnTo>
                    <a:pt x="58066" y="137457"/>
                  </a:lnTo>
                  <a:lnTo>
                    <a:pt x="33498" y="174553"/>
                  </a:lnTo>
                  <a:lnTo>
                    <a:pt x="15259" y="214612"/>
                  </a:lnTo>
                  <a:lnTo>
                    <a:pt x="3907" y="257167"/>
                  </a:lnTo>
                  <a:lnTo>
                    <a:pt x="0" y="301751"/>
                  </a:lnTo>
                  <a:lnTo>
                    <a:pt x="3907" y="346341"/>
                  </a:lnTo>
                  <a:lnTo>
                    <a:pt x="15259" y="388900"/>
                  </a:lnTo>
                  <a:lnTo>
                    <a:pt x="33498" y="428961"/>
                  </a:lnTo>
                  <a:lnTo>
                    <a:pt x="58066" y="466057"/>
                  </a:lnTo>
                  <a:lnTo>
                    <a:pt x="88405" y="499722"/>
                  </a:lnTo>
                  <a:lnTo>
                    <a:pt x="123959" y="529488"/>
                  </a:lnTo>
                  <a:lnTo>
                    <a:pt x="164169" y="554888"/>
                  </a:lnTo>
                  <a:lnTo>
                    <a:pt x="208478" y="575457"/>
                  </a:lnTo>
                  <a:lnTo>
                    <a:pt x="256329" y="590727"/>
                  </a:lnTo>
                  <a:lnTo>
                    <a:pt x="307164" y="600232"/>
                  </a:lnTo>
                  <a:lnTo>
                    <a:pt x="360425" y="603503"/>
                  </a:lnTo>
                  <a:lnTo>
                    <a:pt x="413687" y="600232"/>
                  </a:lnTo>
                  <a:lnTo>
                    <a:pt x="464522" y="590727"/>
                  </a:lnTo>
                  <a:lnTo>
                    <a:pt x="512373" y="575457"/>
                  </a:lnTo>
                  <a:lnTo>
                    <a:pt x="556682" y="554888"/>
                  </a:lnTo>
                  <a:lnTo>
                    <a:pt x="596892" y="529488"/>
                  </a:lnTo>
                  <a:lnTo>
                    <a:pt x="632446" y="499722"/>
                  </a:lnTo>
                  <a:lnTo>
                    <a:pt x="662785" y="466057"/>
                  </a:lnTo>
                  <a:lnTo>
                    <a:pt x="687353" y="428961"/>
                  </a:lnTo>
                  <a:lnTo>
                    <a:pt x="705592" y="388900"/>
                  </a:lnTo>
                  <a:lnTo>
                    <a:pt x="716944" y="346341"/>
                  </a:lnTo>
                  <a:lnTo>
                    <a:pt x="720852" y="301751"/>
                  </a:lnTo>
                  <a:lnTo>
                    <a:pt x="716944" y="257167"/>
                  </a:lnTo>
                  <a:lnTo>
                    <a:pt x="705592" y="214612"/>
                  </a:lnTo>
                  <a:lnTo>
                    <a:pt x="687353" y="174553"/>
                  </a:lnTo>
                  <a:lnTo>
                    <a:pt x="662785" y="137457"/>
                  </a:lnTo>
                  <a:lnTo>
                    <a:pt x="632446" y="103792"/>
                  </a:lnTo>
                  <a:lnTo>
                    <a:pt x="596892" y="74024"/>
                  </a:lnTo>
                  <a:lnTo>
                    <a:pt x="556682" y="48621"/>
                  </a:lnTo>
                  <a:lnTo>
                    <a:pt x="512373" y="28050"/>
                  </a:lnTo>
                  <a:lnTo>
                    <a:pt x="464522" y="12778"/>
                  </a:lnTo>
                  <a:lnTo>
                    <a:pt x="413687" y="3272"/>
                  </a:lnTo>
                  <a:lnTo>
                    <a:pt x="360425" y="0"/>
                  </a:lnTo>
                  <a:close/>
                </a:path>
              </a:pathLst>
            </a:custGeom>
            <a:solidFill>
              <a:srgbClr val="E7E6E6"/>
            </a:solidFill>
          </p:spPr>
          <p:txBody>
            <a:bodyPr wrap="square" lIns="0" tIns="0" rIns="0" bIns="0" rtlCol="0"/>
            <a:lstStyle/>
            <a:p>
              <a:endParaRPr/>
            </a:p>
          </p:txBody>
        </p:sp>
        <p:sp>
          <p:nvSpPr>
            <p:cNvPr id="11" name="object 11"/>
            <p:cNvSpPr/>
            <p:nvPr/>
          </p:nvSpPr>
          <p:spPr>
            <a:xfrm>
              <a:off x="671322" y="5173217"/>
              <a:ext cx="721360" cy="603885"/>
            </a:xfrm>
            <a:custGeom>
              <a:avLst/>
              <a:gdLst/>
              <a:ahLst/>
              <a:cxnLst/>
              <a:rect l="l" t="t" r="r" b="b"/>
              <a:pathLst>
                <a:path w="721360" h="603885">
                  <a:moveTo>
                    <a:pt x="0" y="301751"/>
                  </a:moveTo>
                  <a:lnTo>
                    <a:pt x="3907" y="257167"/>
                  </a:lnTo>
                  <a:lnTo>
                    <a:pt x="15259" y="214612"/>
                  </a:lnTo>
                  <a:lnTo>
                    <a:pt x="33498" y="174553"/>
                  </a:lnTo>
                  <a:lnTo>
                    <a:pt x="58066" y="137457"/>
                  </a:lnTo>
                  <a:lnTo>
                    <a:pt x="88405" y="103792"/>
                  </a:lnTo>
                  <a:lnTo>
                    <a:pt x="123959" y="74024"/>
                  </a:lnTo>
                  <a:lnTo>
                    <a:pt x="164169" y="48621"/>
                  </a:lnTo>
                  <a:lnTo>
                    <a:pt x="208478" y="28050"/>
                  </a:lnTo>
                  <a:lnTo>
                    <a:pt x="256329" y="12778"/>
                  </a:lnTo>
                  <a:lnTo>
                    <a:pt x="307164" y="3272"/>
                  </a:lnTo>
                  <a:lnTo>
                    <a:pt x="360425" y="0"/>
                  </a:lnTo>
                  <a:lnTo>
                    <a:pt x="413687" y="3272"/>
                  </a:lnTo>
                  <a:lnTo>
                    <a:pt x="464522" y="12778"/>
                  </a:lnTo>
                  <a:lnTo>
                    <a:pt x="512373" y="28050"/>
                  </a:lnTo>
                  <a:lnTo>
                    <a:pt x="556682" y="48621"/>
                  </a:lnTo>
                  <a:lnTo>
                    <a:pt x="596892" y="74024"/>
                  </a:lnTo>
                  <a:lnTo>
                    <a:pt x="632446" y="103792"/>
                  </a:lnTo>
                  <a:lnTo>
                    <a:pt x="662785" y="137457"/>
                  </a:lnTo>
                  <a:lnTo>
                    <a:pt x="687353" y="174553"/>
                  </a:lnTo>
                  <a:lnTo>
                    <a:pt x="705592" y="214612"/>
                  </a:lnTo>
                  <a:lnTo>
                    <a:pt x="716944" y="257167"/>
                  </a:lnTo>
                  <a:lnTo>
                    <a:pt x="720852" y="301751"/>
                  </a:lnTo>
                  <a:lnTo>
                    <a:pt x="716944" y="346341"/>
                  </a:lnTo>
                  <a:lnTo>
                    <a:pt x="705592" y="388900"/>
                  </a:lnTo>
                  <a:lnTo>
                    <a:pt x="687353" y="428961"/>
                  </a:lnTo>
                  <a:lnTo>
                    <a:pt x="662785" y="466057"/>
                  </a:lnTo>
                  <a:lnTo>
                    <a:pt x="632446" y="499722"/>
                  </a:lnTo>
                  <a:lnTo>
                    <a:pt x="596892" y="529488"/>
                  </a:lnTo>
                  <a:lnTo>
                    <a:pt x="556682" y="554888"/>
                  </a:lnTo>
                  <a:lnTo>
                    <a:pt x="512373" y="575457"/>
                  </a:lnTo>
                  <a:lnTo>
                    <a:pt x="464522" y="590727"/>
                  </a:lnTo>
                  <a:lnTo>
                    <a:pt x="413687" y="600232"/>
                  </a:lnTo>
                  <a:lnTo>
                    <a:pt x="360425" y="603503"/>
                  </a:lnTo>
                  <a:lnTo>
                    <a:pt x="307164" y="600232"/>
                  </a:lnTo>
                  <a:lnTo>
                    <a:pt x="256329" y="590727"/>
                  </a:lnTo>
                  <a:lnTo>
                    <a:pt x="208478" y="575457"/>
                  </a:lnTo>
                  <a:lnTo>
                    <a:pt x="164169" y="554888"/>
                  </a:lnTo>
                  <a:lnTo>
                    <a:pt x="123959" y="529488"/>
                  </a:lnTo>
                  <a:lnTo>
                    <a:pt x="88405" y="499722"/>
                  </a:lnTo>
                  <a:lnTo>
                    <a:pt x="58066" y="466057"/>
                  </a:lnTo>
                  <a:lnTo>
                    <a:pt x="33498" y="428961"/>
                  </a:lnTo>
                  <a:lnTo>
                    <a:pt x="15259" y="388900"/>
                  </a:lnTo>
                  <a:lnTo>
                    <a:pt x="3907" y="346341"/>
                  </a:lnTo>
                  <a:lnTo>
                    <a:pt x="0" y="301751"/>
                  </a:lnTo>
                  <a:close/>
                </a:path>
              </a:pathLst>
            </a:custGeom>
            <a:ln w="25400">
              <a:solidFill>
                <a:srgbClr val="2E528F"/>
              </a:solidFill>
            </a:ln>
          </p:spPr>
          <p:txBody>
            <a:bodyPr wrap="square" lIns="0" tIns="0" rIns="0" bIns="0" rtlCol="0"/>
            <a:lstStyle/>
            <a:p>
              <a:endParaRPr/>
            </a:p>
          </p:txBody>
        </p:sp>
      </p:grpSp>
      <p:sp>
        <p:nvSpPr>
          <p:cNvPr id="12" name="object 12"/>
          <p:cNvSpPr txBox="1"/>
          <p:nvPr/>
        </p:nvSpPr>
        <p:spPr>
          <a:xfrm>
            <a:off x="880363" y="5319521"/>
            <a:ext cx="3022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X2</a:t>
            </a:r>
            <a:endParaRPr sz="1800">
              <a:latin typeface="Arial"/>
              <a:cs typeface="Arial"/>
            </a:endParaRPr>
          </a:p>
        </p:txBody>
      </p:sp>
      <p:grpSp>
        <p:nvGrpSpPr>
          <p:cNvPr id="13" name="object 13"/>
          <p:cNvGrpSpPr/>
          <p:nvPr/>
        </p:nvGrpSpPr>
        <p:grpSpPr>
          <a:xfrm>
            <a:off x="658622" y="5940805"/>
            <a:ext cx="746760" cy="627380"/>
            <a:chOff x="658622" y="5940805"/>
            <a:chExt cx="746760" cy="627380"/>
          </a:xfrm>
        </p:grpSpPr>
        <p:sp>
          <p:nvSpPr>
            <p:cNvPr id="14" name="object 14"/>
            <p:cNvSpPr/>
            <p:nvPr/>
          </p:nvSpPr>
          <p:spPr>
            <a:xfrm>
              <a:off x="671322" y="5953505"/>
              <a:ext cx="721360" cy="601980"/>
            </a:xfrm>
            <a:custGeom>
              <a:avLst/>
              <a:gdLst/>
              <a:ahLst/>
              <a:cxnLst/>
              <a:rect l="l" t="t" r="r" b="b"/>
              <a:pathLst>
                <a:path w="721360" h="601979">
                  <a:moveTo>
                    <a:pt x="360425" y="0"/>
                  </a:moveTo>
                  <a:lnTo>
                    <a:pt x="307164" y="3263"/>
                  </a:lnTo>
                  <a:lnTo>
                    <a:pt x="256329" y="12743"/>
                  </a:lnTo>
                  <a:lnTo>
                    <a:pt x="208478" y="27975"/>
                  </a:lnTo>
                  <a:lnTo>
                    <a:pt x="164169" y="48491"/>
                  </a:lnTo>
                  <a:lnTo>
                    <a:pt x="123959" y="73828"/>
                  </a:lnTo>
                  <a:lnTo>
                    <a:pt x="88405" y="103519"/>
                  </a:lnTo>
                  <a:lnTo>
                    <a:pt x="58066" y="137098"/>
                  </a:lnTo>
                  <a:lnTo>
                    <a:pt x="33498" y="174101"/>
                  </a:lnTo>
                  <a:lnTo>
                    <a:pt x="15259" y="214060"/>
                  </a:lnTo>
                  <a:lnTo>
                    <a:pt x="3907" y="256512"/>
                  </a:lnTo>
                  <a:lnTo>
                    <a:pt x="0" y="300990"/>
                  </a:lnTo>
                  <a:lnTo>
                    <a:pt x="3907" y="345467"/>
                  </a:lnTo>
                  <a:lnTo>
                    <a:pt x="15259" y="387919"/>
                  </a:lnTo>
                  <a:lnTo>
                    <a:pt x="33498" y="427878"/>
                  </a:lnTo>
                  <a:lnTo>
                    <a:pt x="58066" y="464881"/>
                  </a:lnTo>
                  <a:lnTo>
                    <a:pt x="88405" y="498460"/>
                  </a:lnTo>
                  <a:lnTo>
                    <a:pt x="123959" y="528151"/>
                  </a:lnTo>
                  <a:lnTo>
                    <a:pt x="164169" y="553488"/>
                  </a:lnTo>
                  <a:lnTo>
                    <a:pt x="208478" y="574004"/>
                  </a:lnTo>
                  <a:lnTo>
                    <a:pt x="256329" y="589236"/>
                  </a:lnTo>
                  <a:lnTo>
                    <a:pt x="307164" y="598716"/>
                  </a:lnTo>
                  <a:lnTo>
                    <a:pt x="360425" y="601980"/>
                  </a:lnTo>
                  <a:lnTo>
                    <a:pt x="413687" y="598716"/>
                  </a:lnTo>
                  <a:lnTo>
                    <a:pt x="464522" y="589236"/>
                  </a:lnTo>
                  <a:lnTo>
                    <a:pt x="512373" y="574004"/>
                  </a:lnTo>
                  <a:lnTo>
                    <a:pt x="556682" y="553488"/>
                  </a:lnTo>
                  <a:lnTo>
                    <a:pt x="596892" y="528151"/>
                  </a:lnTo>
                  <a:lnTo>
                    <a:pt x="632446" y="498460"/>
                  </a:lnTo>
                  <a:lnTo>
                    <a:pt x="662785" y="464881"/>
                  </a:lnTo>
                  <a:lnTo>
                    <a:pt x="687353" y="427878"/>
                  </a:lnTo>
                  <a:lnTo>
                    <a:pt x="705592" y="387919"/>
                  </a:lnTo>
                  <a:lnTo>
                    <a:pt x="716944" y="345467"/>
                  </a:lnTo>
                  <a:lnTo>
                    <a:pt x="720852" y="300990"/>
                  </a:lnTo>
                  <a:lnTo>
                    <a:pt x="716944" y="256512"/>
                  </a:lnTo>
                  <a:lnTo>
                    <a:pt x="705592" y="214060"/>
                  </a:lnTo>
                  <a:lnTo>
                    <a:pt x="687353" y="174101"/>
                  </a:lnTo>
                  <a:lnTo>
                    <a:pt x="662785" y="137098"/>
                  </a:lnTo>
                  <a:lnTo>
                    <a:pt x="632446" y="103519"/>
                  </a:lnTo>
                  <a:lnTo>
                    <a:pt x="596892" y="73828"/>
                  </a:lnTo>
                  <a:lnTo>
                    <a:pt x="556682" y="48491"/>
                  </a:lnTo>
                  <a:lnTo>
                    <a:pt x="512373" y="27975"/>
                  </a:lnTo>
                  <a:lnTo>
                    <a:pt x="464522" y="12743"/>
                  </a:lnTo>
                  <a:lnTo>
                    <a:pt x="413687" y="3263"/>
                  </a:lnTo>
                  <a:lnTo>
                    <a:pt x="360425" y="0"/>
                  </a:lnTo>
                  <a:close/>
                </a:path>
              </a:pathLst>
            </a:custGeom>
            <a:solidFill>
              <a:srgbClr val="E7E6E6"/>
            </a:solidFill>
          </p:spPr>
          <p:txBody>
            <a:bodyPr wrap="square" lIns="0" tIns="0" rIns="0" bIns="0" rtlCol="0"/>
            <a:lstStyle/>
            <a:p>
              <a:endParaRPr/>
            </a:p>
          </p:txBody>
        </p:sp>
        <p:sp>
          <p:nvSpPr>
            <p:cNvPr id="15" name="object 15"/>
            <p:cNvSpPr/>
            <p:nvPr/>
          </p:nvSpPr>
          <p:spPr>
            <a:xfrm>
              <a:off x="671322" y="5953505"/>
              <a:ext cx="721360" cy="601980"/>
            </a:xfrm>
            <a:custGeom>
              <a:avLst/>
              <a:gdLst/>
              <a:ahLst/>
              <a:cxnLst/>
              <a:rect l="l" t="t" r="r" b="b"/>
              <a:pathLst>
                <a:path w="721360" h="601979">
                  <a:moveTo>
                    <a:pt x="0" y="300990"/>
                  </a:moveTo>
                  <a:lnTo>
                    <a:pt x="3907" y="256512"/>
                  </a:lnTo>
                  <a:lnTo>
                    <a:pt x="15259" y="214060"/>
                  </a:lnTo>
                  <a:lnTo>
                    <a:pt x="33498" y="174101"/>
                  </a:lnTo>
                  <a:lnTo>
                    <a:pt x="58066" y="137098"/>
                  </a:lnTo>
                  <a:lnTo>
                    <a:pt x="88405" y="103519"/>
                  </a:lnTo>
                  <a:lnTo>
                    <a:pt x="123959" y="73828"/>
                  </a:lnTo>
                  <a:lnTo>
                    <a:pt x="164169" y="48491"/>
                  </a:lnTo>
                  <a:lnTo>
                    <a:pt x="208478" y="27975"/>
                  </a:lnTo>
                  <a:lnTo>
                    <a:pt x="256329" y="12743"/>
                  </a:lnTo>
                  <a:lnTo>
                    <a:pt x="307164" y="3263"/>
                  </a:lnTo>
                  <a:lnTo>
                    <a:pt x="360425" y="0"/>
                  </a:lnTo>
                  <a:lnTo>
                    <a:pt x="413687" y="3263"/>
                  </a:lnTo>
                  <a:lnTo>
                    <a:pt x="464522" y="12743"/>
                  </a:lnTo>
                  <a:lnTo>
                    <a:pt x="512373" y="27975"/>
                  </a:lnTo>
                  <a:lnTo>
                    <a:pt x="556682" y="48491"/>
                  </a:lnTo>
                  <a:lnTo>
                    <a:pt x="596892" y="73828"/>
                  </a:lnTo>
                  <a:lnTo>
                    <a:pt x="632446" y="103519"/>
                  </a:lnTo>
                  <a:lnTo>
                    <a:pt x="662785" y="137098"/>
                  </a:lnTo>
                  <a:lnTo>
                    <a:pt x="687353" y="174101"/>
                  </a:lnTo>
                  <a:lnTo>
                    <a:pt x="705592" y="214060"/>
                  </a:lnTo>
                  <a:lnTo>
                    <a:pt x="716944" y="256512"/>
                  </a:lnTo>
                  <a:lnTo>
                    <a:pt x="720852" y="300990"/>
                  </a:lnTo>
                  <a:lnTo>
                    <a:pt x="716944" y="345467"/>
                  </a:lnTo>
                  <a:lnTo>
                    <a:pt x="705592" y="387919"/>
                  </a:lnTo>
                  <a:lnTo>
                    <a:pt x="687353" y="427878"/>
                  </a:lnTo>
                  <a:lnTo>
                    <a:pt x="662785" y="464881"/>
                  </a:lnTo>
                  <a:lnTo>
                    <a:pt x="632446" y="498460"/>
                  </a:lnTo>
                  <a:lnTo>
                    <a:pt x="596892" y="528151"/>
                  </a:lnTo>
                  <a:lnTo>
                    <a:pt x="556682" y="553488"/>
                  </a:lnTo>
                  <a:lnTo>
                    <a:pt x="512373" y="574004"/>
                  </a:lnTo>
                  <a:lnTo>
                    <a:pt x="464522" y="589236"/>
                  </a:lnTo>
                  <a:lnTo>
                    <a:pt x="413687" y="598716"/>
                  </a:lnTo>
                  <a:lnTo>
                    <a:pt x="360425" y="601980"/>
                  </a:lnTo>
                  <a:lnTo>
                    <a:pt x="307164" y="598716"/>
                  </a:lnTo>
                  <a:lnTo>
                    <a:pt x="256329" y="589236"/>
                  </a:lnTo>
                  <a:lnTo>
                    <a:pt x="208478" y="574004"/>
                  </a:lnTo>
                  <a:lnTo>
                    <a:pt x="164169" y="553488"/>
                  </a:lnTo>
                  <a:lnTo>
                    <a:pt x="123959" y="528151"/>
                  </a:lnTo>
                  <a:lnTo>
                    <a:pt x="88405" y="498460"/>
                  </a:lnTo>
                  <a:lnTo>
                    <a:pt x="58066" y="464881"/>
                  </a:lnTo>
                  <a:lnTo>
                    <a:pt x="33498" y="427878"/>
                  </a:lnTo>
                  <a:lnTo>
                    <a:pt x="15259" y="387919"/>
                  </a:lnTo>
                  <a:lnTo>
                    <a:pt x="3907" y="345467"/>
                  </a:lnTo>
                  <a:lnTo>
                    <a:pt x="0" y="300990"/>
                  </a:lnTo>
                  <a:close/>
                </a:path>
              </a:pathLst>
            </a:custGeom>
            <a:ln w="25400">
              <a:solidFill>
                <a:srgbClr val="2E528F"/>
              </a:solidFill>
            </a:ln>
          </p:spPr>
          <p:txBody>
            <a:bodyPr wrap="square" lIns="0" tIns="0" rIns="0" bIns="0" rtlCol="0"/>
            <a:lstStyle/>
            <a:p>
              <a:endParaRPr/>
            </a:p>
          </p:txBody>
        </p:sp>
      </p:grpSp>
      <p:sp>
        <p:nvSpPr>
          <p:cNvPr id="16" name="object 16"/>
          <p:cNvSpPr txBox="1"/>
          <p:nvPr/>
        </p:nvSpPr>
        <p:spPr>
          <a:xfrm>
            <a:off x="880363" y="6098844"/>
            <a:ext cx="30353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X3</a:t>
            </a:r>
            <a:endParaRPr sz="1800">
              <a:latin typeface="Arial"/>
              <a:cs typeface="Arial"/>
            </a:endParaRPr>
          </a:p>
        </p:txBody>
      </p:sp>
      <p:grpSp>
        <p:nvGrpSpPr>
          <p:cNvPr id="17" name="object 17"/>
          <p:cNvGrpSpPr/>
          <p:nvPr/>
        </p:nvGrpSpPr>
        <p:grpSpPr>
          <a:xfrm>
            <a:off x="1504441" y="4395470"/>
            <a:ext cx="744855" cy="627380"/>
            <a:chOff x="1504441" y="4395470"/>
            <a:chExt cx="744855" cy="627380"/>
          </a:xfrm>
        </p:grpSpPr>
        <p:sp>
          <p:nvSpPr>
            <p:cNvPr id="18" name="object 18"/>
            <p:cNvSpPr/>
            <p:nvPr/>
          </p:nvSpPr>
          <p:spPr>
            <a:xfrm>
              <a:off x="1517141" y="4408170"/>
              <a:ext cx="719455" cy="601980"/>
            </a:xfrm>
            <a:custGeom>
              <a:avLst/>
              <a:gdLst/>
              <a:ahLst/>
              <a:cxnLst/>
              <a:rect l="l" t="t" r="r" b="b"/>
              <a:pathLst>
                <a:path w="719455" h="601979">
                  <a:moveTo>
                    <a:pt x="359664" y="0"/>
                  </a:moveTo>
                  <a:lnTo>
                    <a:pt x="306517" y="3263"/>
                  </a:lnTo>
                  <a:lnTo>
                    <a:pt x="255791" y="12742"/>
                  </a:lnTo>
                  <a:lnTo>
                    <a:pt x="208042" y="27973"/>
                  </a:lnTo>
                  <a:lnTo>
                    <a:pt x="163827" y="48488"/>
                  </a:lnTo>
                  <a:lnTo>
                    <a:pt x="123701" y="73824"/>
                  </a:lnTo>
                  <a:lnTo>
                    <a:pt x="88222" y="103514"/>
                  </a:lnTo>
                  <a:lnTo>
                    <a:pt x="57946" y="137093"/>
                  </a:lnTo>
                  <a:lnTo>
                    <a:pt x="33429" y="174095"/>
                  </a:lnTo>
                  <a:lnTo>
                    <a:pt x="15228" y="214056"/>
                  </a:lnTo>
                  <a:lnTo>
                    <a:pt x="3899" y="256509"/>
                  </a:lnTo>
                  <a:lnTo>
                    <a:pt x="0" y="300989"/>
                  </a:lnTo>
                  <a:lnTo>
                    <a:pt x="3899" y="345470"/>
                  </a:lnTo>
                  <a:lnTo>
                    <a:pt x="15228" y="387923"/>
                  </a:lnTo>
                  <a:lnTo>
                    <a:pt x="33429" y="427884"/>
                  </a:lnTo>
                  <a:lnTo>
                    <a:pt x="57946" y="464886"/>
                  </a:lnTo>
                  <a:lnTo>
                    <a:pt x="88222" y="498465"/>
                  </a:lnTo>
                  <a:lnTo>
                    <a:pt x="123701" y="528155"/>
                  </a:lnTo>
                  <a:lnTo>
                    <a:pt x="163827" y="553491"/>
                  </a:lnTo>
                  <a:lnTo>
                    <a:pt x="208042" y="574006"/>
                  </a:lnTo>
                  <a:lnTo>
                    <a:pt x="255791" y="589237"/>
                  </a:lnTo>
                  <a:lnTo>
                    <a:pt x="306517" y="598716"/>
                  </a:lnTo>
                  <a:lnTo>
                    <a:pt x="359664" y="601979"/>
                  </a:lnTo>
                  <a:lnTo>
                    <a:pt x="412810" y="598716"/>
                  </a:lnTo>
                  <a:lnTo>
                    <a:pt x="463536" y="589237"/>
                  </a:lnTo>
                  <a:lnTo>
                    <a:pt x="511285" y="574006"/>
                  </a:lnTo>
                  <a:lnTo>
                    <a:pt x="555500" y="553491"/>
                  </a:lnTo>
                  <a:lnTo>
                    <a:pt x="595626" y="528155"/>
                  </a:lnTo>
                  <a:lnTo>
                    <a:pt x="631105" y="498465"/>
                  </a:lnTo>
                  <a:lnTo>
                    <a:pt x="661381" y="464886"/>
                  </a:lnTo>
                  <a:lnTo>
                    <a:pt x="685898" y="427884"/>
                  </a:lnTo>
                  <a:lnTo>
                    <a:pt x="704099" y="387923"/>
                  </a:lnTo>
                  <a:lnTo>
                    <a:pt x="715428" y="345470"/>
                  </a:lnTo>
                  <a:lnTo>
                    <a:pt x="719328" y="300989"/>
                  </a:lnTo>
                  <a:lnTo>
                    <a:pt x="715428" y="256509"/>
                  </a:lnTo>
                  <a:lnTo>
                    <a:pt x="704099" y="214056"/>
                  </a:lnTo>
                  <a:lnTo>
                    <a:pt x="685898" y="174095"/>
                  </a:lnTo>
                  <a:lnTo>
                    <a:pt x="661381" y="137093"/>
                  </a:lnTo>
                  <a:lnTo>
                    <a:pt x="631105" y="103514"/>
                  </a:lnTo>
                  <a:lnTo>
                    <a:pt x="595626" y="73824"/>
                  </a:lnTo>
                  <a:lnTo>
                    <a:pt x="555500" y="48488"/>
                  </a:lnTo>
                  <a:lnTo>
                    <a:pt x="511285" y="27973"/>
                  </a:lnTo>
                  <a:lnTo>
                    <a:pt x="463536" y="12742"/>
                  </a:lnTo>
                  <a:lnTo>
                    <a:pt x="412810" y="3263"/>
                  </a:lnTo>
                  <a:lnTo>
                    <a:pt x="359664" y="0"/>
                  </a:lnTo>
                  <a:close/>
                </a:path>
              </a:pathLst>
            </a:custGeom>
            <a:solidFill>
              <a:srgbClr val="E7E6E6"/>
            </a:solidFill>
          </p:spPr>
          <p:txBody>
            <a:bodyPr wrap="square" lIns="0" tIns="0" rIns="0" bIns="0" rtlCol="0"/>
            <a:lstStyle/>
            <a:p>
              <a:endParaRPr/>
            </a:p>
          </p:txBody>
        </p:sp>
        <p:sp>
          <p:nvSpPr>
            <p:cNvPr id="19" name="object 19"/>
            <p:cNvSpPr/>
            <p:nvPr/>
          </p:nvSpPr>
          <p:spPr>
            <a:xfrm>
              <a:off x="1517141" y="4408170"/>
              <a:ext cx="719455" cy="601980"/>
            </a:xfrm>
            <a:custGeom>
              <a:avLst/>
              <a:gdLst/>
              <a:ahLst/>
              <a:cxnLst/>
              <a:rect l="l" t="t" r="r" b="b"/>
              <a:pathLst>
                <a:path w="719455" h="601979">
                  <a:moveTo>
                    <a:pt x="0" y="300989"/>
                  </a:moveTo>
                  <a:lnTo>
                    <a:pt x="3899" y="256509"/>
                  </a:lnTo>
                  <a:lnTo>
                    <a:pt x="15228" y="214056"/>
                  </a:lnTo>
                  <a:lnTo>
                    <a:pt x="33429" y="174095"/>
                  </a:lnTo>
                  <a:lnTo>
                    <a:pt x="57946" y="137093"/>
                  </a:lnTo>
                  <a:lnTo>
                    <a:pt x="88222" y="103514"/>
                  </a:lnTo>
                  <a:lnTo>
                    <a:pt x="123701" y="73824"/>
                  </a:lnTo>
                  <a:lnTo>
                    <a:pt x="163827" y="48488"/>
                  </a:lnTo>
                  <a:lnTo>
                    <a:pt x="208042" y="27973"/>
                  </a:lnTo>
                  <a:lnTo>
                    <a:pt x="255791" y="12742"/>
                  </a:lnTo>
                  <a:lnTo>
                    <a:pt x="306517" y="3263"/>
                  </a:lnTo>
                  <a:lnTo>
                    <a:pt x="359664" y="0"/>
                  </a:lnTo>
                  <a:lnTo>
                    <a:pt x="412810" y="3263"/>
                  </a:lnTo>
                  <a:lnTo>
                    <a:pt x="463536" y="12742"/>
                  </a:lnTo>
                  <a:lnTo>
                    <a:pt x="511285" y="27973"/>
                  </a:lnTo>
                  <a:lnTo>
                    <a:pt x="555500" y="48488"/>
                  </a:lnTo>
                  <a:lnTo>
                    <a:pt x="595626" y="73824"/>
                  </a:lnTo>
                  <a:lnTo>
                    <a:pt x="631105" y="103514"/>
                  </a:lnTo>
                  <a:lnTo>
                    <a:pt x="661381" y="137093"/>
                  </a:lnTo>
                  <a:lnTo>
                    <a:pt x="685898" y="174095"/>
                  </a:lnTo>
                  <a:lnTo>
                    <a:pt x="704099" y="214056"/>
                  </a:lnTo>
                  <a:lnTo>
                    <a:pt x="715428" y="256509"/>
                  </a:lnTo>
                  <a:lnTo>
                    <a:pt x="719328" y="300989"/>
                  </a:lnTo>
                  <a:lnTo>
                    <a:pt x="715428" y="345470"/>
                  </a:lnTo>
                  <a:lnTo>
                    <a:pt x="704099" y="387923"/>
                  </a:lnTo>
                  <a:lnTo>
                    <a:pt x="685898" y="427884"/>
                  </a:lnTo>
                  <a:lnTo>
                    <a:pt x="661381" y="464886"/>
                  </a:lnTo>
                  <a:lnTo>
                    <a:pt x="631105" y="498465"/>
                  </a:lnTo>
                  <a:lnTo>
                    <a:pt x="595626" y="528155"/>
                  </a:lnTo>
                  <a:lnTo>
                    <a:pt x="555500" y="553491"/>
                  </a:lnTo>
                  <a:lnTo>
                    <a:pt x="511285" y="574006"/>
                  </a:lnTo>
                  <a:lnTo>
                    <a:pt x="463536" y="589237"/>
                  </a:lnTo>
                  <a:lnTo>
                    <a:pt x="412810" y="598716"/>
                  </a:lnTo>
                  <a:lnTo>
                    <a:pt x="359664" y="601979"/>
                  </a:lnTo>
                  <a:lnTo>
                    <a:pt x="306517" y="598716"/>
                  </a:lnTo>
                  <a:lnTo>
                    <a:pt x="255791" y="589237"/>
                  </a:lnTo>
                  <a:lnTo>
                    <a:pt x="208042" y="574006"/>
                  </a:lnTo>
                  <a:lnTo>
                    <a:pt x="163827" y="553491"/>
                  </a:lnTo>
                  <a:lnTo>
                    <a:pt x="123701" y="528155"/>
                  </a:lnTo>
                  <a:lnTo>
                    <a:pt x="88222" y="498465"/>
                  </a:lnTo>
                  <a:lnTo>
                    <a:pt x="57946" y="464886"/>
                  </a:lnTo>
                  <a:lnTo>
                    <a:pt x="33429" y="427884"/>
                  </a:lnTo>
                  <a:lnTo>
                    <a:pt x="15228" y="387923"/>
                  </a:lnTo>
                  <a:lnTo>
                    <a:pt x="3899" y="345470"/>
                  </a:lnTo>
                  <a:lnTo>
                    <a:pt x="0" y="300989"/>
                  </a:lnTo>
                  <a:close/>
                </a:path>
              </a:pathLst>
            </a:custGeom>
            <a:ln w="25400">
              <a:solidFill>
                <a:srgbClr val="2E528F"/>
              </a:solidFill>
            </a:ln>
          </p:spPr>
          <p:txBody>
            <a:bodyPr wrap="square" lIns="0" tIns="0" rIns="0" bIns="0" rtlCol="0"/>
            <a:lstStyle/>
            <a:p>
              <a:endParaRPr/>
            </a:p>
          </p:txBody>
        </p:sp>
      </p:grpSp>
      <p:sp>
        <p:nvSpPr>
          <p:cNvPr id="20" name="object 20"/>
          <p:cNvSpPr txBox="1"/>
          <p:nvPr/>
        </p:nvSpPr>
        <p:spPr>
          <a:xfrm>
            <a:off x="1730120" y="4553839"/>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Z1</a:t>
            </a:r>
            <a:endParaRPr sz="1800">
              <a:latin typeface="Arial"/>
              <a:cs typeface="Arial"/>
            </a:endParaRPr>
          </a:p>
        </p:txBody>
      </p:sp>
      <p:grpSp>
        <p:nvGrpSpPr>
          <p:cNvPr id="21" name="object 21"/>
          <p:cNvGrpSpPr/>
          <p:nvPr/>
        </p:nvGrpSpPr>
        <p:grpSpPr>
          <a:xfrm>
            <a:off x="1504441" y="5160517"/>
            <a:ext cx="744855" cy="629285"/>
            <a:chOff x="1504441" y="5160517"/>
            <a:chExt cx="744855" cy="629285"/>
          </a:xfrm>
        </p:grpSpPr>
        <p:sp>
          <p:nvSpPr>
            <p:cNvPr id="22" name="object 22"/>
            <p:cNvSpPr/>
            <p:nvPr/>
          </p:nvSpPr>
          <p:spPr>
            <a:xfrm>
              <a:off x="1517141" y="5173217"/>
              <a:ext cx="719455" cy="603885"/>
            </a:xfrm>
            <a:custGeom>
              <a:avLst/>
              <a:gdLst/>
              <a:ahLst/>
              <a:cxnLst/>
              <a:rect l="l" t="t" r="r" b="b"/>
              <a:pathLst>
                <a:path w="719455" h="603885">
                  <a:moveTo>
                    <a:pt x="359664" y="0"/>
                  </a:moveTo>
                  <a:lnTo>
                    <a:pt x="306517" y="3272"/>
                  </a:lnTo>
                  <a:lnTo>
                    <a:pt x="255791" y="12778"/>
                  </a:lnTo>
                  <a:lnTo>
                    <a:pt x="208042" y="28050"/>
                  </a:lnTo>
                  <a:lnTo>
                    <a:pt x="163827" y="48621"/>
                  </a:lnTo>
                  <a:lnTo>
                    <a:pt x="123701" y="74024"/>
                  </a:lnTo>
                  <a:lnTo>
                    <a:pt x="88222" y="103792"/>
                  </a:lnTo>
                  <a:lnTo>
                    <a:pt x="57946" y="137457"/>
                  </a:lnTo>
                  <a:lnTo>
                    <a:pt x="33429" y="174553"/>
                  </a:lnTo>
                  <a:lnTo>
                    <a:pt x="15228" y="214612"/>
                  </a:lnTo>
                  <a:lnTo>
                    <a:pt x="3899" y="257167"/>
                  </a:lnTo>
                  <a:lnTo>
                    <a:pt x="0" y="301751"/>
                  </a:lnTo>
                  <a:lnTo>
                    <a:pt x="3899" y="346341"/>
                  </a:lnTo>
                  <a:lnTo>
                    <a:pt x="15228" y="388900"/>
                  </a:lnTo>
                  <a:lnTo>
                    <a:pt x="33429" y="428961"/>
                  </a:lnTo>
                  <a:lnTo>
                    <a:pt x="57946" y="466057"/>
                  </a:lnTo>
                  <a:lnTo>
                    <a:pt x="88222" y="499722"/>
                  </a:lnTo>
                  <a:lnTo>
                    <a:pt x="123701" y="529488"/>
                  </a:lnTo>
                  <a:lnTo>
                    <a:pt x="163827" y="554888"/>
                  </a:lnTo>
                  <a:lnTo>
                    <a:pt x="208042" y="575457"/>
                  </a:lnTo>
                  <a:lnTo>
                    <a:pt x="255791" y="590727"/>
                  </a:lnTo>
                  <a:lnTo>
                    <a:pt x="306517" y="600232"/>
                  </a:lnTo>
                  <a:lnTo>
                    <a:pt x="359664" y="603503"/>
                  </a:lnTo>
                  <a:lnTo>
                    <a:pt x="412810" y="600232"/>
                  </a:lnTo>
                  <a:lnTo>
                    <a:pt x="463536" y="590727"/>
                  </a:lnTo>
                  <a:lnTo>
                    <a:pt x="511285" y="575457"/>
                  </a:lnTo>
                  <a:lnTo>
                    <a:pt x="555500" y="554888"/>
                  </a:lnTo>
                  <a:lnTo>
                    <a:pt x="595626" y="529488"/>
                  </a:lnTo>
                  <a:lnTo>
                    <a:pt x="631105" y="499722"/>
                  </a:lnTo>
                  <a:lnTo>
                    <a:pt x="661381" y="466057"/>
                  </a:lnTo>
                  <a:lnTo>
                    <a:pt x="685898" y="428961"/>
                  </a:lnTo>
                  <a:lnTo>
                    <a:pt x="704099" y="388900"/>
                  </a:lnTo>
                  <a:lnTo>
                    <a:pt x="715428" y="346341"/>
                  </a:lnTo>
                  <a:lnTo>
                    <a:pt x="719328" y="301751"/>
                  </a:lnTo>
                  <a:lnTo>
                    <a:pt x="715428" y="257167"/>
                  </a:lnTo>
                  <a:lnTo>
                    <a:pt x="704099" y="214612"/>
                  </a:lnTo>
                  <a:lnTo>
                    <a:pt x="685898" y="174553"/>
                  </a:lnTo>
                  <a:lnTo>
                    <a:pt x="661381" y="137457"/>
                  </a:lnTo>
                  <a:lnTo>
                    <a:pt x="631105" y="103792"/>
                  </a:lnTo>
                  <a:lnTo>
                    <a:pt x="595626" y="74024"/>
                  </a:lnTo>
                  <a:lnTo>
                    <a:pt x="555500" y="48621"/>
                  </a:lnTo>
                  <a:lnTo>
                    <a:pt x="511285" y="28050"/>
                  </a:lnTo>
                  <a:lnTo>
                    <a:pt x="463536" y="12778"/>
                  </a:lnTo>
                  <a:lnTo>
                    <a:pt x="412810" y="3272"/>
                  </a:lnTo>
                  <a:lnTo>
                    <a:pt x="359664" y="0"/>
                  </a:lnTo>
                  <a:close/>
                </a:path>
              </a:pathLst>
            </a:custGeom>
            <a:solidFill>
              <a:srgbClr val="E7E6E6"/>
            </a:solidFill>
          </p:spPr>
          <p:txBody>
            <a:bodyPr wrap="square" lIns="0" tIns="0" rIns="0" bIns="0" rtlCol="0"/>
            <a:lstStyle/>
            <a:p>
              <a:endParaRPr/>
            </a:p>
          </p:txBody>
        </p:sp>
        <p:sp>
          <p:nvSpPr>
            <p:cNvPr id="23" name="object 23"/>
            <p:cNvSpPr/>
            <p:nvPr/>
          </p:nvSpPr>
          <p:spPr>
            <a:xfrm>
              <a:off x="1517141" y="5173217"/>
              <a:ext cx="719455" cy="603885"/>
            </a:xfrm>
            <a:custGeom>
              <a:avLst/>
              <a:gdLst/>
              <a:ahLst/>
              <a:cxnLst/>
              <a:rect l="l" t="t" r="r" b="b"/>
              <a:pathLst>
                <a:path w="719455" h="603885">
                  <a:moveTo>
                    <a:pt x="0" y="301751"/>
                  </a:moveTo>
                  <a:lnTo>
                    <a:pt x="3899" y="257167"/>
                  </a:lnTo>
                  <a:lnTo>
                    <a:pt x="15228" y="214612"/>
                  </a:lnTo>
                  <a:lnTo>
                    <a:pt x="33429" y="174553"/>
                  </a:lnTo>
                  <a:lnTo>
                    <a:pt x="57946" y="137457"/>
                  </a:lnTo>
                  <a:lnTo>
                    <a:pt x="88222" y="103792"/>
                  </a:lnTo>
                  <a:lnTo>
                    <a:pt x="123701" y="74024"/>
                  </a:lnTo>
                  <a:lnTo>
                    <a:pt x="163827" y="48621"/>
                  </a:lnTo>
                  <a:lnTo>
                    <a:pt x="208042" y="28050"/>
                  </a:lnTo>
                  <a:lnTo>
                    <a:pt x="255791" y="12778"/>
                  </a:lnTo>
                  <a:lnTo>
                    <a:pt x="306517" y="3272"/>
                  </a:lnTo>
                  <a:lnTo>
                    <a:pt x="359664" y="0"/>
                  </a:lnTo>
                  <a:lnTo>
                    <a:pt x="412810" y="3272"/>
                  </a:lnTo>
                  <a:lnTo>
                    <a:pt x="463536" y="12778"/>
                  </a:lnTo>
                  <a:lnTo>
                    <a:pt x="511285" y="28050"/>
                  </a:lnTo>
                  <a:lnTo>
                    <a:pt x="555500" y="48621"/>
                  </a:lnTo>
                  <a:lnTo>
                    <a:pt x="595626" y="74024"/>
                  </a:lnTo>
                  <a:lnTo>
                    <a:pt x="631105" y="103792"/>
                  </a:lnTo>
                  <a:lnTo>
                    <a:pt x="661381" y="137457"/>
                  </a:lnTo>
                  <a:lnTo>
                    <a:pt x="685898" y="174553"/>
                  </a:lnTo>
                  <a:lnTo>
                    <a:pt x="704099" y="214612"/>
                  </a:lnTo>
                  <a:lnTo>
                    <a:pt x="715428" y="257167"/>
                  </a:lnTo>
                  <a:lnTo>
                    <a:pt x="719328" y="301751"/>
                  </a:lnTo>
                  <a:lnTo>
                    <a:pt x="715428" y="346341"/>
                  </a:lnTo>
                  <a:lnTo>
                    <a:pt x="704099" y="388900"/>
                  </a:lnTo>
                  <a:lnTo>
                    <a:pt x="685898" y="428961"/>
                  </a:lnTo>
                  <a:lnTo>
                    <a:pt x="661381" y="466057"/>
                  </a:lnTo>
                  <a:lnTo>
                    <a:pt x="631105" y="499722"/>
                  </a:lnTo>
                  <a:lnTo>
                    <a:pt x="595626" y="529488"/>
                  </a:lnTo>
                  <a:lnTo>
                    <a:pt x="555500" y="554888"/>
                  </a:lnTo>
                  <a:lnTo>
                    <a:pt x="511285" y="575457"/>
                  </a:lnTo>
                  <a:lnTo>
                    <a:pt x="463536" y="590727"/>
                  </a:lnTo>
                  <a:lnTo>
                    <a:pt x="412810" y="600232"/>
                  </a:lnTo>
                  <a:lnTo>
                    <a:pt x="359664" y="603503"/>
                  </a:lnTo>
                  <a:lnTo>
                    <a:pt x="306517" y="600232"/>
                  </a:lnTo>
                  <a:lnTo>
                    <a:pt x="255791" y="590727"/>
                  </a:lnTo>
                  <a:lnTo>
                    <a:pt x="208042" y="575457"/>
                  </a:lnTo>
                  <a:lnTo>
                    <a:pt x="163827" y="554888"/>
                  </a:lnTo>
                  <a:lnTo>
                    <a:pt x="123701" y="529488"/>
                  </a:lnTo>
                  <a:lnTo>
                    <a:pt x="88222" y="499722"/>
                  </a:lnTo>
                  <a:lnTo>
                    <a:pt x="57946" y="466057"/>
                  </a:lnTo>
                  <a:lnTo>
                    <a:pt x="33429" y="428961"/>
                  </a:lnTo>
                  <a:lnTo>
                    <a:pt x="15228" y="388900"/>
                  </a:lnTo>
                  <a:lnTo>
                    <a:pt x="3899" y="346341"/>
                  </a:lnTo>
                  <a:lnTo>
                    <a:pt x="0" y="301751"/>
                  </a:lnTo>
                  <a:close/>
                </a:path>
              </a:pathLst>
            </a:custGeom>
            <a:ln w="25400">
              <a:solidFill>
                <a:srgbClr val="2E528F"/>
              </a:solidFill>
            </a:ln>
          </p:spPr>
          <p:txBody>
            <a:bodyPr wrap="square" lIns="0" tIns="0" rIns="0" bIns="0" rtlCol="0"/>
            <a:lstStyle/>
            <a:p>
              <a:endParaRPr/>
            </a:p>
          </p:txBody>
        </p:sp>
      </p:grpSp>
      <p:sp>
        <p:nvSpPr>
          <p:cNvPr id="24" name="object 24"/>
          <p:cNvSpPr txBox="1"/>
          <p:nvPr/>
        </p:nvSpPr>
        <p:spPr>
          <a:xfrm>
            <a:off x="1730120" y="5319521"/>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Z2</a:t>
            </a:r>
            <a:endParaRPr sz="1800">
              <a:latin typeface="Arial"/>
              <a:cs typeface="Arial"/>
            </a:endParaRPr>
          </a:p>
        </p:txBody>
      </p:sp>
      <p:grpSp>
        <p:nvGrpSpPr>
          <p:cNvPr id="25" name="object 25"/>
          <p:cNvGrpSpPr/>
          <p:nvPr/>
        </p:nvGrpSpPr>
        <p:grpSpPr>
          <a:xfrm>
            <a:off x="1504441" y="5940805"/>
            <a:ext cx="744855" cy="627380"/>
            <a:chOff x="1504441" y="5940805"/>
            <a:chExt cx="744855" cy="627380"/>
          </a:xfrm>
        </p:grpSpPr>
        <p:sp>
          <p:nvSpPr>
            <p:cNvPr id="26" name="object 26"/>
            <p:cNvSpPr/>
            <p:nvPr/>
          </p:nvSpPr>
          <p:spPr>
            <a:xfrm>
              <a:off x="1517141" y="5953505"/>
              <a:ext cx="719455" cy="601980"/>
            </a:xfrm>
            <a:custGeom>
              <a:avLst/>
              <a:gdLst/>
              <a:ahLst/>
              <a:cxnLst/>
              <a:rect l="l" t="t" r="r" b="b"/>
              <a:pathLst>
                <a:path w="719455" h="601979">
                  <a:moveTo>
                    <a:pt x="359664" y="0"/>
                  </a:moveTo>
                  <a:lnTo>
                    <a:pt x="306517" y="3263"/>
                  </a:lnTo>
                  <a:lnTo>
                    <a:pt x="255791" y="12743"/>
                  </a:lnTo>
                  <a:lnTo>
                    <a:pt x="208042" y="27975"/>
                  </a:lnTo>
                  <a:lnTo>
                    <a:pt x="163827" y="48491"/>
                  </a:lnTo>
                  <a:lnTo>
                    <a:pt x="123701" y="73828"/>
                  </a:lnTo>
                  <a:lnTo>
                    <a:pt x="88222" y="103519"/>
                  </a:lnTo>
                  <a:lnTo>
                    <a:pt x="57946" y="137098"/>
                  </a:lnTo>
                  <a:lnTo>
                    <a:pt x="33429" y="174101"/>
                  </a:lnTo>
                  <a:lnTo>
                    <a:pt x="15228" y="214060"/>
                  </a:lnTo>
                  <a:lnTo>
                    <a:pt x="3899" y="256512"/>
                  </a:lnTo>
                  <a:lnTo>
                    <a:pt x="0" y="300990"/>
                  </a:lnTo>
                  <a:lnTo>
                    <a:pt x="3899" y="345467"/>
                  </a:lnTo>
                  <a:lnTo>
                    <a:pt x="15228" y="387919"/>
                  </a:lnTo>
                  <a:lnTo>
                    <a:pt x="33429" y="427878"/>
                  </a:lnTo>
                  <a:lnTo>
                    <a:pt x="57946" y="464881"/>
                  </a:lnTo>
                  <a:lnTo>
                    <a:pt x="88222" y="498460"/>
                  </a:lnTo>
                  <a:lnTo>
                    <a:pt x="123701" y="528151"/>
                  </a:lnTo>
                  <a:lnTo>
                    <a:pt x="163827" y="553488"/>
                  </a:lnTo>
                  <a:lnTo>
                    <a:pt x="208042" y="574004"/>
                  </a:lnTo>
                  <a:lnTo>
                    <a:pt x="255791" y="589236"/>
                  </a:lnTo>
                  <a:lnTo>
                    <a:pt x="306517" y="598716"/>
                  </a:lnTo>
                  <a:lnTo>
                    <a:pt x="359664" y="601980"/>
                  </a:lnTo>
                  <a:lnTo>
                    <a:pt x="412810" y="598716"/>
                  </a:lnTo>
                  <a:lnTo>
                    <a:pt x="463536" y="589236"/>
                  </a:lnTo>
                  <a:lnTo>
                    <a:pt x="511285" y="574004"/>
                  </a:lnTo>
                  <a:lnTo>
                    <a:pt x="555500" y="553488"/>
                  </a:lnTo>
                  <a:lnTo>
                    <a:pt x="595626" y="528151"/>
                  </a:lnTo>
                  <a:lnTo>
                    <a:pt x="631105" y="498460"/>
                  </a:lnTo>
                  <a:lnTo>
                    <a:pt x="661381" y="464881"/>
                  </a:lnTo>
                  <a:lnTo>
                    <a:pt x="685898" y="427878"/>
                  </a:lnTo>
                  <a:lnTo>
                    <a:pt x="704099" y="387919"/>
                  </a:lnTo>
                  <a:lnTo>
                    <a:pt x="715428" y="345467"/>
                  </a:lnTo>
                  <a:lnTo>
                    <a:pt x="719328" y="300990"/>
                  </a:lnTo>
                  <a:lnTo>
                    <a:pt x="715428" y="256512"/>
                  </a:lnTo>
                  <a:lnTo>
                    <a:pt x="704099" y="214060"/>
                  </a:lnTo>
                  <a:lnTo>
                    <a:pt x="685898" y="174101"/>
                  </a:lnTo>
                  <a:lnTo>
                    <a:pt x="661381" y="137098"/>
                  </a:lnTo>
                  <a:lnTo>
                    <a:pt x="631105" y="103519"/>
                  </a:lnTo>
                  <a:lnTo>
                    <a:pt x="595626" y="73828"/>
                  </a:lnTo>
                  <a:lnTo>
                    <a:pt x="555500" y="48491"/>
                  </a:lnTo>
                  <a:lnTo>
                    <a:pt x="511285" y="27975"/>
                  </a:lnTo>
                  <a:lnTo>
                    <a:pt x="463536" y="12743"/>
                  </a:lnTo>
                  <a:lnTo>
                    <a:pt x="412810" y="3263"/>
                  </a:lnTo>
                  <a:lnTo>
                    <a:pt x="359664" y="0"/>
                  </a:lnTo>
                  <a:close/>
                </a:path>
              </a:pathLst>
            </a:custGeom>
            <a:solidFill>
              <a:srgbClr val="E7E6E6"/>
            </a:solidFill>
          </p:spPr>
          <p:txBody>
            <a:bodyPr wrap="square" lIns="0" tIns="0" rIns="0" bIns="0" rtlCol="0"/>
            <a:lstStyle/>
            <a:p>
              <a:endParaRPr/>
            </a:p>
          </p:txBody>
        </p:sp>
        <p:sp>
          <p:nvSpPr>
            <p:cNvPr id="27" name="object 27"/>
            <p:cNvSpPr/>
            <p:nvPr/>
          </p:nvSpPr>
          <p:spPr>
            <a:xfrm>
              <a:off x="1517141" y="5953505"/>
              <a:ext cx="719455" cy="601980"/>
            </a:xfrm>
            <a:custGeom>
              <a:avLst/>
              <a:gdLst/>
              <a:ahLst/>
              <a:cxnLst/>
              <a:rect l="l" t="t" r="r" b="b"/>
              <a:pathLst>
                <a:path w="719455" h="601979">
                  <a:moveTo>
                    <a:pt x="0" y="300990"/>
                  </a:moveTo>
                  <a:lnTo>
                    <a:pt x="3899" y="256512"/>
                  </a:lnTo>
                  <a:lnTo>
                    <a:pt x="15228" y="214060"/>
                  </a:lnTo>
                  <a:lnTo>
                    <a:pt x="33429" y="174101"/>
                  </a:lnTo>
                  <a:lnTo>
                    <a:pt x="57946" y="137098"/>
                  </a:lnTo>
                  <a:lnTo>
                    <a:pt x="88222" y="103519"/>
                  </a:lnTo>
                  <a:lnTo>
                    <a:pt x="123701" y="73828"/>
                  </a:lnTo>
                  <a:lnTo>
                    <a:pt x="163827" y="48491"/>
                  </a:lnTo>
                  <a:lnTo>
                    <a:pt x="208042" y="27975"/>
                  </a:lnTo>
                  <a:lnTo>
                    <a:pt x="255791" y="12743"/>
                  </a:lnTo>
                  <a:lnTo>
                    <a:pt x="306517" y="3263"/>
                  </a:lnTo>
                  <a:lnTo>
                    <a:pt x="359664" y="0"/>
                  </a:lnTo>
                  <a:lnTo>
                    <a:pt x="412810" y="3263"/>
                  </a:lnTo>
                  <a:lnTo>
                    <a:pt x="463536" y="12743"/>
                  </a:lnTo>
                  <a:lnTo>
                    <a:pt x="511285" y="27975"/>
                  </a:lnTo>
                  <a:lnTo>
                    <a:pt x="555500" y="48491"/>
                  </a:lnTo>
                  <a:lnTo>
                    <a:pt x="595626" y="73828"/>
                  </a:lnTo>
                  <a:lnTo>
                    <a:pt x="631105" y="103519"/>
                  </a:lnTo>
                  <a:lnTo>
                    <a:pt x="661381" y="137098"/>
                  </a:lnTo>
                  <a:lnTo>
                    <a:pt x="685898" y="174101"/>
                  </a:lnTo>
                  <a:lnTo>
                    <a:pt x="704099" y="214060"/>
                  </a:lnTo>
                  <a:lnTo>
                    <a:pt x="715428" y="256512"/>
                  </a:lnTo>
                  <a:lnTo>
                    <a:pt x="719328" y="300990"/>
                  </a:lnTo>
                  <a:lnTo>
                    <a:pt x="715428" y="345467"/>
                  </a:lnTo>
                  <a:lnTo>
                    <a:pt x="704099" y="387919"/>
                  </a:lnTo>
                  <a:lnTo>
                    <a:pt x="685898" y="427878"/>
                  </a:lnTo>
                  <a:lnTo>
                    <a:pt x="661381" y="464881"/>
                  </a:lnTo>
                  <a:lnTo>
                    <a:pt x="631105" y="498460"/>
                  </a:lnTo>
                  <a:lnTo>
                    <a:pt x="595626" y="528151"/>
                  </a:lnTo>
                  <a:lnTo>
                    <a:pt x="555500" y="553488"/>
                  </a:lnTo>
                  <a:lnTo>
                    <a:pt x="511285" y="574004"/>
                  </a:lnTo>
                  <a:lnTo>
                    <a:pt x="463536" y="589236"/>
                  </a:lnTo>
                  <a:lnTo>
                    <a:pt x="412810" y="598716"/>
                  </a:lnTo>
                  <a:lnTo>
                    <a:pt x="359664" y="601980"/>
                  </a:lnTo>
                  <a:lnTo>
                    <a:pt x="306517" y="598716"/>
                  </a:lnTo>
                  <a:lnTo>
                    <a:pt x="255791" y="589236"/>
                  </a:lnTo>
                  <a:lnTo>
                    <a:pt x="208042" y="574004"/>
                  </a:lnTo>
                  <a:lnTo>
                    <a:pt x="163827" y="553488"/>
                  </a:lnTo>
                  <a:lnTo>
                    <a:pt x="123701" y="528151"/>
                  </a:lnTo>
                  <a:lnTo>
                    <a:pt x="88222" y="498460"/>
                  </a:lnTo>
                  <a:lnTo>
                    <a:pt x="57946" y="464881"/>
                  </a:lnTo>
                  <a:lnTo>
                    <a:pt x="33429" y="427878"/>
                  </a:lnTo>
                  <a:lnTo>
                    <a:pt x="15228" y="387919"/>
                  </a:lnTo>
                  <a:lnTo>
                    <a:pt x="3899" y="345467"/>
                  </a:lnTo>
                  <a:lnTo>
                    <a:pt x="0" y="300990"/>
                  </a:lnTo>
                  <a:close/>
                </a:path>
              </a:pathLst>
            </a:custGeom>
            <a:ln w="25400">
              <a:solidFill>
                <a:srgbClr val="2E528F"/>
              </a:solidFill>
            </a:ln>
          </p:spPr>
          <p:txBody>
            <a:bodyPr wrap="square" lIns="0" tIns="0" rIns="0" bIns="0" rtlCol="0"/>
            <a:lstStyle/>
            <a:p>
              <a:endParaRPr/>
            </a:p>
          </p:txBody>
        </p:sp>
      </p:grpSp>
      <p:sp>
        <p:nvSpPr>
          <p:cNvPr id="28" name="object 28"/>
          <p:cNvSpPr txBox="1"/>
          <p:nvPr/>
        </p:nvSpPr>
        <p:spPr>
          <a:xfrm>
            <a:off x="1730120" y="6098844"/>
            <a:ext cx="2933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Z3</a:t>
            </a:r>
            <a:endParaRPr sz="1800">
              <a:latin typeface="Arial"/>
              <a:cs typeface="Arial"/>
            </a:endParaRPr>
          </a:p>
        </p:txBody>
      </p:sp>
      <p:grpSp>
        <p:nvGrpSpPr>
          <p:cNvPr id="29" name="object 29"/>
          <p:cNvGrpSpPr/>
          <p:nvPr/>
        </p:nvGrpSpPr>
        <p:grpSpPr>
          <a:xfrm>
            <a:off x="2350261" y="4395470"/>
            <a:ext cx="744855" cy="627380"/>
            <a:chOff x="2350261" y="4395470"/>
            <a:chExt cx="744855" cy="627380"/>
          </a:xfrm>
        </p:grpSpPr>
        <p:sp>
          <p:nvSpPr>
            <p:cNvPr id="30" name="object 30"/>
            <p:cNvSpPr/>
            <p:nvPr/>
          </p:nvSpPr>
          <p:spPr>
            <a:xfrm>
              <a:off x="2362961" y="4408170"/>
              <a:ext cx="719455" cy="601980"/>
            </a:xfrm>
            <a:custGeom>
              <a:avLst/>
              <a:gdLst/>
              <a:ahLst/>
              <a:cxnLst/>
              <a:rect l="l" t="t" r="r" b="b"/>
              <a:pathLst>
                <a:path w="719455" h="601979">
                  <a:moveTo>
                    <a:pt x="359663" y="0"/>
                  </a:moveTo>
                  <a:lnTo>
                    <a:pt x="306517" y="3263"/>
                  </a:lnTo>
                  <a:lnTo>
                    <a:pt x="255791" y="12742"/>
                  </a:lnTo>
                  <a:lnTo>
                    <a:pt x="208042" y="27973"/>
                  </a:lnTo>
                  <a:lnTo>
                    <a:pt x="163827" y="48488"/>
                  </a:lnTo>
                  <a:lnTo>
                    <a:pt x="123701" y="73824"/>
                  </a:lnTo>
                  <a:lnTo>
                    <a:pt x="88222" y="103514"/>
                  </a:lnTo>
                  <a:lnTo>
                    <a:pt x="57946" y="137093"/>
                  </a:lnTo>
                  <a:lnTo>
                    <a:pt x="33429" y="174095"/>
                  </a:lnTo>
                  <a:lnTo>
                    <a:pt x="15228" y="214056"/>
                  </a:lnTo>
                  <a:lnTo>
                    <a:pt x="3899" y="256509"/>
                  </a:lnTo>
                  <a:lnTo>
                    <a:pt x="0" y="300989"/>
                  </a:lnTo>
                  <a:lnTo>
                    <a:pt x="3899" y="345470"/>
                  </a:lnTo>
                  <a:lnTo>
                    <a:pt x="15228" y="387923"/>
                  </a:lnTo>
                  <a:lnTo>
                    <a:pt x="33429" y="427884"/>
                  </a:lnTo>
                  <a:lnTo>
                    <a:pt x="57946" y="464886"/>
                  </a:lnTo>
                  <a:lnTo>
                    <a:pt x="88222" y="498465"/>
                  </a:lnTo>
                  <a:lnTo>
                    <a:pt x="123701" y="528155"/>
                  </a:lnTo>
                  <a:lnTo>
                    <a:pt x="163827" y="553491"/>
                  </a:lnTo>
                  <a:lnTo>
                    <a:pt x="208042" y="574006"/>
                  </a:lnTo>
                  <a:lnTo>
                    <a:pt x="255791" y="589237"/>
                  </a:lnTo>
                  <a:lnTo>
                    <a:pt x="306517" y="598716"/>
                  </a:lnTo>
                  <a:lnTo>
                    <a:pt x="359663" y="601979"/>
                  </a:lnTo>
                  <a:lnTo>
                    <a:pt x="412810" y="598716"/>
                  </a:lnTo>
                  <a:lnTo>
                    <a:pt x="463536" y="589237"/>
                  </a:lnTo>
                  <a:lnTo>
                    <a:pt x="511285" y="574006"/>
                  </a:lnTo>
                  <a:lnTo>
                    <a:pt x="555500" y="553491"/>
                  </a:lnTo>
                  <a:lnTo>
                    <a:pt x="595626" y="528155"/>
                  </a:lnTo>
                  <a:lnTo>
                    <a:pt x="631105" y="498465"/>
                  </a:lnTo>
                  <a:lnTo>
                    <a:pt x="661381" y="464886"/>
                  </a:lnTo>
                  <a:lnTo>
                    <a:pt x="685898" y="427884"/>
                  </a:lnTo>
                  <a:lnTo>
                    <a:pt x="704099" y="387923"/>
                  </a:lnTo>
                  <a:lnTo>
                    <a:pt x="715428" y="345470"/>
                  </a:lnTo>
                  <a:lnTo>
                    <a:pt x="719327" y="300989"/>
                  </a:lnTo>
                  <a:lnTo>
                    <a:pt x="715428" y="256509"/>
                  </a:lnTo>
                  <a:lnTo>
                    <a:pt x="704099" y="214056"/>
                  </a:lnTo>
                  <a:lnTo>
                    <a:pt x="685898" y="174095"/>
                  </a:lnTo>
                  <a:lnTo>
                    <a:pt x="661381" y="137093"/>
                  </a:lnTo>
                  <a:lnTo>
                    <a:pt x="631105" y="103514"/>
                  </a:lnTo>
                  <a:lnTo>
                    <a:pt x="595626" y="73824"/>
                  </a:lnTo>
                  <a:lnTo>
                    <a:pt x="555500" y="48488"/>
                  </a:lnTo>
                  <a:lnTo>
                    <a:pt x="511285" y="27973"/>
                  </a:lnTo>
                  <a:lnTo>
                    <a:pt x="463536" y="12742"/>
                  </a:lnTo>
                  <a:lnTo>
                    <a:pt x="412810" y="3263"/>
                  </a:lnTo>
                  <a:lnTo>
                    <a:pt x="359663" y="0"/>
                  </a:lnTo>
                  <a:close/>
                </a:path>
              </a:pathLst>
            </a:custGeom>
            <a:solidFill>
              <a:srgbClr val="E7E6E6"/>
            </a:solidFill>
          </p:spPr>
          <p:txBody>
            <a:bodyPr wrap="square" lIns="0" tIns="0" rIns="0" bIns="0" rtlCol="0"/>
            <a:lstStyle/>
            <a:p>
              <a:endParaRPr/>
            </a:p>
          </p:txBody>
        </p:sp>
        <p:sp>
          <p:nvSpPr>
            <p:cNvPr id="31" name="object 31"/>
            <p:cNvSpPr/>
            <p:nvPr/>
          </p:nvSpPr>
          <p:spPr>
            <a:xfrm>
              <a:off x="2362961" y="4408170"/>
              <a:ext cx="719455" cy="601980"/>
            </a:xfrm>
            <a:custGeom>
              <a:avLst/>
              <a:gdLst/>
              <a:ahLst/>
              <a:cxnLst/>
              <a:rect l="l" t="t" r="r" b="b"/>
              <a:pathLst>
                <a:path w="719455" h="601979">
                  <a:moveTo>
                    <a:pt x="0" y="300989"/>
                  </a:moveTo>
                  <a:lnTo>
                    <a:pt x="3899" y="256509"/>
                  </a:lnTo>
                  <a:lnTo>
                    <a:pt x="15228" y="214056"/>
                  </a:lnTo>
                  <a:lnTo>
                    <a:pt x="33429" y="174095"/>
                  </a:lnTo>
                  <a:lnTo>
                    <a:pt x="57946" y="137093"/>
                  </a:lnTo>
                  <a:lnTo>
                    <a:pt x="88222" y="103514"/>
                  </a:lnTo>
                  <a:lnTo>
                    <a:pt x="123701" y="73824"/>
                  </a:lnTo>
                  <a:lnTo>
                    <a:pt x="163827" y="48488"/>
                  </a:lnTo>
                  <a:lnTo>
                    <a:pt x="208042" y="27973"/>
                  </a:lnTo>
                  <a:lnTo>
                    <a:pt x="255791" y="12742"/>
                  </a:lnTo>
                  <a:lnTo>
                    <a:pt x="306517" y="3263"/>
                  </a:lnTo>
                  <a:lnTo>
                    <a:pt x="359663" y="0"/>
                  </a:lnTo>
                  <a:lnTo>
                    <a:pt x="412810" y="3263"/>
                  </a:lnTo>
                  <a:lnTo>
                    <a:pt x="463536" y="12742"/>
                  </a:lnTo>
                  <a:lnTo>
                    <a:pt x="511285" y="27973"/>
                  </a:lnTo>
                  <a:lnTo>
                    <a:pt x="555500" y="48488"/>
                  </a:lnTo>
                  <a:lnTo>
                    <a:pt x="595626" y="73824"/>
                  </a:lnTo>
                  <a:lnTo>
                    <a:pt x="631105" y="103514"/>
                  </a:lnTo>
                  <a:lnTo>
                    <a:pt x="661381" y="137093"/>
                  </a:lnTo>
                  <a:lnTo>
                    <a:pt x="685898" y="174095"/>
                  </a:lnTo>
                  <a:lnTo>
                    <a:pt x="704099" y="214056"/>
                  </a:lnTo>
                  <a:lnTo>
                    <a:pt x="715428" y="256509"/>
                  </a:lnTo>
                  <a:lnTo>
                    <a:pt x="719327" y="300989"/>
                  </a:lnTo>
                  <a:lnTo>
                    <a:pt x="715428" y="345470"/>
                  </a:lnTo>
                  <a:lnTo>
                    <a:pt x="704099" y="387923"/>
                  </a:lnTo>
                  <a:lnTo>
                    <a:pt x="685898" y="427884"/>
                  </a:lnTo>
                  <a:lnTo>
                    <a:pt x="661381" y="464886"/>
                  </a:lnTo>
                  <a:lnTo>
                    <a:pt x="631105" y="498465"/>
                  </a:lnTo>
                  <a:lnTo>
                    <a:pt x="595626" y="528155"/>
                  </a:lnTo>
                  <a:lnTo>
                    <a:pt x="555500" y="553491"/>
                  </a:lnTo>
                  <a:lnTo>
                    <a:pt x="511285" y="574006"/>
                  </a:lnTo>
                  <a:lnTo>
                    <a:pt x="463536" y="589237"/>
                  </a:lnTo>
                  <a:lnTo>
                    <a:pt x="412810" y="598716"/>
                  </a:lnTo>
                  <a:lnTo>
                    <a:pt x="359663" y="601979"/>
                  </a:lnTo>
                  <a:lnTo>
                    <a:pt x="306517" y="598716"/>
                  </a:lnTo>
                  <a:lnTo>
                    <a:pt x="255791" y="589237"/>
                  </a:lnTo>
                  <a:lnTo>
                    <a:pt x="208042" y="574006"/>
                  </a:lnTo>
                  <a:lnTo>
                    <a:pt x="163827" y="553491"/>
                  </a:lnTo>
                  <a:lnTo>
                    <a:pt x="123701" y="528155"/>
                  </a:lnTo>
                  <a:lnTo>
                    <a:pt x="88222" y="498465"/>
                  </a:lnTo>
                  <a:lnTo>
                    <a:pt x="57946" y="464886"/>
                  </a:lnTo>
                  <a:lnTo>
                    <a:pt x="33429" y="427884"/>
                  </a:lnTo>
                  <a:lnTo>
                    <a:pt x="15228" y="387923"/>
                  </a:lnTo>
                  <a:lnTo>
                    <a:pt x="3899" y="345470"/>
                  </a:lnTo>
                  <a:lnTo>
                    <a:pt x="0" y="300989"/>
                  </a:lnTo>
                  <a:close/>
                </a:path>
              </a:pathLst>
            </a:custGeom>
            <a:ln w="25399">
              <a:solidFill>
                <a:srgbClr val="2E528F"/>
              </a:solidFill>
            </a:ln>
          </p:spPr>
          <p:txBody>
            <a:bodyPr wrap="square" lIns="0" tIns="0" rIns="0" bIns="0" rtlCol="0"/>
            <a:lstStyle/>
            <a:p>
              <a:endParaRPr/>
            </a:p>
          </p:txBody>
        </p:sp>
      </p:grpSp>
      <p:sp>
        <p:nvSpPr>
          <p:cNvPr id="32" name="object 32"/>
          <p:cNvSpPr txBox="1"/>
          <p:nvPr/>
        </p:nvSpPr>
        <p:spPr>
          <a:xfrm>
            <a:off x="2569210" y="4553839"/>
            <a:ext cx="3054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A1</a:t>
            </a:r>
            <a:endParaRPr sz="1800">
              <a:latin typeface="Arial"/>
              <a:cs typeface="Arial"/>
            </a:endParaRPr>
          </a:p>
        </p:txBody>
      </p:sp>
      <p:grpSp>
        <p:nvGrpSpPr>
          <p:cNvPr id="33" name="object 33"/>
          <p:cNvGrpSpPr/>
          <p:nvPr/>
        </p:nvGrpSpPr>
        <p:grpSpPr>
          <a:xfrm>
            <a:off x="2350261" y="5160517"/>
            <a:ext cx="744855" cy="629285"/>
            <a:chOff x="2350261" y="5160517"/>
            <a:chExt cx="744855" cy="629285"/>
          </a:xfrm>
        </p:grpSpPr>
        <p:sp>
          <p:nvSpPr>
            <p:cNvPr id="34" name="object 34"/>
            <p:cNvSpPr/>
            <p:nvPr/>
          </p:nvSpPr>
          <p:spPr>
            <a:xfrm>
              <a:off x="2362961" y="5173217"/>
              <a:ext cx="719455" cy="603885"/>
            </a:xfrm>
            <a:custGeom>
              <a:avLst/>
              <a:gdLst/>
              <a:ahLst/>
              <a:cxnLst/>
              <a:rect l="l" t="t" r="r" b="b"/>
              <a:pathLst>
                <a:path w="719455" h="603885">
                  <a:moveTo>
                    <a:pt x="359663" y="0"/>
                  </a:moveTo>
                  <a:lnTo>
                    <a:pt x="306517" y="3272"/>
                  </a:lnTo>
                  <a:lnTo>
                    <a:pt x="255791" y="12778"/>
                  </a:lnTo>
                  <a:lnTo>
                    <a:pt x="208042" y="28050"/>
                  </a:lnTo>
                  <a:lnTo>
                    <a:pt x="163827" y="48621"/>
                  </a:lnTo>
                  <a:lnTo>
                    <a:pt x="123701" y="74024"/>
                  </a:lnTo>
                  <a:lnTo>
                    <a:pt x="88222" y="103792"/>
                  </a:lnTo>
                  <a:lnTo>
                    <a:pt x="57946" y="137457"/>
                  </a:lnTo>
                  <a:lnTo>
                    <a:pt x="33429" y="174553"/>
                  </a:lnTo>
                  <a:lnTo>
                    <a:pt x="15228" y="214612"/>
                  </a:lnTo>
                  <a:lnTo>
                    <a:pt x="3899" y="257167"/>
                  </a:lnTo>
                  <a:lnTo>
                    <a:pt x="0" y="301751"/>
                  </a:lnTo>
                  <a:lnTo>
                    <a:pt x="3899" y="346341"/>
                  </a:lnTo>
                  <a:lnTo>
                    <a:pt x="15228" y="388900"/>
                  </a:lnTo>
                  <a:lnTo>
                    <a:pt x="33429" y="428961"/>
                  </a:lnTo>
                  <a:lnTo>
                    <a:pt x="57946" y="466057"/>
                  </a:lnTo>
                  <a:lnTo>
                    <a:pt x="88222" y="499722"/>
                  </a:lnTo>
                  <a:lnTo>
                    <a:pt x="123701" y="529488"/>
                  </a:lnTo>
                  <a:lnTo>
                    <a:pt x="163827" y="554888"/>
                  </a:lnTo>
                  <a:lnTo>
                    <a:pt x="208042" y="575457"/>
                  </a:lnTo>
                  <a:lnTo>
                    <a:pt x="255791" y="590727"/>
                  </a:lnTo>
                  <a:lnTo>
                    <a:pt x="306517" y="600232"/>
                  </a:lnTo>
                  <a:lnTo>
                    <a:pt x="359663" y="603503"/>
                  </a:lnTo>
                  <a:lnTo>
                    <a:pt x="412810" y="600232"/>
                  </a:lnTo>
                  <a:lnTo>
                    <a:pt x="463536" y="590727"/>
                  </a:lnTo>
                  <a:lnTo>
                    <a:pt x="511285" y="575457"/>
                  </a:lnTo>
                  <a:lnTo>
                    <a:pt x="555500" y="554888"/>
                  </a:lnTo>
                  <a:lnTo>
                    <a:pt x="595626" y="529488"/>
                  </a:lnTo>
                  <a:lnTo>
                    <a:pt x="631105" y="499722"/>
                  </a:lnTo>
                  <a:lnTo>
                    <a:pt x="661381" y="466057"/>
                  </a:lnTo>
                  <a:lnTo>
                    <a:pt x="685898" y="428961"/>
                  </a:lnTo>
                  <a:lnTo>
                    <a:pt x="704099" y="388900"/>
                  </a:lnTo>
                  <a:lnTo>
                    <a:pt x="715428" y="346341"/>
                  </a:lnTo>
                  <a:lnTo>
                    <a:pt x="719327" y="301751"/>
                  </a:lnTo>
                  <a:lnTo>
                    <a:pt x="715428" y="257167"/>
                  </a:lnTo>
                  <a:lnTo>
                    <a:pt x="704099" y="214612"/>
                  </a:lnTo>
                  <a:lnTo>
                    <a:pt x="685898" y="174553"/>
                  </a:lnTo>
                  <a:lnTo>
                    <a:pt x="661381" y="137457"/>
                  </a:lnTo>
                  <a:lnTo>
                    <a:pt x="631105" y="103792"/>
                  </a:lnTo>
                  <a:lnTo>
                    <a:pt x="595626" y="74024"/>
                  </a:lnTo>
                  <a:lnTo>
                    <a:pt x="555500" y="48621"/>
                  </a:lnTo>
                  <a:lnTo>
                    <a:pt x="511285" y="28050"/>
                  </a:lnTo>
                  <a:lnTo>
                    <a:pt x="463536" y="12778"/>
                  </a:lnTo>
                  <a:lnTo>
                    <a:pt x="412810" y="3272"/>
                  </a:lnTo>
                  <a:lnTo>
                    <a:pt x="359663" y="0"/>
                  </a:lnTo>
                  <a:close/>
                </a:path>
              </a:pathLst>
            </a:custGeom>
            <a:solidFill>
              <a:srgbClr val="E7E6E6"/>
            </a:solidFill>
          </p:spPr>
          <p:txBody>
            <a:bodyPr wrap="square" lIns="0" tIns="0" rIns="0" bIns="0" rtlCol="0"/>
            <a:lstStyle/>
            <a:p>
              <a:endParaRPr/>
            </a:p>
          </p:txBody>
        </p:sp>
        <p:sp>
          <p:nvSpPr>
            <p:cNvPr id="35" name="object 35"/>
            <p:cNvSpPr/>
            <p:nvPr/>
          </p:nvSpPr>
          <p:spPr>
            <a:xfrm>
              <a:off x="2362961" y="5173217"/>
              <a:ext cx="719455" cy="603885"/>
            </a:xfrm>
            <a:custGeom>
              <a:avLst/>
              <a:gdLst/>
              <a:ahLst/>
              <a:cxnLst/>
              <a:rect l="l" t="t" r="r" b="b"/>
              <a:pathLst>
                <a:path w="719455" h="603885">
                  <a:moveTo>
                    <a:pt x="0" y="301751"/>
                  </a:moveTo>
                  <a:lnTo>
                    <a:pt x="3899" y="257167"/>
                  </a:lnTo>
                  <a:lnTo>
                    <a:pt x="15228" y="214612"/>
                  </a:lnTo>
                  <a:lnTo>
                    <a:pt x="33429" y="174553"/>
                  </a:lnTo>
                  <a:lnTo>
                    <a:pt x="57946" y="137457"/>
                  </a:lnTo>
                  <a:lnTo>
                    <a:pt x="88222" y="103792"/>
                  </a:lnTo>
                  <a:lnTo>
                    <a:pt x="123701" y="74024"/>
                  </a:lnTo>
                  <a:lnTo>
                    <a:pt x="163827" y="48621"/>
                  </a:lnTo>
                  <a:lnTo>
                    <a:pt x="208042" y="28050"/>
                  </a:lnTo>
                  <a:lnTo>
                    <a:pt x="255791" y="12778"/>
                  </a:lnTo>
                  <a:lnTo>
                    <a:pt x="306517" y="3272"/>
                  </a:lnTo>
                  <a:lnTo>
                    <a:pt x="359663" y="0"/>
                  </a:lnTo>
                  <a:lnTo>
                    <a:pt x="412810" y="3272"/>
                  </a:lnTo>
                  <a:lnTo>
                    <a:pt x="463536" y="12778"/>
                  </a:lnTo>
                  <a:lnTo>
                    <a:pt x="511285" y="28050"/>
                  </a:lnTo>
                  <a:lnTo>
                    <a:pt x="555500" y="48621"/>
                  </a:lnTo>
                  <a:lnTo>
                    <a:pt x="595626" y="74024"/>
                  </a:lnTo>
                  <a:lnTo>
                    <a:pt x="631105" y="103792"/>
                  </a:lnTo>
                  <a:lnTo>
                    <a:pt x="661381" y="137457"/>
                  </a:lnTo>
                  <a:lnTo>
                    <a:pt x="685898" y="174553"/>
                  </a:lnTo>
                  <a:lnTo>
                    <a:pt x="704099" y="214612"/>
                  </a:lnTo>
                  <a:lnTo>
                    <a:pt x="715428" y="257167"/>
                  </a:lnTo>
                  <a:lnTo>
                    <a:pt x="719327" y="301751"/>
                  </a:lnTo>
                  <a:lnTo>
                    <a:pt x="715428" y="346341"/>
                  </a:lnTo>
                  <a:lnTo>
                    <a:pt x="704099" y="388900"/>
                  </a:lnTo>
                  <a:lnTo>
                    <a:pt x="685898" y="428961"/>
                  </a:lnTo>
                  <a:lnTo>
                    <a:pt x="661381" y="466057"/>
                  </a:lnTo>
                  <a:lnTo>
                    <a:pt x="631105" y="499722"/>
                  </a:lnTo>
                  <a:lnTo>
                    <a:pt x="595626" y="529488"/>
                  </a:lnTo>
                  <a:lnTo>
                    <a:pt x="555500" y="554888"/>
                  </a:lnTo>
                  <a:lnTo>
                    <a:pt x="511285" y="575457"/>
                  </a:lnTo>
                  <a:lnTo>
                    <a:pt x="463536" y="590727"/>
                  </a:lnTo>
                  <a:lnTo>
                    <a:pt x="412810" y="600232"/>
                  </a:lnTo>
                  <a:lnTo>
                    <a:pt x="359663" y="603503"/>
                  </a:lnTo>
                  <a:lnTo>
                    <a:pt x="306517" y="600232"/>
                  </a:lnTo>
                  <a:lnTo>
                    <a:pt x="255791" y="590727"/>
                  </a:lnTo>
                  <a:lnTo>
                    <a:pt x="208042" y="575457"/>
                  </a:lnTo>
                  <a:lnTo>
                    <a:pt x="163827" y="554888"/>
                  </a:lnTo>
                  <a:lnTo>
                    <a:pt x="123701" y="529488"/>
                  </a:lnTo>
                  <a:lnTo>
                    <a:pt x="88222" y="499722"/>
                  </a:lnTo>
                  <a:lnTo>
                    <a:pt x="57946" y="466057"/>
                  </a:lnTo>
                  <a:lnTo>
                    <a:pt x="33429" y="428961"/>
                  </a:lnTo>
                  <a:lnTo>
                    <a:pt x="15228" y="388900"/>
                  </a:lnTo>
                  <a:lnTo>
                    <a:pt x="3899" y="346341"/>
                  </a:lnTo>
                  <a:lnTo>
                    <a:pt x="0" y="301751"/>
                  </a:lnTo>
                  <a:close/>
                </a:path>
              </a:pathLst>
            </a:custGeom>
            <a:ln w="25400">
              <a:solidFill>
                <a:srgbClr val="2E528F"/>
              </a:solidFill>
            </a:ln>
          </p:spPr>
          <p:txBody>
            <a:bodyPr wrap="square" lIns="0" tIns="0" rIns="0" bIns="0" rtlCol="0"/>
            <a:lstStyle/>
            <a:p>
              <a:endParaRPr/>
            </a:p>
          </p:txBody>
        </p:sp>
      </p:grpSp>
      <p:sp>
        <p:nvSpPr>
          <p:cNvPr id="36" name="object 36"/>
          <p:cNvSpPr txBox="1"/>
          <p:nvPr/>
        </p:nvSpPr>
        <p:spPr>
          <a:xfrm>
            <a:off x="2569210" y="5319521"/>
            <a:ext cx="3054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A2</a:t>
            </a:r>
            <a:endParaRPr sz="1800">
              <a:latin typeface="Arial"/>
              <a:cs typeface="Arial"/>
            </a:endParaRPr>
          </a:p>
        </p:txBody>
      </p:sp>
      <p:sp>
        <p:nvSpPr>
          <p:cNvPr id="37" name="object 37"/>
          <p:cNvSpPr/>
          <p:nvPr/>
        </p:nvSpPr>
        <p:spPr>
          <a:xfrm>
            <a:off x="2566416" y="6214871"/>
            <a:ext cx="992505" cy="76200"/>
          </a:xfrm>
          <a:custGeom>
            <a:avLst/>
            <a:gdLst/>
            <a:ahLst/>
            <a:cxnLst/>
            <a:rect l="l" t="t" r="r" b="b"/>
            <a:pathLst>
              <a:path w="992504" h="76200">
                <a:moveTo>
                  <a:pt x="916050" y="0"/>
                </a:moveTo>
                <a:lnTo>
                  <a:pt x="916050" y="76199"/>
                </a:lnTo>
                <a:lnTo>
                  <a:pt x="979550" y="44449"/>
                </a:lnTo>
                <a:lnTo>
                  <a:pt x="928750" y="44449"/>
                </a:lnTo>
                <a:lnTo>
                  <a:pt x="928750" y="31749"/>
                </a:lnTo>
                <a:lnTo>
                  <a:pt x="979550" y="31749"/>
                </a:lnTo>
                <a:lnTo>
                  <a:pt x="916050" y="0"/>
                </a:lnTo>
                <a:close/>
              </a:path>
              <a:path w="992504" h="76200">
                <a:moveTo>
                  <a:pt x="916050" y="31749"/>
                </a:moveTo>
                <a:lnTo>
                  <a:pt x="0" y="31749"/>
                </a:lnTo>
                <a:lnTo>
                  <a:pt x="0" y="44449"/>
                </a:lnTo>
                <a:lnTo>
                  <a:pt x="916050" y="44449"/>
                </a:lnTo>
                <a:lnTo>
                  <a:pt x="916050" y="31749"/>
                </a:lnTo>
                <a:close/>
              </a:path>
              <a:path w="992504" h="76200">
                <a:moveTo>
                  <a:pt x="979550" y="31749"/>
                </a:moveTo>
                <a:lnTo>
                  <a:pt x="928750" y="31749"/>
                </a:lnTo>
                <a:lnTo>
                  <a:pt x="928750" y="44449"/>
                </a:lnTo>
                <a:lnTo>
                  <a:pt x="979550" y="44449"/>
                </a:lnTo>
                <a:lnTo>
                  <a:pt x="992250" y="38099"/>
                </a:lnTo>
                <a:lnTo>
                  <a:pt x="979550" y="31749"/>
                </a:lnTo>
                <a:close/>
              </a:path>
            </a:pathLst>
          </a:custGeom>
          <a:solidFill>
            <a:srgbClr val="EB792B"/>
          </a:solid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4.2</a:t>
            </a:r>
            <a:r>
              <a:rPr spc="-90" dirty="0"/>
              <a:t> </a:t>
            </a:r>
            <a:r>
              <a:rPr b="0" dirty="0">
                <a:latin typeface="Calibri"/>
                <a:cs typeface="Calibri"/>
              </a:rPr>
              <a:t>Perception</a:t>
            </a:r>
            <a:r>
              <a:rPr b="0" spc="-70" dirty="0">
                <a:latin typeface="Calibri"/>
                <a:cs typeface="Calibri"/>
              </a:rPr>
              <a:t> </a:t>
            </a:r>
            <a:r>
              <a:rPr b="0" dirty="0">
                <a:latin typeface="Calibri"/>
                <a:cs typeface="Calibri"/>
              </a:rPr>
              <a:t>w/</a:t>
            </a:r>
            <a:r>
              <a:rPr b="0" spc="-55" dirty="0">
                <a:latin typeface="Calibri"/>
                <a:cs typeface="Calibri"/>
              </a:rPr>
              <a:t> </a:t>
            </a:r>
            <a:r>
              <a:rPr b="0" dirty="0">
                <a:latin typeface="Calibri"/>
                <a:cs typeface="Calibri"/>
              </a:rPr>
              <a:t>Graphical</a:t>
            </a:r>
            <a:r>
              <a:rPr b="0" spc="-70" dirty="0">
                <a:latin typeface="Calibri"/>
                <a:cs typeface="Calibri"/>
              </a:rPr>
              <a:t> </a:t>
            </a:r>
            <a:r>
              <a:rPr b="0" dirty="0">
                <a:latin typeface="Calibri"/>
                <a:cs typeface="Calibri"/>
              </a:rPr>
              <a:t>Models</a:t>
            </a:r>
            <a:r>
              <a:rPr b="0" spc="-80" dirty="0">
                <a:latin typeface="Calibri"/>
                <a:cs typeface="Calibri"/>
              </a:rPr>
              <a:t> </a:t>
            </a:r>
            <a:r>
              <a:rPr b="0" dirty="0">
                <a:latin typeface="Calibri"/>
                <a:cs typeface="Calibri"/>
              </a:rPr>
              <a:t>[2</a:t>
            </a:r>
            <a:r>
              <a:rPr b="0" spc="-65" dirty="0">
                <a:latin typeface="Calibri"/>
                <a:cs typeface="Calibri"/>
              </a:rPr>
              <a:t> </a:t>
            </a:r>
            <a:r>
              <a:rPr b="0" spc="-20" dirty="0">
                <a:latin typeface="Calibri"/>
                <a:cs typeface="Calibri"/>
              </a:rPr>
              <a:t>pts]</a:t>
            </a:r>
          </a:p>
        </p:txBody>
      </p:sp>
      <p:sp>
        <p:nvSpPr>
          <p:cNvPr id="3" name="object 3"/>
          <p:cNvSpPr txBox="1"/>
          <p:nvPr/>
        </p:nvSpPr>
        <p:spPr>
          <a:xfrm>
            <a:off x="913891" y="1708150"/>
            <a:ext cx="9040495" cy="1151890"/>
          </a:xfrm>
          <a:prstGeom prst="rect">
            <a:avLst/>
          </a:prstGeom>
        </p:spPr>
        <p:txBody>
          <a:bodyPr vert="horz" wrap="square" lIns="0" tIns="9525" rIns="0" bIns="0" rtlCol="0">
            <a:spAutoFit/>
          </a:bodyPr>
          <a:lstStyle/>
          <a:p>
            <a:pPr marL="12700" marR="5080">
              <a:lnSpc>
                <a:spcPct val="101099"/>
              </a:lnSpc>
              <a:spcBef>
                <a:spcPts val="75"/>
              </a:spcBef>
            </a:pPr>
            <a:r>
              <a:rPr sz="1800" dirty="0">
                <a:solidFill>
                  <a:srgbClr val="333333"/>
                </a:solidFill>
                <a:latin typeface="Calibri"/>
                <a:cs typeface="Calibri"/>
              </a:rPr>
              <a:t>Please</a:t>
            </a:r>
            <a:r>
              <a:rPr sz="1800" spc="-45" dirty="0">
                <a:solidFill>
                  <a:srgbClr val="333333"/>
                </a:solidFill>
                <a:latin typeface="Calibri"/>
                <a:cs typeface="Calibri"/>
              </a:rPr>
              <a:t> </a:t>
            </a:r>
            <a:r>
              <a:rPr sz="1800" dirty="0">
                <a:solidFill>
                  <a:srgbClr val="333333"/>
                </a:solidFill>
                <a:latin typeface="Calibri"/>
                <a:cs typeface="Calibri"/>
              </a:rPr>
              <a:t>plot</a:t>
            </a:r>
            <a:r>
              <a:rPr sz="1800" spc="-35" dirty="0">
                <a:solidFill>
                  <a:srgbClr val="333333"/>
                </a:solidFill>
                <a:latin typeface="Calibri"/>
                <a:cs typeface="Calibri"/>
              </a:rPr>
              <a:t> </a:t>
            </a:r>
            <a:r>
              <a:rPr sz="1800" dirty="0">
                <a:solidFill>
                  <a:srgbClr val="333333"/>
                </a:solidFill>
                <a:latin typeface="Calibri"/>
                <a:cs typeface="Calibri"/>
              </a:rPr>
              <a:t>the</a:t>
            </a:r>
            <a:r>
              <a:rPr sz="1800" spc="-30" dirty="0">
                <a:solidFill>
                  <a:srgbClr val="333333"/>
                </a:solidFill>
                <a:latin typeface="Calibri"/>
                <a:cs typeface="Calibri"/>
              </a:rPr>
              <a:t> </a:t>
            </a:r>
            <a:r>
              <a:rPr sz="1800" dirty="0">
                <a:solidFill>
                  <a:srgbClr val="333333"/>
                </a:solidFill>
                <a:latin typeface="Calibri"/>
                <a:cs typeface="Calibri"/>
              </a:rPr>
              <a:t>graph</a:t>
            </a:r>
            <a:r>
              <a:rPr sz="1800" spc="-40" dirty="0">
                <a:solidFill>
                  <a:srgbClr val="333333"/>
                </a:solidFill>
                <a:latin typeface="Calibri"/>
                <a:cs typeface="Calibri"/>
              </a:rPr>
              <a:t> </a:t>
            </a:r>
            <a:r>
              <a:rPr sz="1800" dirty="0">
                <a:solidFill>
                  <a:srgbClr val="333333"/>
                </a:solidFill>
                <a:latin typeface="Calibri"/>
                <a:cs typeface="Calibri"/>
              </a:rPr>
              <a:t>from</a:t>
            </a:r>
            <a:r>
              <a:rPr sz="1800" spc="-45" dirty="0">
                <a:solidFill>
                  <a:srgbClr val="333333"/>
                </a:solidFill>
                <a:latin typeface="Calibri"/>
                <a:cs typeface="Calibri"/>
              </a:rPr>
              <a:t> </a:t>
            </a:r>
            <a:r>
              <a:rPr sz="1800" dirty="0">
                <a:solidFill>
                  <a:srgbClr val="333333"/>
                </a:solidFill>
                <a:latin typeface="Calibri"/>
                <a:cs typeface="Calibri"/>
              </a:rPr>
              <a:t>the</a:t>
            </a:r>
            <a:r>
              <a:rPr sz="1800" spc="-25" dirty="0">
                <a:solidFill>
                  <a:srgbClr val="333333"/>
                </a:solidFill>
                <a:latin typeface="Calibri"/>
                <a:cs typeface="Calibri"/>
              </a:rPr>
              <a:t> </a:t>
            </a:r>
            <a:r>
              <a:rPr sz="1800" dirty="0">
                <a:solidFill>
                  <a:srgbClr val="333333"/>
                </a:solidFill>
                <a:latin typeface="Calibri"/>
                <a:cs typeface="Calibri"/>
              </a:rPr>
              <a:t>coding</a:t>
            </a:r>
            <a:r>
              <a:rPr sz="1800" spc="-20" dirty="0">
                <a:solidFill>
                  <a:srgbClr val="333333"/>
                </a:solidFill>
                <a:latin typeface="Calibri"/>
                <a:cs typeface="Calibri"/>
              </a:rPr>
              <a:t> </a:t>
            </a:r>
            <a:r>
              <a:rPr sz="1800" dirty="0">
                <a:solidFill>
                  <a:srgbClr val="333333"/>
                </a:solidFill>
                <a:latin typeface="Calibri"/>
                <a:cs typeface="Calibri"/>
              </a:rPr>
              <a:t>section</a:t>
            </a:r>
            <a:r>
              <a:rPr sz="1800" spc="-35" dirty="0">
                <a:solidFill>
                  <a:srgbClr val="333333"/>
                </a:solidFill>
                <a:latin typeface="Calibri"/>
                <a:cs typeface="Calibri"/>
              </a:rPr>
              <a:t> </a:t>
            </a:r>
            <a:r>
              <a:rPr sz="1800" dirty="0">
                <a:solidFill>
                  <a:srgbClr val="333333"/>
                </a:solidFill>
                <a:latin typeface="Calibri"/>
                <a:cs typeface="Calibri"/>
              </a:rPr>
              <a:t>which</a:t>
            </a:r>
            <a:r>
              <a:rPr sz="1800" spc="-30" dirty="0">
                <a:solidFill>
                  <a:srgbClr val="333333"/>
                </a:solidFill>
                <a:latin typeface="Calibri"/>
                <a:cs typeface="Calibri"/>
              </a:rPr>
              <a:t> </a:t>
            </a:r>
            <a:r>
              <a:rPr sz="1800" dirty="0">
                <a:solidFill>
                  <a:srgbClr val="333333"/>
                </a:solidFill>
                <a:latin typeface="Calibri"/>
                <a:cs typeface="Calibri"/>
              </a:rPr>
              <a:t>compares</a:t>
            </a:r>
            <a:r>
              <a:rPr sz="1800" spc="-35" dirty="0">
                <a:solidFill>
                  <a:srgbClr val="333333"/>
                </a:solidFill>
                <a:latin typeface="Calibri"/>
                <a:cs typeface="Calibri"/>
              </a:rPr>
              <a:t> </a:t>
            </a:r>
            <a:r>
              <a:rPr sz="1800" dirty="0">
                <a:solidFill>
                  <a:srgbClr val="333333"/>
                </a:solidFill>
                <a:latin typeface="Calibri"/>
                <a:cs typeface="Calibri"/>
              </a:rPr>
              <a:t>the</a:t>
            </a:r>
            <a:r>
              <a:rPr sz="1800" spc="-40" dirty="0">
                <a:solidFill>
                  <a:srgbClr val="333333"/>
                </a:solidFill>
                <a:latin typeface="Calibri"/>
                <a:cs typeface="Calibri"/>
              </a:rPr>
              <a:t> </a:t>
            </a:r>
            <a:r>
              <a:rPr sz="1800" dirty="0">
                <a:solidFill>
                  <a:srgbClr val="333333"/>
                </a:solidFill>
                <a:latin typeface="Calibri"/>
                <a:cs typeface="Calibri"/>
              </a:rPr>
              <a:t>time</a:t>
            </a:r>
            <a:r>
              <a:rPr sz="1800" spc="-30" dirty="0">
                <a:solidFill>
                  <a:srgbClr val="333333"/>
                </a:solidFill>
                <a:latin typeface="Calibri"/>
                <a:cs typeface="Calibri"/>
              </a:rPr>
              <a:t> </a:t>
            </a:r>
            <a:r>
              <a:rPr sz="1800" dirty="0">
                <a:solidFill>
                  <a:srgbClr val="333333"/>
                </a:solidFill>
                <a:latin typeface="Calibri"/>
                <a:cs typeface="Calibri"/>
              </a:rPr>
              <a:t>complexity</a:t>
            </a:r>
            <a:r>
              <a:rPr sz="1800" spc="-35" dirty="0">
                <a:solidFill>
                  <a:srgbClr val="333333"/>
                </a:solidFill>
                <a:latin typeface="Calibri"/>
                <a:cs typeface="Calibri"/>
              </a:rPr>
              <a:t> </a:t>
            </a:r>
            <a:r>
              <a:rPr sz="1800" dirty="0">
                <a:solidFill>
                  <a:srgbClr val="333333"/>
                </a:solidFill>
                <a:latin typeface="Calibri"/>
                <a:cs typeface="Calibri"/>
              </a:rPr>
              <a:t>of</a:t>
            </a:r>
            <a:r>
              <a:rPr sz="1800" spc="-45" dirty="0">
                <a:solidFill>
                  <a:srgbClr val="333333"/>
                </a:solidFill>
                <a:latin typeface="Calibri"/>
                <a:cs typeface="Calibri"/>
              </a:rPr>
              <a:t> </a:t>
            </a:r>
            <a:r>
              <a:rPr sz="1800" dirty="0">
                <a:solidFill>
                  <a:srgbClr val="333333"/>
                </a:solidFill>
                <a:latin typeface="Calibri"/>
                <a:cs typeface="Calibri"/>
              </a:rPr>
              <a:t>Naïve</a:t>
            </a:r>
            <a:r>
              <a:rPr sz="1800" spc="-30" dirty="0">
                <a:solidFill>
                  <a:srgbClr val="333333"/>
                </a:solidFill>
                <a:latin typeface="Calibri"/>
                <a:cs typeface="Calibri"/>
              </a:rPr>
              <a:t> </a:t>
            </a:r>
            <a:r>
              <a:rPr sz="1800" spc="-25" dirty="0">
                <a:solidFill>
                  <a:srgbClr val="333333"/>
                </a:solidFill>
                <a:latin typeface="Calibri"/>
                <a:cs typeface="Calibri"/>
              </a:rPr>
              <a:t>MPE </a:t>
            </a:r>
            <a:r>
              <a:rPr sz="1800" dirty="0">
                <a:solidFill>
                  <a:srgbClr val="333333"/>
                </a:solidFill>
                <a:latin typeface="Calibri"/>
                <a:cs typeface="Calibri"/>
              </a:rPr>
              <a:t>implementations</a:t>
            </a:r>
            <a:r>
              <a:rPr sz="1800" spc="-25" dirty="0">
                <a:solidFill>
                  <a:srgbClr val="333333"/>
                </a:solidFill>
                <a:latin typeface="Calibri"/>
                <a:cs typeface="Calibri"/>
              </a:rPr>
              <a:t> </a:t>
            </a:r>
            <a:r>
              <a:rPr sz="1800" dirty="0">
                <a:solidFill>
                  <a:srgbClr val="333333"/>
                </a:solidFill>
                <a:latin typeface="Calibri"/>
                <a:cs typeface="Calibri"/>
              </a:rPr>
              <a:t>vs</a:t>
            </a:r>
            <a:r>
              <a:rPr sz="1800" spc="-45" dirty="0">
                <a:solidFill>
                  <a:srgbClr val="333333"/>
                </a:solidFill>
                <a:latin typeface="Calibri"/>
                <a:cs typeface="Calibri"/>
              </a:rPr>
              <a:t> </a:t>
            </a:r>
            <a:r>
              <a:rPr sz="1800" dirty="0">
                <a:solidFill>
                  <a:srgbClr val="333333"/>
                </a:solidFill>
                <a:latin typeface="Calibri"/>
                <a:cs typeface="Calibri"/>
              </a:rPr>
              <a:t>GTSAM</a:t>
            </a:r>
            <a:r>
              <a:rPr sz="1800" spc="-40" dirty="0">
                <a:solidFill>
                  <a:srgbClr val="333333"/>
                </a:solidFill>
                <a:latin typeface="Calibri"/>
                <a:cs typeface="Calibri"/>
              </a:rPr>
              <a:t> </a:t>
            </a:r>
            <a:r>
              <a:rPr sz="1800" spc="-10" dirty="0">
                <a:solidFill>
                  <a:srgbClr val="333333"/>
                </a:solidFill>
                <a:latin typeface="Calibri"/>
                <a:cs typeface="Calibri"/>
              </a:rPr>
              <a:t>implementation</a:t>
            </a:r>
            <a:endParaRPr sz="1800">
              <a:latin typeface="Calibri"/>
              <a:cs typeface="Calibri"/>
            </a:endParaRPr>
          </a:p>
          <a:p>
            <a:pPr>
              <a:lnSpc>
                <a:spcPct val="100000"/>
              </a:lnSpc>
              <a:spcBef>
                <a:spcPts val="165"/>
              </a:spcBef>
            </a:pPr>
            <a:endParaRPr sz="1800">
              <a:latin typeface="Calibri"/>
              <a:cs typeface="Calibri"/>
            </a:endParaRPr>
          </a:p>
          <a:p>
            <a:pPr marL="13970">
              <a:lnSpc>
                <a:spcPct val="100000"/>
              </a:lnSpc>
            </a:pPr>
            <a:r>
              <a:rPr sz="1800" dirty="0">
                <a:solidFill>
                  <a:srgbClr val="808080"/>
                </a:solidFill>
                <a:latin typeface="Calibri"/>
                <a:cs typeface="Calibri"/>
              </a:rPr>
              <a:t>&lt;Insert</a:t>
            </a:r>
            <a:r>
              <a:rPr sz="1800" spc="-55" dirty="0">
                <a:solidFill>
                  <a:srgbClr val="808080"/>
                </a:solidFill>
                <a:latin typeface="Calibri"/>
                <a:cs typeface="Calibri"/>
              </a:rPr>
              <a:t> </a:t>
            </a:r>
            <a:r>
              <a:rPr sz="1800" dirty="0">
                <a:solidFill>
                  <a:srgbClr val="808080"/>
                </a:solidFill>
                <a:latin typeface="Calibri"/>
                <a:cs typeface="Calibri"/>
              </a:rPr>
              <a:t>the</a:t>
            </a:r>
            <a:r>
              <a:rPr sz="1800" spc="-35" dirty="0">
                <a:solidFill>
                  <a:srgbClr val="808080"/>
                </a:solidFill>
                <a:latin typeface="Calibri"/>
                <a:cs typeface="Calibri"/>
              </a:rPr>
              <a:t> </a:t>
            </a:r>
            <a:r>
              <a:rPr sz="1800" dirty="0">
                <a:solidFill>
                  <a:srgbClr val="808080"/>
                </a:solidFill>
                <a:latin typeface="Calibri"/>
                <a:cs typeface="Calibri"/>
              </a:rPr>
              <a:t>plot</a:t>
            </a:r>
            <a:r>
              <a:rPr sz="1800" spc="-30" dirty="0">
                <a:solidFill>
                  <a:srgbClr val="808080"/>
                </a:solidFill>
                <a:latin typeface="Calibri"/>
                <a:cs typeface="Calibri"/>
              </a:rPr>
              <a:t> </a:t>
            </a:r>
            <a:r>
              <a:rPr sz="1800" dirty="0">
                <a:solidFill>
                  <a:srgbClr val="808080"/>
                </a:solidFill>
                <a:latin typeface="Calibri"/>
                <a:cs typeface="Calibri"/>
              </a:rPr>
              <a:t>here,</a:t>
            </a:r>
            <a:r>
              <a:rPr sz="1800" spc="-40" dirty="0">
                <a:solidFill>
                  <a:srgbClr val="808080"/>
                </a:solidFill>
                <a:latin typeface="Calibri"/>
                <a:cs typeface="Calibri"/>
              </a:rPr>
              <a:t> </a:t>
            </a:r>
            <a:r>
              <a:rPr sz="1800" dirty="0">
                <a:solidFill>
                  <a:srgbClr val="808080"/>
                </a:solidFill>
                <a:latin typeface="Calibri"/>
                <a:cs typeface="Calibri"/>
              </a:rPr>
              <a:t>replace</a:t>
            </a:r>
            <a:r>
              <a:rPr sz="1800" spc="-25"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text&gt;</a:t>
            </a:r>
            <a:endParaRPr sz="18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4.3</a:t>
            </a:r>
            <a:r>
              <a:rPr spc="-40" dirty="0"/>
              <a:t> </a:t>
            </a:r>
            <a:r>
              <a:rPr b="0" dirty="0">
                <a:latin typeface="Calibri"/>
                <a:cs typeface="Calibri"/>
              </a:rPr>
              <a:t>Perception</a:t>
            </a:r>
            <a:r>
              <a:rPr b="0" spc="5" dirty="0">
                <a:latin typeface="Calibri"/>
                <a:cs typeface="Calibri"/>
              </a:rPr>
              <a:t> </a:t>
            </a:r>
            <a:r>
              <a:rPr b="0" dirty="0">
                <a:latin typeface="Calibri"/>
                <a:cs typeface="Calibri"/>
              </a:rPr>
              <a:t>w/</a:t>
            </a:r>
            <a:r>
              <a:rPr b="0" spc="-10" dirty="0">
                <a:latin typeface="Calibri"/>
                <a:cs typeface="Calibri"/>
              </a:rPr>
              <a:t> </a:t>
            </a:r>
            <a:r>
              <a:rPr b="0" dirty="0">
                <a:latin typeface="Calibri"/>
                <a:cs typeface="Calibri"/>
              </a:rPr>
              <a:t>Graphical</a:t>
            </a:r>
            <a:r>
              <a:rPr b="0" spc="-30" dirty="0">
                <a:latin typeface="Calibri"/>
                <a:cs typeface="Calibri"/>
              </a:rPr>
              <a:t> </a:t>
            </a:r>
            <a:r>
              <a:rPr b="0" dirty="0">
                <a:latin typeface="Calibri"/>
                <a:cs typeface="Calibri"/>
              </a:rPr>
              <a:t>Models</a:t>
            </a:r>
            <a:r>
              <a:rPr b="0" spc="-10" dirty="0">
                <a:latin typeface="Calibri"/>
                <a:cs typeface="Calibri"/>
              </a:rPr>
              <a:t> </a:t>
            </a:r>
            <a:r>
              <a:rPr b="0" dirty="0">
                <a:latin typeface="Calibri"/>
                <a:cs typeface="Calibri"/>
              </a:rPr>
              <a:t>[2</a:t>
            </a:r>
            <a:r>
              <a:rPr b="0" spc="-25" dirty="0">
                <a:latin typeface="Calibri"/>
                <a:cs typeface="Calibri"/>
              </a:rPr>
              <a:t> </a:t>
            </a:r>
            <a:r>
              <a:rPr b="0" spc="-20" dirty="0">
                <a:latin typeface="Calibri"/>
                <a:cs typeface="Calibri"/>
              </a:rPr>
              <a:t>pts]</a:t>
            </a:r>
          </a:p>
        </p:txBody>
      </p:sp>
      <p:sp>
        <p:nvSpPr>
          <p:cNvPr id="3" name="object 3"/>
          <p:cNvSpPr txBox="1"/>
          <p:nvPr/>
        </p:nvSpPr>
        <p:spPr>
          <a:xfrm>
            <a:off x="878839" y="1717040"/>
            <a:ext cx="9444990" cy="1336263"/>
          </a:xfrm>
          <a:prstGeom prst="rect">
            <a:avLst/>
          </a:prstGeom>
        </p:spPr>
        <p:txBody>
          <a:bodyPr vert="horz" wrap="square" lIns="0" tIns="12700" rIns="0" bIns="0" rtlCol="0">
            <a:spAutoFit/>
          </a:bodyPr>
          <a:lstStyle/>
          <a:p>
            <a:pPr marL="48895">
              <a:lnSpc>
                <a:spcPct val="100000"/>
              </a:lnSpc>
              <a:spcBef>
                <a:spcPts val="100"/>
              </a:spcBef>
            </a:pPr>
            <a:r>
              <a:rPr sz="1800" dirty="0">
                <a:latin typeface="Arial"/>
                <a:cs typeface="Arial"/>
              </a:rPr>
              <a:t>What</a:t>
            </a:r>
            <a:r>
              <a:rPr sz="1800" spc="-35"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time</a:t>
            </a:r>
            <a:r>
              <a:rPr sz="1800" spc="-30" dirty="0">
                <a:latin typeface="Arial"/>
                <a:cs typeface="Arial"/>
              </a:rPr>
              <a:t> </a:t>
            </a:r>
            <a:r>
              <a:rPr sz="1800" dirty="0">
                <a:latin typeface="Arial"/>
                <a:cs typeface="Arial"/>
              </a:rPr>
              <a:t>complexity of</a:t>
            </a:r>
            <a:r>
              <a:rPr sz="1800" spc="-30" dirty="0">
                <a:latin typeface="Arial"/>
                <a:cs typeface="Arial"/>
              </a:rPr>
              <a:t> </a:t>
            </a:r>
            <a:r>
              <a:rPr sz="1800" dirty="0">
                <a:latin typeface="Arial"/>
                <a:cs typeface="Arial"/>
              </a:rPr>
              <a:t>MPE</a:t>
            </a:r>
            <a:r>
              <a:rPr sz="1800" spc="-15" dirty="0">
                <a:latin typeface="Arial"/>
                <a:cs typeface="Arial"/>
              </a:rPr>
              <a:t> </a:t>
            </a:r>
            <a:r>
              <a:rPr sz="1800" dirty="0">
                <a:latin typeface="Arial"/>
                <a:cs typeface="Arial"/>
              </a:rPr>
              <a:t>when</a:t>
            </a:r>
            <a:r>
              <a:rPr sz="1800" spc="20" dirty="0">
                <a:latin typeface="Arial"/>
                <a:cs typeface="Arial"/>
              </a:rPr>
              <a:t> </a:t>
            </a:r>
            <a:r>
              <a:rPr sz="1800" dirty="0">
                <a:latin typeface="Arial"/>
                <a:cs typeface="Arial"/>
              </a:rPr>
              <a:t>enumerating</a:t>
            </a:r>
            <a:r>
              <a:rPr sz="1800" spc="-5" dirty="0">
                <a:latin typeface="Arial"/>
                <a:cs typeface="Arial"/>
              </a:rPr>
              <a:t> </a:t>
            </a:r>
            <a:r>
              <a:rPr sz="1800" dirty="0">
                <a:latin typeface="Arial"/>
                <a:cs typeface="Arial"/>
              </a:rPr>
              <a:t>over</a:t>
            </a:r>
            <a:r>
              <a:rPr sz="1800" spc="-20" dirty="0">
                <a:latin typeface="Arial"/>
                <a:cs typeface="Arial"/>
              </a:rPr>
              <a:t> </a:t>
            </a:r>
            <a:r>
              <a:rPr sz="1800" dirty="0">
                <a:latin typeface="Arial"/>
                <a:cs typeface="Arial"/>
              </a:rPr>
              <a:t>an</a:t>
            </a:r>
            <a:r>
              <a:rPr sz="1800" spc="-20" dirty="0">
                <a:latin typeface="Arial"/>
                <a:cs typeface="Arial"/>
              </a:rPr>
              <a:t> </a:t>
            </a:r>
            <a:r>
              <a:rPr sz="1800" dirty="0">
                <a:latin typeface="Arial"/>
                <a:cs typeface="Arial"/>
              </a:rPr>
              <a:t>N</a:t>
            </a:r>
            <a:r>
              <a:rPr sz="1800" spc="-20" dirty="0">
                <a:latin typeface="Arial"/>
                <a:cs typeface="Arial"/>
              </a:rPr>
              <a:t> </a:t>
            </a:r>
            <a:r>
              <a:rPr sz="1800" dirty="0">
                <a:latin typeface="Arial"/>
                <a:cs typeface="Arial"/>
              </a:rPr>
              <a:t>different</a:t>
            </a:r>
            <a:r>
              <a:rPr sz="1800" spc="-25" dirty="0">
                <a:latin typeface="Arial"/>
                <a:cs typeface="Arial"/>
              </a:rPr>
              <a:t> </a:t>
            </a:r>
            <a:r>
              <a:rPr sz="1800" dirty="0">
                <a:latin typeface="Arial"/>
                <a:cs typeface="Arial"/>
              </a:rPr>
              <a:t>number</a:t>
            </a:r>
            <a:r>
              <a:rPr sz="1800" spc="-10" dirty="0">
                <a:latin typeface="Arial"/>
                <a:cs typeface="Arial"/>
              </a:rPr>
              <a:t> </a:t>
            </a:r>
            <a:r>
              <a:rPr sz="1800" dirty="0">
                <a:latin typeface="Arial"/>
                <a:cs typeface="Arial"/>
              </a:rPr>
              <a:t>of</a:t>
            </a:r>
            <a:r>
              <a:rPr sz="1800" spc="-10" dirty="0">
                <a:latin typeface="Arial"/>
                <a:cs typeface="Arial"/>
              </a:rPr>
              <a:t> states?</a:t>
            </a:r>
            <a:r>
              <a:rPr lang="en-US" sz="1800" spc="-10" dirty="0">
                <a:latin typeface="Arial"/>
                <a:cs typeface="Arial"/>
              </a:rPr>
              <a:t> Why?</a:t>
            </a:r>
            <a:endParaRPr sz="1800" dirty="0">
              <a:latin typeface="Arial"/>
              <a:cs typeface="Arial"/>
            </a:endParaRPr>
          </a:p>
          <a:p>
            <a:pPr marL="50800">
              <a:lnSpc>
                <a:spcPts val="2065"/>
              </a:lnSpc>
              <a:spcBef>
                <a:spcPts val="1764"/>
              </a:spcBef>
            </a:pPr>
            <a:r>
              <a:rPr sz="1800" dirty="0">
                <a:solidFill>
                  <a:srgbClr val="808080"/>
                </a:solidFill>
                <a:latin typeface="Calibri"/>
                <a:cs typeface="Calibri"/>
              </a:rPr>
              <a:t>&lt;Replace</a:t>
            </a:r>
            <a:r>
              <a:rPr sz="1800" spc="-45" dirty="0">
                <a:solidFill>
                  <a:srgbClr val="808080"/>
                </a:solidFill>
                <a:latin typeface="Calibri"/>
                <a:cs typeface="Calibri"/>
              </a:rPr>
              <a:t> </a:t>
            </a:r>
            <a:r>
              <a:rPr sz="1800" dirty="0">
                <a:solidFill>
                  <a:srgbClr val="808080"/>
                </a:solidFill>
                <a:latin typeface="Calibri"/>
                <a:cs typeface="Calibri"/>
              </a:rPr>
              <a:t>the</a:t>
            </a:r>
            <a:r>
              <a:rPr sz="1800" spc="-55" dirty="0">
                <a:solidFill>
                  <a:srgbClr val="808080"/>
                </a:solidFill>
                <a:latin typeface="Calibri"/>
                <a:cs typeface="Calibri"/>
              </a:rPr>
              <a:t> </a:t>
            </a:r>
            <a:r>
              <a:rPr sz="1800" dirty="0">
                <a:solidFill>
                  <a:srgbClr val="808080"/>
                </a:solidFill>
                <a:latin typeface="Calibri"/>
                <a:cs typeface="Calibri"/>
              </a:rPr>
              <a:t>text</a:t>
            </a:r>
            <a:r>
              <a:rPr sz="1800" spc="-45" dirty="0">
                <a:solidFill>
                  <a:srgbClr val="808080"/>
                </a:solidFill>
                <a:latin typeface="Calibri"/>
                <a:cs typeface="Calibri"/>
              </a:rPr>
              <a:t> </a:t>
            </a:r>
            <a:r>
              <a:rPr sz="1800" dirty="0">
                <a:solidFill>
                  <a:srgbClr val="808080"/>
                </a:solidFill>
                <a:latin typeface="Calibri"/>
                <a:cs typeface="Calibri"/>
              </a:rPr>
              <a:t>with</a:t>
            </a:r>
            <a:r>
              <a:rPr sz="1800" spc="-55" dirty="0">
                <a:solidFill>
                  <a:srgbClr val="808080"/>
                </a:solidFill>
                <a:latin typeface="Calibri"/>
                <a:cs typeface="Calibri"/>
              </a:rPr>
              <a:t> </a:t>
            </a:r>
            <a:r>
              <a:rPr sz="1800" dirty="0">
                <a:solidFill>
                  <a:srgbClr val="808080"/>
                </a:solidFill>
                <a:latin typeface="Calibri"/>
                <a:cs typeface="Calibri"/>
              </a:rPr>
              <a:t>the</a:t>
            </a:r>
            <a:r>
              <a:rPr sz="1800" spc="-40" dirty="0">
                <a:solidFill>
                  <a:srgbClr val="808080"/>
                </a:solidFill>
                <a:latin typeface="Calibri"/>
                <a:cs typeface="Calibri"/>
              </a:rPr>
              <a:t> </a:t>
            </a:r>
            <a:r>
              <a:rPr sz="1800" dirty="0">
                <a:solidFill>
                  <a:srgbClr val="808080"/>
                </a:solidFill>
                <a:latin typeface="Calibri"/>
                <a:cs typeface="Calibri"/>
              </a:rPr>
              <a:t>right</a:t>
            </a:r>
            <a:r>
              <a:rPr sz="1800" spc="-60" dirty="0">
                <a:solidFill>
                  <a:srgbClr val="808080"/>
                </a:solidFill>
                <a:latin typeface="Calibri"/>
                <a:cs typeface="Calibri"/>
              </a:rPr>
              <a:t> </a:t>
            </a:r>
            <a:r>
              <a:rPr sz="1800" dirty="0">
                <a:solidFill>
                  <a:srgbClr val="808080"/>
                </a:solidFill>
                <a:latin typeface="Calibri"/>
                <a:cs typeface="Calibri"/>
              </a:rPr>
              <a:t>answer</a:t>
            </a:r>
            <a:r>
              <a:rPr sz="1800" spc="-65" dirty="0">
                <a:solidFill>
                  <a:srgbClr val="808080"/>
                </a:solidFill>
                <a:latin typeface="Calibri"/>
                <a:cs typeface="Calibri"/>
              </a:rPr>
              <a:t> </a:t>
            </a:r>
            <a:r>
              <a:rPr sz="1800" dirty="0">
                <a:solidFill>
                  <a:srgbClr val="808080"/>
                </a:solidFill>
                <a:latin typeface="Calibri"/>
                <a:cs typeface="Calibri"/>
              </a:rPr>
              <a:t>from</a:t>
            </a:r>
            <a:r>
              <a:rPr sz="1800" spc="-65" dirty="0">
                <a:solidFill>
                  <a:srgbClr val="808080"/>
                </a:solidFill>
                <a:latin typeface="Calibri"/>
                <a:cs typeface="Calibri"/>
              </a:rPr>
              <a:t> </a:t>
            </a:r>
            <a:r>
              <a:rPr sz="1800" spc="-10" dirty="0">
                <a:solidFill>
                  <a:srgbClr val="808080"/>
                </a:solidFill>
                <a:latin typeface="Calibri"/>
                <a:cs typeface="Calibri"/>
              </a:rPr>
              <a:t>following</a:t>
            </a:r>
            <a:r>
              <a:rPr sz="1800" spc="-30" dirty="0">
                <a:solidFill>
                  <a:srgbClr val="808080"/>
                </a:solidFill>
                <a:latin typeface="Calibri"/>
                <a:cs typeface="Calibri"/>
              </a:rPr>
              <a:t> </a:t>
            </a:r>
            <a:r>
              <a:rPr sz="1800" spc="-10" dirty="0">
                <a:solidFill>
                  <a:srgbClr val="808080"/>
                </a:solidFill>
                <a:latin typeface="Calibri"/>
                <a:cs typeface="Calibri"/>
              </a:rPr>
              <a:t>options&gt;</a:t>
            </a:r>
            <a:endParaRPr sz="1800" dirty="0">
              <a:latin typeface="Calibri"/>
              <a:cs typeface="Calibri"/>
            </a:endParaRPr>
          </a:p>
          <a:p>
            <a:pPr marL="344170" indent="-188595">
              <a:lnSpc>
                <a:spcPts val="2065"/>
              </a:lnSpc>
              <a:buFont typeface="Verdana"/>
              <a:buChar char="●"/>
              <a:tabLst>
                <a:tab pos="344170" algn="l"/>
                <a:tab pos="1788160" algn="l"/>
                <a:tab pos="3385185" algn="l"/>
                <a:tab pos="5036185" algn="l"/>
              </a:tabLst>
            </a:pPr>
            <a:r>
              <a:rPr sz="1800" spc="-10" dirty="0">
                <a:solidFill>
                  <a:srgbClr val="808080"/>
                </a:solidFill>
                <a:latin typeface="Calibri"/>
                <a:cs typeface="Calibri"/>
              </a:rPr>
              <a:t>Linear(ax+c)</a:t>
            </a:r>
            <a:r>
              <a:rPr sz="1800" dirty="0">
                <a:solidFill>
                  <a:srgbClr val="808080"/>
                </a:solidFill>
                <a:latin typeface="Calibri"/>
                <a:cs typeface="Calibri"/>
              </a:rPr>
              <a:t>	</a:t>
            </a:r>
            <a:r>
              <a:rPr sz="1800" spc="-20" dirty="0">
                <a:solidFill>
                  <a:srgbClr val="808080"/>
                </a:solidFill>
                <a:latin typeface="Verdana"/>
                <a:cs typeface="Verdana"/>
              </a:rPr>
              <a:t>●</a:t>
            </a:r>
            <a:r>
              <a:rPr sz="1800" spc="-229" dirty="0">
                <a:solidFill>
                  <a:srgbClr val="808080"/>
                </a:solidFill>
                <a:latin typeface="Verdana"/>
                <a:cs typeface="Verdana"/>
              </a:rPr>
              <a:t> </a:t>
            </a:r>
            <a:r>
              <a:rPr sz="1800" spc="-10" dirty="0">
                <a:solidFill>
                  <a:srgbClr val="808080"/>
                </a:solidFill>
                <a:latin typeface="Calibri"/>
                <a:cs typeface="Calibri"/>
              </a:rPr>
              <a:t>Cubic(ax</a:t>
            </a:r>
            <a:r>
              <a:rPr sz="1800" spc="-15" baseline="25462" dirty="0">
                <a:solidFill>
                  <a:srgbClr val="808080"/>
                </a:solidFill>
                <a:latin typeface="Calibri"/>
                <a:cs typeface="Calibri"/>
              </a:rPr>
              <a:t>3</a:t>
            </a:r>
            <a:r>
              <a:rPr sz="1800" spc="-10" dirty="0">
                <a:solidFill>
                  <a:srgbClr val="808080"/>
                </a:solidFill>
                <a:latin typeface="Calibri"/>
                <a:cs typeface="Calibri"/>
              </a:rPr>
              <a:t>+c)</a:t>
            </a:r>
            <a:r>
              <a:rPr sz="1800" dirty="0">
                <a:solidFill>
                  <a:srgbClr val="808080"/>
                </a:solidFill>
                <a:latin typeface="Calibri"/>
                <a:cs typeface="Calibri"/>
              </a:rPr>
              <a:t>	</a:t>
            </a:r>
            <a:r>
              <a:rPr sz="1800" spc="-20" dirty="0">
                <a:solidFill>
                  <a:srgbClr val="808080"/>
                </a:solidFill>
                <a:latin typeface="Verdana"/>
                <a:cs typeface="Verdana"/>
              </a:rPr>
              <a:t>●</a:t>
            </a:r>
            <a:r>
              <a:rPr sz="1800" spc="-229" dirty="0">
                <a:solidFill>
                  <a:srgbClr val="808080"/>
                </a:solidFill>
                <a:latin typeface="Verdana"/>
                <a:cs typeface="Verdana"/>
              </a:rPr>
              <a:t> </a:t>
            </a:r>
            <a:r>
              <a:rPr sz="1800" spc="-10" dirty="0">
                <a:solidFill>
                  <a:srgbClr val="808080"/>
                </a:solidFill>
                <a:latin typeface="Calibri"/>
                <a:cs typeface="Calibri"/>
              </a:rPr>
              <a:t>Quintic(ax</a:t>
            </a:r>
            <a:r>
              <a:rPr sz="1800" spc="-15" baseline="25462" dirty="0">
                <a:solidFill>
                  <a:srgbClr val="808080"/>
                </a:solidFill>
                <a:latin typeface="Calibri"/>
                <a:cs typeface="Calibri"/>
              </a:rPr>
              <a:t>5</a:t>
            </a:r>
            <a:r>
              <a:rPr sz="1800" spc="-10" dirty="0">
                <a:solidFill>
                  <a:srgbClr val="808080"/>
                </a:solidFill>
                <a:latin typeface="Calibri"/>
                <a:cs typeface="Calibri"/>
              </a:rPr>
              <a:t>+c)</a:t>
            </a:r>
            <a:r>
              <a:rPr sz="1800" dirty="0">
                <a:solidFill>
                  <a:srgbClr val="808080"/>
                </a:solidFill>
                <a:latin typeface="Calibri"/>
                <a:cs typeface="Calibri"/>
              </a:rPr>
              <a:t>	</a:t>
            </a:r>
            <a:r>
              <a:rPr sz="1800" spc="-20" dirty="0">
                <a:solidFill>
                  <a:srgbClr val="808080"/>
                </a:solidFill>
                <a:latin typeface="Verdana"/>
                <a:cs typeface="Verdana"/>
              </a:rPr>
              <a:t>●</a:t>
            </a:r>
            <a:r>
              <a:rPr sz="1800" spc="-215" dirty="0">
                <a:solidFill>
                  <a:srgbClr val="808080"/>
                </a:solidFill>
                <a:latin typeface="Verdana"/>
                <a:cs typeface="Verdana"/>
              </a:rPr>
              <a:t> </a:t>
            </a:r>
            <a:r>
              <a:rPr sz="1800" spc="-10" dirty="0">
                <a:solidFill>
                  <a:srgbClr val="808080"/>
                </a:solidFill>
                <a:latin typeface="Calibri"/>
                <a:cs typeface="Calibri"/>
              </a:rPr>
              <a:t>Exponential(e</a:t>
            </a:r>
            <a:r>
              <a:rPr sz="1800" spc="-15" baseline="25462" dirty="0">
                <a:solidFill>
                  <a:srgbClr val="808080"/>
                </a:solidFill>
                <a:latin typeface="Calibri"/>
                <a:cs typeface="Calibri"/>
              </a:rPr>
              <a:t>x</a:t>
            </a:r>
            <a:r>
              <a:rPr sz="1800" spc="-10" dirty="0">
                <a:solidFill>
                  <a:srgbClr val="808080"/>
                </a:solidFill>
                <a:latin typeface="Calibri"/>
                <a:cs typeface="Calibri"/>
              </a:rPr>
              <a:t>+c)</a:t>
            </a:r>
            <a:endParaRPr sz="180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5.1</a:t>
            </a:r>
            <a:r>
              <a:rPr spc="-95" dirty="0"/>
              <a:t> </a:t>
            </a:r>
            <a:r>
              <a:rPr dirty="0"/>
              <a:t>Markov</a:t>
            </a:r>
            <a:r>
              <a:rPr spc="-90" dirty="0"/>
              <a:t> </a:t>
            </a:r>
            <a:r>
              <a:rPr dirty="0"/>
              <a:t>Decision</a:t>
            </a:r>
            <a:r>
              <a:rPr spc="-85" dirty="0"/>
              <a:t> </a:t>
            </a:r>
            <a:r>
              <a:rPr dirty="0"/>
              <a:t>Process</a:t>
            </a:r>
            <a:r>
              <a:rPr spc="-70" dirty="0"/>
              <a:t> </a:t>
            </a:r>
            <a:r>
              <a:rPr dirty="0"/>
              <a:t>[2</a:t>
            </a:r>
            <a:r>
              <a:rPr spc="-85" dirty="0"/>
              <a:t> </a:t>
            </a:r>
            <a:r>
              <a:rPr spc="-20" dirty="0"/>
              <a:t>pts]</a:t>
            </a:r>
          </a:p>
        </p:txBody>
      </p:sp>
      <p:sp>
        <p:nvSpPr>
          <p:cNvPr id="3" name="object 3"/>
          <p:cNvSpPr txBox="1"/>
          <p:nvPr/>
        </p:nvSpPr>
        <p:spPr>
          <a:xfrm>
            <a:off x="915416" y="1717294"/>
            <a:ext cx="4723130" cy="1080135"/>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What</a:t>
            </a:r>
            <a:r>
              <a:rPr sz="1800" spc="-25" dirty="0">
                <a:latin typeface="Arial"/>
                <a:cs typeface="Arial"/>
              </a:rPr>
              <a:t> </a:t>
            </a:r>
            <a:r>
              <a:rPr sz="1800" dirty="0">
                <a:latin typeface="Arial"/>
                <a:cs typeface="Arial"/>
              </a:rPr>
              <a:t>is</a:t>
            </a:r>
            <a:r>
              <a:rPr sz="1800" spc="-10" dirty="0">
                <a:latin typeface="Arial"/>
                <a:cs typeface="Arial"/>
              </a:rPr>
              <a:t> </a:t>
            </a:r>
            <a:r>
              <a:rPr sz="1800" dirty="0">
                <a:latin typeface="Arial"/>
                <a:cs typeface="Arial"/>
              </a:rPr>
              <a:t>a</a:t>
            </a:r>
            <a:r>
              <a:rPr sz="1800" spc="-10" dirty="0">
                <a:latin typeface="Arial"/>
                <a:cs typeface="Arial"/>
              </a:rPr>
              <a:t> </a:t>
            </a:r>
            <a:r>
              <a:rPr sz="1800" dirty="0">
                <a:latin typeface="Arial"/>
                <a:cs typeface="Arial"/>
              </a:rPr>
              <a:t>rollout? What</a:t>
            </a:r>
            <a:r>
              <a:rPr sz="1800" spc="-10" dirty="0">
                <a:latin typeface="Arial"/>
                <a:cs typeface="Arial"/>
              </a:rPr>
              <a:t> </a:t>
            </a:r>
            <a:r>
              <a:rPr sz="1800" dirty="0">
                <a:latin typeface="Arial"/>
                <a:cs typeface="Arial"/>
              </a:rPr>
              <a:t>is</a:t>
            </a:r>
            <a:r>
              <a:rPr sz="1800" spc="-10" dirty="0">
                <a:latin typeface="Arial"/>
                <a:cs typeface="Arial"/>
              </a:rPr>
              <a:t> </a:t>
            </a:r>
            <a:r>
              <a:rPr sz="1800" dirty="0">
                <a:latin typeface="Arial"/>
                <a:cs typeface="Arial"/>
              </a:rPr>
              <a:t>rollout</a:t>
            </a:r>
            <a:r>
              <a:rPr sz="1800" spc="5" dirty="0">
                <a:latin typeface="Arial"/>
                <a:cs typeface="Arial"/>
              </a:rPr>
              <a:t> </a:t>
            </a:r>
            <a:r>
              <a:rPr sz="1800" spc="-10" dirty="0">
                <a:latin typeface="Arial"/>
                <a:cs typeface="Arial"/>
              </a:rPr>
              <a:t>reward?</a:t>
            </a:r>
            <a:endParaRPr sz="1800">
              <a:latin typeface="Arial"/>
              <a:cs typeface="Arial"/>
            </a:endParaRPr>
          </a:p>
          <a:p>
            <a:pPr>
              <a:lnSpc>
                <a:spcPct val="100000"/>
              </a:lnSpc>
              <a:spcBef>
                <a:spcPts val="1910"/>
              </a:spcBef>
            </a:pPr>
            <a:endParaRPr sz="1800">
              <a:latin typeface="Arial"/>
              <a:cs typeface="Arial"/>
            </a:endParaRPr>
          </a:p>
          <a:p>
            <a:pPr marL="13970">
              <a:lnSpc>
                <a:spcPct val="100000"/>
              </a:lnSpc>
              <a:spcBef>
                <a:spcPts val="5"/>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35" dirty="0">
                <a:solidFill>
                  <a:srgbClr val="808080"/>
                </a:solidFill>
                <a:latin typeface="Calibri"/>
                <a:cs typeface="Calibri"/>
              </a:rPr>
              <a:t> </a:t>
            </a:r>
            <a:r>
              <a:rPr sz="1800" dirty="0">
                <a:solidFill>
                  <a:srgbClr val="808080"/>
                </a:solidFill>
                <a:latin typeface="Calibri"/>
                <a:cs typeface="Calibri"/>
              </a:rPr>
              <a:t>answer</a:t>
            </a:r>
            <a:r>
              <a:rPr sz="1800" spc="-50" dirty="0">
                <a:solidFill>
                  <a:srgbClr val="808080"/>
                </a:solidFill>
                <a:latin typeface="Calibri"/>
                <a:cs typeface="Calibri"/>
              </a:rPr>
              <a:t> </a:t>
            </a:r>
            <a:r>
              <a:rPr sz="1800" dirty="0">
                <a:solidFill>
                  <a:srgbClr val="808080"/>
                </a:solidFill>
                <a:latin typeface="Calibri"/>
                <a:cs typeface="Calibri"/>
              </a:rPr>
              <a:t>in</a:t>
            </a:r>
            <a:r>
              <a:rPr sz="1800" spc="-30"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textbox,</a:t>
            </a:r>
            <a:r>
              <a:rPr sz="1800" spc="-40" dirty="0">
                <a:solidFill>
                  <a:srgbClr val="808080"/>
                </a:solidFill>
                <a:latin typeface="Calibri"/>
                <a:cs typeface="Calibri"/>
              </a:rPr>
              <a:t> </a:t>
            </a:r>
            <a:r>
              <a:rPr sz="1800" dirty="0">
                <a:solidFill>
                  <a:srgbClr val="808080"/>
                </a:solidFill>
                <a:latin typeface="Calibri"/>
                <a:cs typeface="Calibri"/>
              </a:rPr>
              <a:t>replace</a:t>
            </a:r>
            <a:r>
              <a:rPr sz="1800" spc="-30" dirty="0">
                <a:solidFill>
                  <a:srgbClr val="808080"/>
                </a:solidFill>
                <a:latin typeface="Calibri"/>
                <a:cs typeface="Calibri"/>
              </a:rPr>
              <a:t> </a:t>
            </a:r>
            <a:r>
              <a:rPr sz="1800" dirty="0">
                <a:solidFill>
                  <a:srgbClr val="808080"/>
                </a:solidFill>
                <a:latin typeface="Calibri"/>
                <a:cs typeface="Calibri"/>
              </a:rPr>
              <a:t>this</a:t>
            </a:r>
            <a:r>
              <a:rPr sz="1800" spc="-45" dirty="0">
                <a:solidFill>
                  <a:srgbClr val="808080"/>
                </a:solidFill>
                <a:latin typeface="Calibri"/>
                <a:cs typeface="Calibri"/>
              </a:rPr>
              <a:t> </a:t>
            </a:r>
            <a:r>
              <a:rPr sz="1800" spc="-10" dirty="0">
                <a:solidFill>
                  <a:srgbClr val="808080"/>
                </a:solidFill>
                <a:latin typeface="Calibri"/>
                <a:cs typeface="Calibri"/>
              </a:rPr>
              <a:t>text&gt;</a:t>
            </a:r>
            <a:endParaRPr sz="18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5.2</a:t>
            </a:r>
            <a:r>
              <a:rPr spc="-95" dirty="0"/>
              <a:t> </a:t>
            </a:r>
            <a:r>
              <a:rPr dirty="0"/>
              <a:t>Markov</a:t>
            </a:r>
            <a:r>
              <a:rPr spc="-90" dirty="0"/>
              <a:t> </a:t>
            </a:r>
            <a:r>
              <a:rPr dirty="0"/>
              <a:t>Decision</a:t>
            </a:r>
            <a:r>
              <a:rPr spc="-85" dirty="0"/>
              <a:t> </a:t>
            </a:r>
            <a:r>
              <a:rPr dirty="0"/>
              <a:t>Process</a:t>
            </a:r>
            <a:r>
              <a:rPr spc="-70" dirty="0"/>
              <a:t> </a:t>
            </a:r>
            <a:r>
              <a:rPr dirty="0"/>
              <a:t>[3</a:t>
            </a:r>
            <a:r>
              <a:rPr spc="-85" dirty="0"/>
              <a:t> </a:t>
            </a:r>
            <a:r>
              <a:rPr spc="-20" dirty="0"/>
              <a:t>pts]</a:t>
            </a:r>
          </a:p>
        </p:txBody>
      </p:sp>
      <p:sp>
        <p:nvSpPr>
          <p:cNvPr id="3" name="object 3"/>
          <p:cNvSpPr txBox="1"/>
          <p:nvPr/>
        </p:nvSpPr>
        <p:spPr>
          <a:xfrm>
            <a:off x="915416" y="1562988"/>
            <a:ext cx="9738995" cy="882650"/>
          </a:xfrm>
          <a:prstGeom prst="rect">
            <a:avLst/>
          </a:prstGeom>
        </p:spPr>
        <p:txBody>
          <a:bodyPr vert="horz" wrap="square" lIns="0" tIns="167005" rIns="0" bIns="0" rtlCol="0">
            <a:spAutoFit/>
          </a:bodyPr>
          <a:lstStyle/>
          <a:p>
            <a:pPr marL="12700">
              <a:lnSpc>
                <a:spcPct val="100000"/>
              </a:lnSpc>
              <a:spcBef>
                <a:spcPts val="1315"/>
              </a:spcBef>
            </a:pPr>
            <a:r>
              <a:rPr sz="1800" dirty="0">
                <a:latin typeface="Arial"/>
                <a:cs typeface="Arial"/>
              </a:rPr>
              <a:t>Compare</a:t>
            </a:r>
            <a:r>
              <a:rPr sz="1800" spc="-20"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two</a:t>
            </a:r>
            <a:r>
              <a:rPr sz="1800" spc="5" dirty="0">
                <a:latin typeface="Arial"/>
                <a:cs typeface="Arial"/>
              </a:rPr>
              <a:t> </a:t>
            </a:r>
            <a:r>
              <a:rPr sz="1800" dirty="0">
                <a:latin typeface="Arial"/>
                <a:cs typeface="Arial"/>
              </a:rPr>
              <a:t>control</a:t>
            </a:r>
            <a:r>
              <a:rPr sz="1800" spc="-15" dirty="0">
                <a:latin typeface="Arial"/>
                <a:cs typeface="Arial"/>
              </a:rPr>
              <a:t> </a:t>
            </a:r>
            <a:r>
              <a:rPr sz="1800" dirty="0">
                <a:latin typeface="Arial"/>
                <a:cs typeface="Arial"/>
              </a:rPr>
              <a:t>tapes</a:t>
            </a:r>
            <a:r>
              <a:rPr sz="1800" spc="-20" dirty="0">
                <a:latin typeface="Arial"/>
                <a:cs typeface="Arial"/>
              </a:rPr>
              <a:t> </a:t>
            </a:r>
            <a:r>
              <a:rPr sz="1800" dirty="0">
                <a:latin typeface="Arial"/>
                <a:cs typeface="Arial"/>
              </a:rPr>
              <a:t>provided</a:t>
            </a:r>
            <a:r>
              <a:rPr sz="1800" spc="-5" dirty="0">
                <a:latin typeface="Arial"/>
                <a:cs typeface="Arial"/>
              </a:rPr>
              <a:t> </a:t>
            </a:r>
            <a:r>
              <a:rPr sz="1800" dirty="0">
                <a:latin typeface="Arial"/>
                <a:cs typeface="Arial"/>
              </a:rPr>
              <a:t>after</a:t>
            </a:r>
            <a:r>
              <a:rPr sz="1800" spc="-20" dirty="0">
                <a:latin typeface="Arial"/>
                <a:cs typeface="Arial"/>
              </a:rPr>
              <a:t> </a:t>
            </a:r>
            <a:r>
              <a:rPr sz="1800" dirty="0">
                <a:latin typeface="Arial"/>
                <a:cs typeface="Arial"/>
              </a:rPr>
              <a:t>TODO</a:t>
            </a:r>
            <a:r>
              <a:rPr sz="1800" spc="-20" dirty="0">
                <a:latin typeface="Arial"/>
                <a:cs typeface="Arial"/>
              </a:rPr>
              <a:t> </a:t>
            </a:r>
            <a:r>
              <a:rPr sz="1800" dirty="0">
                <a:latin typeface="Arial"/>
                <a:cs typeface="Arial"/>
              </a:rPr>
              <a:t>18.</a:t>
            </a:r>
            <a:r>
              <a:rPr sz="1800" spc="-20" dirty="0">
                <a:latin typeface="Arial"/>
                <a:cs typeface="Arial"/>
              </a:rPr>
              <a:t> </a:t>
            </a:r>
            <a:r>
              <a:rPr sz="1800" dirty="0">
                <a:latin typeface="Arial"/>
                <a:cs typeface="Arial"/>
              </a:rPr>
              <a:t>What</a:t>
            </a:r>
            <a:r>
              <a:rPr sz="1800" spc="-30" dirty="0">
                <a:latin typeface="Arial"/>
                <a:cs typeface="Arial"/>
              </a:rPr>
              <a:t> </a:t>
            </a:r>
            <a:r>
              <a:rPr sz="1800" dirty="0">
                <a:latin typeface="Arial"/>
                <a:cs typeface="Arial"/>
              </a:rPr>
              <a:t>is</a:t>
            </a:r>
            <a:r>
              <a:rPr sz="1800" spc="-20"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optimal</a:t>
            </a:r>
            <a:r>
              <a:rPr sz="1800" spc="-20" dirty="0">
                <a:latin typeface="Arial"/>
                <a:cs typeface="Arial"/>
              </a:rPr>
              <a:t> </a:t>
            </a:r>
            <a:r>
              <a:rPr sz="1800" dirty="0">
                <a:latin typeface="Arial"/>
                <a:cs typeface="Arial"/>
              </a:rPr>
              <a:t>control</a:t>
            </a:r>
            <a:r>
              <a:rPr sz="1800" spc="-15" dirty="0">
                <a:latin typeface="Arial"/>
                <a:cs typeface="Arial"/>
              </a:rPr>
              <a:t> </a:t>
            </a:r>
            <a:r>
              <a:rPr sz="1800" dirty="0">
                <a:latin typeface="Arial"/>
                <a:cs typeface="Arial"/>
              </a:rPr>
              <a:t>tape?</a:t>
            </a:r>
            <a:r>
              <a:rPr sz="1800" spc="-15" dirty="0">
                <a:latin typeface="Arial"/>
                <a:cs typeface="Arial"/>
              </a:rPr>
              <a:t> </a:t>
            </a:r>
            <a:r>
              <a:rPr sz="1800" spc="-20" dirty="0">
                <a:latin typeface="Arial"/>
                <a:cs typeface="Arial"/>
              </a:rPr>
              <a:t>Why?</a:t>
            </a:r>
            <a:endParaRPr sz="1800">
              <a:latin typeface="Arial"/>
              <a:cs typeface="Arial"/>
            </a:endParaRPr>
          </a:p>
          <a:p>
            <a:pPr marL="13970">
              <a:lnSpc>
                <a:spcPct val="100000"/>
              </a:lnSpc>
              <a:spcBef>
                <a:spcPts val="1215"/>
              </a:spcBef>
            </a:pPr>
            <a:r>
              <a:rPr sz="1800" dirty="0">
                <a:solidFill>
                  <a:srgbClr val="808080"/>
                </a:solidFill>
                <a:latin typeface="Calibri"/>
                <a:cs typeface="Calibri"/>
              </a:rPr>
              <a:t>&lt;Put</a:t>
            </a:r>
            <a:r>
              <a:rPr sz="1800" spc="-30" dirty="0">
                <a:solidFill>
                  <a:srgbClr val="808080"/>
                </a:solidFill>
                <a:latin typeface="Calibri"/>
                <a:cs typeface="Calibri"/>
              </a:rPr>
              <a:t> </a:t>
            </a:r>
            <a:r>
              <a:rPr sz="1800" dirty="0">
                <a:solidFill>
                  <a:srgbClr val="808080"/>
                </a:solidFill>
                <a:latin typeface="Calibri"/>
                <a:cs typeface="Calibri"/>
              </a:rPr>
              <a:t>your</a:t>
            </a:r>
            <a:r>
              <a:rPr sz="1800" spc="-25" dirty="0">
                <a:solidFill>
                  <a:srgbClr val="808080"/>
                </a:solidFill>
                <a:latin typeface="Calibri"/>
                <a:cs typeface="Calibri"/>
              </a:rPr>
              <a:t> </a:t>
            </a:r>
            <a:r>
              <a:rPr sz="1800" dirty="0">
                <a:solidFill>
                  <a:srgbClr val="808080"/>
                </a:solidFill>
                <a:latin typeface="Calibri"/>
                <a:cs typeface="Calibri"/>
              </a:rPr>
              <a:t>answer</a:t>
            </a:r>
            <a:r>
              <a:rPr sz="1800" spc="-25" dirty="0">
                <a:solidFill>
                  <a:srgbClr val="808080"/>
                </a:solidFill>
                <a:latin typeface="Calibri"/>
                <a:cs typeface="Calibri"/>
              </a:rPr>
              <a:t> </a:t>
            </a:r>
            <a:r>
              <a:rPr sz="1800" dirty="0">
                <a:solidFill>
                  <a:srgbClr val="808080"/>
                </a:solidFill>
                <a:latin typeface="Calibri"/>
                <a:cs typeface="Calibri"/>
              </a:rPr>
              <a:t>in</a:t>
            </a:r>
            <a:r>
              <a:rPr sz="1800" spc="-15" dirty="0">
                <a:solidFill>
                  <a:srgbClr val="808080"/>
                </a:solidFill>
                <a:latin typeface="Calibri"/>
                <a:cs typeface="Calibri"/>
              </a:rPr>
              <a:t> </a:t>
            </a:r>
            <a:r>
              <a:rPr sz="1800" dirty="0">
                <a:solidFill>
                  <a:srgbClr val="808080"/>
                </a:solidFill>
                <a:latin typeface="Calibri"/>
                <a:cs typeface="Calibri"/>
              </a:rPr>
              <a:t>this</a:t>
            </a:r>
            <a:r>
              <a:rPr sz="1800" spc="-30" dirty="0">
                <a:solidFill>
                  <a:srgbClr val="808080"/>
                </a:solidFill>
                <a:latin typeface="Calibri"/>
                <a:cs typeface="Calibri"/>
              </a:rPr>
              <a:t> </a:t>
            </a:r>
            <a:r>
              <a:rPr sz="1800" dirty="0">
                <a:solidFill>
                  <a:srgbClr val="808080"/>
                </a:solidFill>
                <a:latin typeface="Calibri"/>
                <a:cs typeface="Calibri"/>
              </a:rPr>
              <a:t>textbox,</a:t>
            </a:r>
            <a:r>
              <a:rPr sz="1800" spc="-25" dirty="0">
                <a:solidFill>
                  <a:srgbClr val="808080"/>
                </a:solidFill>
                <a:latin typeface="Calibri"/>
                <a:cs typeface="Calibri"/>
              </a:rPr>
              <a:t> </a:t>
            </a:r>
            <a:r>
              <a:rPr sz="1800" dirty="0">
                <a:solidFill>
                  <a:srgbClr val="808080"/>
                </a:solidFill>
                <a:latin typeface="Calibri"/>
                <a:cs typeface="Calibri"/>
              </a:rPr>
              <a:t>replace</a:t>
            </a:r>
            <a:r>
              <a:rPr sz="1800" spc="-15" dirty="0">
                <a:solidFill>
                  <a:srgbClr val="808080"/>
                </a:solidFill>
                <a:latin typeface="Calibri"/>
                <a:cs typeface="Calibri"/>
              </a:rPr>
              <a:t> </a:t>
            </a:r>
            <a:r>
              <a:rPr sz="1800" dirty="0">
                <a:solidFill>
                  <a:srgbClr val="808080"/>
                </a:solidFill>
                <a:latin typeface="Calibri"/>
                <a:cs typeface="Calibri"/>
              </a:rPr>
              <a:t>this</a:t>
            </a:r>
            <a:r>
              <a:rPr sz="1800" spc="-25" dirty="0">
                <a:solidFill>
                  <a:srgbClr val="808080"/>
                </a:solidFill>
                <a:latin typeface="Calibri"/>
                <a:cs typeface="Calibri"/>
              </a:rPr>
              <a:t> </a:t>
            </a:r>
            <a:r>
              <a:rPr sz="1800" spc="-10" dirty="0">
                <a:solidFill>
                  <a:srgbClr val="808080"/>
                </a:solidFill>
                <a:latin typeface="Calibri"/>
                <a:cs typeface="Calibri"/>
              </a:rPr>
              <a:t>text&gt;</a:t>
            </a:r>
            <a:endParaRPr sz="18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5.3</a:t>
            </a:r>
            <a:r>
              <a:rPr spc="-95" dirty="0"/>
              <a:t> </a:t>
            </a:r>
            <a:r>
              <a:rPr dirty="0"/>
              <a:t>Markov</a:t>
            </a:r>
            <a:r>
              <a:rPr spc="-90" dirty="0"/>
              <a:t> </a:t>
            </a:r>
            <a:r>
              <a:rPr dirty="0"/>
              <a:t>Decision</a:t>
            </a:r>
            <a:r>
              <a:rPr spc="-85" dirty="0"/>
              <a:t> </a:t>
            </a:r>
            <a:r>
              <a:rPr dirty="0"/>
              <a:t>Process</a:t>
            </a:r>
            <a:r>
              <a:rPr spc="-70" dirty="0"/>
              <a:t> </a:t>
            </a:r>
            <a:r>
              <a:rPr dirty="0"/>
              <a:t>[3</a:t>
            </a:r>
            <a:r>
              <a:rPr spc="-85" dirty="0"/>
              <a:t> </a:t>
            </a:r>
            <a:r>
              <a:rPr spc="-20" dirty="0"/>
              <a:t>pts]</a:t>
            </a:r>
          </a:p>
        </p:txBody>
      </p:sp>
      <p:sp>
        <p:nvSpPr>
          <p:cNvPr id="3" name="object 3"/>
          <p:cNvSpPr txBox="1"/>
          <p:nvPr/>
        </p:nvSpPr>
        <p:spPr>
          <a:xfrm>
            <a:off x="915416" y="1562988"/>
            <a:ext cx="8037195" cy="882650"/>
          </a:xfrm>
          <a:prstGeom prst="rect">
            <a:avLst/>
          </a:prstGeom>
        </p:spPr>
        <p:txBody>
          <a:bodyPr vert="horz" wrap="square" lIns="0" tIns="167005" rIns="0" bIns="0" rtlCol="0">
            <a:spAutoFit/>
          </a:bodyPr>
          <a:lstStyle/>
          <a:p>
            <a:pPr marL="12700">
              <a:lnSpc>
                <a:spcPct val="100000"/>
              </a:lnSpc>
              <a:spcBef>
                <a:spcPts val="1315"/>
              </a:spcBef>
            </a:pPr>
            <a:r>
              <a:rPr sz="1800" dirty="0">
                <a:latin typeface="Arial"/>
                <a:cs typeface="Arial"/>
              </a:rPr>
              <a:t>What</a:t>
            </a:r>
            <a:r>
              <a:rPr sz="1800" spc="-30"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optimal</a:t>
            </a:r>
            <a:r>
              <a:rPr sz="1800" spc="-20" dirty="0">
                <a:latin typeface="Arial"/>
                <a:cs typeface="Arial"/>
              </a:rPr>
              <a:t> </a:t>
            </a:r>
            <a:r>
              <a:rPr sz="1800" dirty="0">
                <a:latin typeface="Arial"/>
                <a:cs typeface="Arial"/>
              </a:rPr>
              <a:t>policy? Give</a:t>
            </a:r>
            <a:r>
              <a:rPr sz="1800" spc="-25" dirty="0">
                <a:latin typeface="Arial"/>
                <a:cs typeface="Arial"/>
              </a:rPr>
              <a:t> </a:t>
            </a:r>
            <a:r>
              <a:rPr sz="1800" dirty="0">
                <a:latin typeface="Arial"/>
                <a:cs typeface="Arial"/>
              </a:rPr>
              <a:t>a</a:t>
            </a:r>
            <a:r>
              <a:rPr sz="1800" spc="-35" dirty="0">
                <a:latin typeface="Arial"/>
                <a:cs typeface="Arial"/>
              </a:rPr>
              <a:t> </a:t>
            </a:r>
            <a:r>
              <a:rPr sz="1800" dirty="0">
                <a:latin typeface="Arial"/>
                <a:cs typeface="Arial"/>
              </a:rPr>
              <a:t>short</a:t>
            </a:r>
            <a:r>
              <a:rPr sz="1800" spc="-20" dirty="0">
                <a:latin typeface="Arial"/>
                <a:cs typeface="Arial"/>
              </a:rPr>
              <a:t> </a:t>
            </a:r>
            <a:r>
              <a:rPr sz="1800" dirty="0">
                <a:latin typeface="Arial"/>
                <a:cs typeface="Arial"/>
              </a:rPr>
              <a:t>explanation</a:t>
            </a:r>
            <a:r>
              <a:rPr sz="1800" spc="5" dirty="0">
                <a:latin typeface="Arial"/>
                <a:cs typeface="Arial"/>
              </a:rPr>
              <a:t> </a:t>
            </a:r>
            <a:r>
              <a:rPr sz="1800" dirty="0">
                <a:latin typeface="Arial"/>
                <a:cs typeface="Arial"/>
              </a:rPr>
              <a:t>on</a:t>
            </a:r>
            <a:r>
              <a:rPr sz="1800" spc="-20" dirty="0">
                <a:latin typeface="Arial"/>
                <a:cs typeface="Arial"/>
              </a:rPr>
              <a:t> </a:t>
            </a:r>
            <a:r>
              <a:rPr sz="1800" dirty="0">
                <a:latin typeface="Arial"/>
                <a:cs typeface="Arial"/>
              </a:rPr>
              <a:t>what</a:t>
            </a:r>
            <a:r>
              <a:rPr sz="1800" spc="10" dirty="0">
                <a:latin typeface="Arial"/>
                <a:cs typeface="Arial"/>
              </a:rPr>
              <a:t> </a:t>
            </a:r>
            <a:r>
              <a:rPr sz="1800" dirty="0">
                <a:latin typeface="Arial"/>
                <a:cs typeface="Arial"/>
              </a:rPr>
              <a:t>this</a:t>
            </a:r>
            <a:r>
              <a:rPr sz="1800" spc="-25" dirty="0">
                <a:latin typeface="Arial"/>
                <a:cs typeface="Arial"/>
              </a:rPr>
              <a:t> </a:t>
            </a:r>
            <a:r>
              <a:rPr sz="1800" dirty="0">
                <a:latin typeface="Arial"/>
                <a:cs typeface="Arial"/>
              </a:rPr>
              <a:t>policy</a:t>
            </a:r>
            <a:r>
              <a:rPr sz="1800" spc="-20" dirty="0">
                <a:latin typeface="Arial"/>
                <a:cs typeface="Arial"/>
              </a:rPr>
              <a:t> </a:t>
            </a:r>
            <a:r>
              <a:rPr sz="1800" dirty="0">
                <a:latin typeface="Arial"/>
                <a:cs typeface="Arial"/>
              </a:rPr>
              <a:t>tells</a:t>
            </a:r>
            <a:r>
              <a:rPr sz="1800" spc="-25" dirty="0">
                <a:latin typeface="Arial"/>
                <a:cs typeface="Arial"/>
              </a:rPr>
              <a:t> us.</a:t>
            </a:r>
            <a:endParaRPr sz="1800">
              <a:latin typeface="Arial"/>
              <a:cs typeface="Arial"/>
            </a:endParaRPr>
          </a:p>
          <a:p>
            <a:pPr marL="13970">
              <a:lnSpc>
                <a:spcPct val="100000"/>
              </a:lnSpc>
              <a:spcBef>
                <a:spcPts val="1215"/>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35" dirty="0">
                <a:solidFill>
                  <a:srgbClr val="808080"/>
                </a:solidFill>
                <a:latin typeface="Calibri"/>
                <a:cs typeface="Calibri"/>
              </a:rPr>
              <a:t> </a:t>
            </a:r>
            <a:r>
              <a:rPr sz="1800" dirty="0">
                <a:solidFill>
                  <a:srgbClr val="808080"/>
                </a:solidFill>
                <a:latin typeface="Calibri"/>
                <a:cs typeface="Calibri"/>
              </a:rPr>
              <a:t>answer</a:t>
            </a:r>
            <a:r>
              <a:rPr sz="1800" spc="-50" dirty="0">
                <a:solidFill>
                  <a:srgbClr val="808080"/>
                </a:solidFill>
                <a:latin typeface="Calibri"/>
                <a:cs typeface="Calibri"/>
              </a:rPr>
              <a:t> </a:t>
            </a:r>
            <a:r>
              <a:rPr sz="1800" dirty="0">
                <a:solidFill>
                  <a:srgbClr val="808080"/>
                </a:solidFill>
                <a:latin typeface="Calibri"/>
                <a:cs typeface="Calibri"/>
              </a:rPr>
              <a:t>in</a:t>
            </a:r>
            <a:r>
              <a:rPr sz="1800" spc="-30"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textbox,</a:t>
            </a:r>
            <a:r>
              <a:rPr sz="1800" spc="-40" dirty="0">
                <a:solidFill>
                  <a:srgbClr val="808080"/>
                </a:solidFill>
                <a:latin typeface="Calibri"/>
                <a:cs typeface="Calibri"/>
              </a:rPr>
              <a:t> </a:t>
            </a:r>
            <a:r>
              <a:rPr sz="1800" dirty="0">
                <a:solidFill>
                  <a:srgbClr val="808080"/>
                </a:solidFill>
                <a:latin typeface="Calibri"/>
                <a:cs typeface="Calibri"/>
              </a:rPr>
              <a:t>replace</a:t>
            </a:r>
            <a:r>
              <a:rPr sz="1800" spc="-30" dirty="0">
                <a:solidFill>
                  <a:srgbClr val="808080"/>
                </a:solidFill>
                <a:latin typeface="Calibri"/>
                <a:cs typeface="Calibri"/>
              </a:rPr>
              <a:t> </a:t>
            </a:r>
            <a:r>
              <a:rPr sz="1800" dirty="0">
                <a:solidFill>
                  <a:srgbClr val="808080"/>
                </a:solidFill>
                <a:latin typeface="Calibri"/>
                <a:cs typeface="Calibri"/>
              </a:rPr>
              <a:t>this</a:t>
            </a:r>
            <a:r>
              <a:rPr sz="1800" spc="-45" dirty="0">
                <a:solidFill>
                  <a:srgbClr val="808080"/>
                </a:solidFill>
                <a:latin typeface="Calibri"/>
                <a:cs typeface="Calibri"/>
              </a:rPr>
              <a:t> </a:t>
            </a:r>
            <a:r>
              <a:rPr sz="1800" spc="-10" dirty="0">
                <a:solidFill>
                  <a:srgbClr val="808080"/>
                </a:solidFill>
                <a:latin typeface="Calibri"/>
                <a:cs typeface="Calibri"/>
              </a:rPr>
              <a:t>text&gt;</a:t>
            </a:r>
            <a:endParaRPr sz="18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22225">
              <a:lnSpc>
                <a:spcPct val="100000"/>
              </a:lnSpc>
              <a:spcBef>
                <a:spcPts val="105"/>
              </a:spcBef>
            </a:pPr>
            <a:r>
              <a:rPr dirty="0"/>
              <a:t>5.4</a:t>
            </a:r>
            <a:r>
              <a:rPr spc="-95" dirty="0"/>
              <a:t> </a:t>
            </a:r>
            <a:r>
              <a:rPr dirty="0"/>
              <a:t>Markov</a:t>
            </a:r>
            <a:r>
              <a:rPr spc="-90" dirty="0"/>
              <a:t> </a:t>
            </a:r>
            <a:r>
              <a:rPr dirty="0"/>
              <a:t>Decision</a:t>
            </a:r>
            <a:r>
              <a:rPr spc="-85" dirty="0"/>
              <a:t> </a:t>
            </a:r>
            <a:r>
              <a:rPr dirty="0"/>
              <a:t>Process</a:t>
            </a:r>
            <a:r>
              <a:rPr spc="-70" dirty="0"/>
              <a:t> </a:t>
            </a:r>
            <a:r>
              <a:rPr dirty="0"/>
              <a:t>[3</a:t>
            </a:r>
            <a:r>
              <a:rPr spc="-85" dirty="0"/>
              <a:t> </a:t>
            </a:r>
            <a:r>
              <a:rPr spc="-20" dirty="0"/>
              <a:t>pts]</a:t>
            </a:r>
          </a:p>
        </p:txBody>
      </p:sp>
      <p:sp>
        <p:nvSpPr>
          <p:cNvPr id="3" name="object 3"/>
          <p:cNvSpPr txBox="1"/>
          <p:nvPr/>
        </p:nvSpPr>
        <p:spPr>
          <a:xfrm>
            <a:off x="915416" y="1562988"/>
            <a:ext cx="9150985" cy="882650"/>
          </a:xfrm>
          <a:prstGeom prst="rect">
            <a:avLst/>
          </a:prstGeom>
        </p:spPr>
        <p:txBody>
          <a:bodyPr vert="horz" wrap="square" lIns="0" tIns="167005" rIns="0" bIns="0" rtlCol="0">
            <a:spAutoFit/>
          </a:bodyPr>
          <a:lstStyle/>
          <a:p>
            <a:pPr marL="12700">
              <a:lnSpc>
                <a:spcPct val="100000"/>
              </a:lnSpc>
              <a:spcBef>
                <a:spcPts val="1315"/>
              </a:spcBef>
            </a:pPr>
            <a:r>
              <a:rPr sz="1800" dirty="0">
                <a:latin typeface="Arial"/>
                <a:cs typeface="Arial"/>
              </a:rPr>
              <a:t>What's</a:t>
            </a:r>
            <a:r>
              <a:rPr sz="1800" spc="-3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objective</a:t>
            </a:r>
            <a:r>
              <a:rPr sz="1800" spc="-20"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using</a:t>
            </a:r>
            <a:r>
              <a:rPr sz="1800" spc="-20" dirty="0">
                <a:latin typeface="Arial"/>
                <a:cs typeface="Arial"/>
              </a:rPr>
              <a:t> </a:t>
            </a:r>
            <a:r>
              <a:rPr sz="1800" dirty="0">
                <a:latin typeface="Arial"/>
                <a:cs typeface="Arial"/>
              </a:rPr>
              <a:t>policy</a:t>
            </a:r>
            <a:r>
              <a:rPr sz="1800" spc="-10" dirty="0">
                <a:latin typeface="Arial"/>
                <a:cs typeface="Arial"/>
              </a:rPr>
              <a:t> </a:t>
            </a:r>
            <a:r>
              <a:rPr sz="1800" dirty="0">
                <a:latin typeface="Arial"/>
                <a:cs typeface="Arial"/>
              </a:rPr>
              <a:t>iteration?</a:t>
            </a:r>
            <a:r>
              <a:rPr sz="1800" spc="-20" dirty="0">
                <a:latin typeface="Arial"/>
                <a:cs typeface="Arial"/>
              </a:rPr>
              <a:t> </a:t>
            </a:r>
            <a:r>
              <a:rPr sz="1800" dirty="0">
                <a:latin typeface="Arial"/>
                <a:cs typeface="Arial"/>
              </a:rPr>
              <a:t>What's</a:t>
            </a:r>
            <a:r>
              <a:rPr sz="1800" spc="-30"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objective</a:t>
            </a:r>
            <a:r>
              <a:rPr sz="1800" spc="-20"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using</a:t>
            </a:r>
            <a:r>
              <a:rPr sz="1800" spc="-20" dirty="0">
                <a:latin typeface="Arial"/>
                <a:cs typeface="Arial"/>
              </a:rPr>
              <a:t> </a:t>
            </a:r>
            <a:r>
              <a:rPr sz="1800" dirty="0">
                <a:latin typeface="Arial"/>
                <a:cs typeface="Arial"/>
              </a:rPr>
              <a:t>value</a:t>
            </a:r>
            <a:r>
              <a:rPr sz="1800" spc="-15" dirty="0">
                <a:latin typeface="Arial"/>
                <a:cs typeface="Arial"/>
              </a:rPr>
              <a:t> </a:t>
            </a:r>
            <a:r>
              <a:rPr sz="1800" spc="-10" dirty="0">
                <a:latin typeface="Arial"/>
                <a:cs typeface="Arial"/>
              </a:rPr>
              <a:t>iteration?</a:t>
            </a:r>
            <a:endParaRPr sz="1800">
              <a:latin typeface="Arial"/>
              <a:cs typeface="Arial"/>
            </a:endParaRPr>
          </a:p>
          <a:p>
            <a:pPr marL="13970">
              <a:lnSpc>
                <a:spcPct val="100000"/>
              </a:lnSpc>
              <a:spcBef>
                <a:spcPts val="1215"/>
              </a:spcBef>
            </a:pPr>
            <a:r>
              <a:rPr sz="1800" dirty="0">
                <a:solidFill>
                  <a:srgbClr val="808080"/>
                </a:solidFill>
                <a:latin typeface="Calibri"/>
                <a:cs typeface="Calibri"/>
              </a:rPr>
              <a:t>&lt;Put</a:t>
            </a:r>
            <a:r>
              <a:rPr sz="1800" spc="-55" dirty="0">
                <a:solidFill>
                  <a:srgbClr val="808080"/>
                </a:solidFill>
                <a:latin typeface="Calibri"/>
                <a:cs typeface="Calibri"/>
              </a:rPr>
              <a:t> </a:t>
            </a:r>
            <a:r>
              <a:rPr sz="1800" dirty="0">
                <a:solidFill>
                  <a:srgbClr val="808080"/>
                </a:solidFill>
                <a:latin typeface="Calibri"/>
                <a:cs typeface="Calibri"/>
              </a:rPr>
              <a:t>your</a:t>
            </a:r>
            <a:r>
              <a:rPr sz="1800" spc="-35" dirty="0">
                <a:solidFill>
                  <a:srgbClr val="808080"/>
                </a:solidFill>
                <a:latin typeface="Calibri"/>
                <a:cs typeface="Calibri"/>
              </a:rPr>
              <a:t> </a:t>
            </a:r>
            <a:r>
              <a:rPr sz="1800" dirty="0">
                <a:solidFill>
                  <a:srgbClr val="808080"/>
                </a:solidFill>
                <a:latin typeface="Calibri"/>
                <a:cs typeface="Calibri"/>
              </a:rPr>
              <a:t>answer</a:t>
            </a:r>
            <a:r>
              <a:rPr sz="1800" spc="-50" dirty="0">
                <a:solidFill>
                  <a:srgbClr val="808080"/>
                </a:solidFill>
                <a:latin typeface="Calibri"/>
                <a:cs typeface="Calibri"/>
              </a:rPr>
              <a:t> </a:t>
            </a:r>
            <a:r>
              <a:rPr sz="1800" dirty="0">
                <a:solidFill>
                  <a:srgbClr val="808080"/>
                </a:solidFill>
                <a:latin typeface="Calibri"/>
                <a:cs typeface="Calibri"/>
              </a:rPr>
              <a:t>in</a:t>
            </a:r>
            <a:r>
              <a:rPr sz="1800" spc="-30"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textbox,</a:t>
            </a:r>
            <a:r>
              <a:rPr sz="1800" spc="-40" dirty="0">
                <a:solidFill>
                  <a:srgbClr val="808080"/>
                </a:solidFill>
                <a:latin typeface="Calibri"/>
                <a:cs typeface="Calibri"/>
              </a:rPr>
              <a:t> </a:t>
            </a:r>
            <a:r>
              <a:rPr sz="1800" dirty="0">
                <a:solidFill>
                  <a:srgbClr val="808080"/>
                </a:solidFill>
                <a:latin typeface="Calibri"/>
                <a:cs typeface="Calibri"/>
              </a:rPr>
              <a:t>replace</a:t>
            </a:r>
            <a:r>
              <a:rPr sz="1800" spc="-30" dirty="0">
                <a:solidFill>
                  <a:srgbClr val="808080"/>
                </a:solidFill>
                <a:latin typeface="Calibri"/>
                <a:cs typeface="Calibri"/>
              </a:rPr>
              <a:t> </a:t>
            </a:r>
            <a:r>
              <a:rPr sz="1800" dirty="0">
                <a:solidFill>
                  <a:srgbClr val="808080"/>
                </a:solidFill>
                <a:latin typeface="Calibri"/>
                <a:cs typeface="Calibri"/>
              </a:rPr>
              <a:t>this</a:t>
            </a:r>
            <a:r>
              <a:rPr sz="1800" spc="-45" dirty="0">
                <a:solidFill>
                  <a:srgbClr val="808080"/>
                </a:solidFill>
                <a:latin typeface="Calibri"/>
                <a:cs typeface="Calibri"/>
              </a:rPr>
              <a:t> </a:t>
            </a:r>
            <a:r>
              <a:rPr sz="1800" spc="-10" dirty="0">
                <a:solidFill>
                  <a:srgbClr val="808080"/>
                </a:solidFill>
                <a:latin typeface="Calibri"/>
                <a:cs typeface="Calibri"/>
              </a:rPr>
              <a:t>text&gt;</a:t>
            </a:r>
            <a:endParaRPr sz="18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6.1</a:t>
            </a:r>
            <a:r>
              <a:rPr spc="-45" dirty="0"/>
              <a:t> </a:t>
            </a:r>
            <a:r>
              <a:rPr dirty="0"/>
              <a:t>*EXTRA</a:t>
            </a:r>
            <a:r>
              <a:rPr spc="-25" dirty="0"/>
              <a:t> </a:t>
            </a:r>
            <a:r>
              <a:rPr dirty="0"/>
              <a:t>CREDIT*</a:t>
            </a:r>
            <a:r>
              <a:rPr spc="-50" dirty="0"/>
              <a:t> </a:t>
            </a:r>
            <a:r>
              <a:rPr dirty="0"/>
              <a:t>RL</a:t>
            </a:r>
            <a:r>
              <a:rPr spc="-30" dirty="0"/>
              <a:t> </a:t>
            </a:r>
            <a:r>
              <a:rPr dirty="0"/>
              <a:t>[2</a:t>
            </a:r>
            <a:r>
              <a:rPr spc="-20" dirty="0"/>
              <a:t> pts]</a:t>
            </a:r>
          </a:p>
        </p:txBody>
      </p:sp>
      <p:sp>
        <p:nvSpPr>
          <p:cNvPr id="3" name="object 3"/>
          <p:cNvSpPr txBox="1"/>
          <p:nvPr/>
        </p:nvSpPr>
        <p:spPr>
          <a:xfrm>
            <a:off x="916939" y="3113913"/>
            <a:ext cx="47478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08080"/>
                </a:solidFill>
                <a:latin typeface="Calibri"/>
                <a:cs typeface="Calibri"/>
              </a:rPr>
              <a:t>&lt;Put</a:t>
            </a:r>
            <a:r>
              <a:rPr sz="1800" spc="-30" dirty="0">
                <a:solidFill>
                  <a:srgbClr val="808080"/>
                </a:solidFill>
                <a:latin typeface="Calibri"/>
                <a:cs typeface="Calibri"/>
              </a:rPr>
              <a:t> </a:t>
            </a:r>
            <a:r>
              <a:rPr sz="1800" dirty="0">
                <a:solidFill>
                  <a:srgbClr val="808080"/>
                </a:solidFill>
                <a:latin typeface="Calibri"/>
                <a:cs typeface="Calibri"/>
              </a:rPr>
              <a:t>your</a:t>
            </a:r>
            <a:r>
              <a:rPr sz="1800" spc="-25" dirty="0">
                <a:solidFill>
                  <a:srgbClr val="808080"/>
                </a:solidFill>
                <a:latin typeface="Calibri"/>
                <a:cs typeface="Calibri"/>
              </a:rPr>
              <a:t> </a:t>
            </a:r>
            <a:r>
              <a:rPr sz="1800" dirty="0">
                <a:solidFill>
                  <a:srgbClr val="808080"/>
                </a:solidFill>
                <a:latin typeface="Calibri"/>
                <a:cs typeface="Calibri"/>
              </a:rPr>
              <a:t>answer</a:t>
            </a:r>
            <a:r>
              <a:rPr sz="1800" spc="-25" dirty="0">
                <a:solidFill>
                  <a:srgbClr val="808080"/>
                </a:solidFill>
                <a:latin typeface="Calibri"/>
                <a:cs typeface="Calibri"/>
              </a:rPr>
              <a:t> </a:t>
            </a:r>
            <a:r>
              <a:rPr sz="1800" dirty="0">
                <a:solidFill>
                  <a:srgbClr val="808080"/>
                </a:solidFill>
                <a:latin typeface="Calibri"/>
                <a:cs typeface="Calibri"/>
              </a:rPr>
              <a:t>in</a:t>
            </a:r>
            <a:r>
              <a:rPr sz="1800" spc="-15" dirty="0">
                <a:solidFill>
                  <a:srgbClr val="808080"/>
                </a:solidFill>
                <a:latin typeface="Calibri"/>
                <a:cs typeface="Calibri"/>
              </a:rPr>
              <a:t> </a:t>
            </a:r>
            <a:r>
              <a:rPr sz="1800" dirty="0">
                <a:solidFill>
                  <a:srgbClr val="808080"/>
                </a:solidFill>
                <a:latin typeface="Calibri"/>
                <a:cs typeface="Calibri"/>
              </a:rPr>
              <a:t>this</a:t>
            </a:r>
            <a:r>
              <a:rPr sz="1800" spc="-30" dirty="0">
                <a:solidFill>
                  <a:srgbClr val="808080"/>
                </a:solidFill>
                <a:latin typeface="Calibri"/>
                <a:cs typeface="Calibri"/>
              </a:rPr>
              <a:t> </a:t>
            </a:r>
            <a:r>
              <a:rPr sz="1800" dirty="0">
                <a:solidFill>
                  <a:srgbClr val="808080"/>
                </a:solidFill>
                <a:latin typeface="Calibri"/>
                <a:cs typeface="Calibri"/>
              </a:rPr>
              <a:t>textbox,</a:t>
            </a:r>
            <a:r>
              <a:rPr sz="1800" spc="-25" dirty="0">
                <a:solidFill>
                  <a:srgbClr val="808080"/>
                </a:solidFill>
                <a:latin typeface="Calibri"/>
                <a:cs typeface="Calibri"/>
              </a:rPr>
              <a:t> </a:t>
            </a:r>
            <a:r>
              <a:rPr sz="1800" dirty="0">
                <a:solidFill>
                  <a:srgbClr val="808080"/>
                </a:solidFill>
                <a:latin typeface="Calibri"/>
                <a:cs typeface="Calibri"/>
              </a:rPr>
              <a:t>replace</a:t>
            </a:r>
            <a:r>
              <a:rPr sz="1800" spc="-15" dirty="0">
                <a:solidFill>
                  <a:srgbClr val="808080"/>
                </a:solidFill>
                <a:latin typeface="Calibri"/>
                <a:cs typeface="Calibri"/>
              </a:rPr>
              <a:t> </a:t>
            </a:r>
            <a:r>
              <a:rPr sz="1800" dirty="0">
                <a:solidFill>
                  <a:srgbClr val="808080"/>
                </a:solidFill>
                <a:latin typeface="Calibri"/>
                <a:cs typeface="Calibri"/>
              </a:rPr>
              <a:t>this</a:t>
            </a:r>
            <a:r>
              <a:rPr sz="1800" spc="-25" dirty="0">
                <a:solidFill>
                  <a:srgbClr val="808080"/>
                </a:solidFill>
                <a:latin typeface="Calibri"/>
                <a:cs typeface="Calibri"/>
              </a:rPr>
              <a:t> </a:t>
            </a:r>
            <a:r>
              <a:rPr sz="1800" spc="-10" dirty="0">
                <a:solidFill>
                  <a:srgbClr val="808080"/>
                </a:solidFill>
                <a:latin typeface="Calibri"/>
                <a:cs typeface="Calibri"/>
              </a:rPr>
              <a:t>text&gt;</a:t>
            </a:r>
            <a:endParaRPr sz="1800">
              <a:latin typeface="Calibri"/>
              <a:cs typeface="Calibri"/>
            </a:endParaRPr>
          </a:p>
        </p:txBody>
      </p:sp>
      <p:sp>
        <p:nvSpPr>
          <p:cNvPr id="4" name="object 4"/>
          <p:cNvSpPr txBox="1"/>
          <p:nvPr/>
        </p:nvSpPr>
        <p:spPr>
          <a:xfrm>
            <a:off x="915416" y="1717294"/>
            <a:ext cx="73964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In</a:t>
            </a:r>
            <a:r>
              <a:rPr sz="1800" spc="-30" dirty="0">
                <a:latin typeface="Arial"/>
                <a:cs typeface="Arial"/>
              </a:rPr>
              <a:t> </a:t>
            </a:r>
            <a:r>
              <a:rPr sz="1800" dirty="0">
                <a:latin typeface="Arial"/>
                <a:cs typeface="Arial"/>
              </a:rPr>
              <a:t>the</a:t>
            </a:r>
            <a:r>
              <a:rPr sz="1800" spc="-25" dirty="0">
                <a:latin typeface="Arial"/>
                <a:cs typeface="Arial"/>
              </a:rPr>
              <a:t> </a:t>
            </a:r>
            <a:r>
              <a:rPr sz="1800" dirty="0">
                <a:latin typeface="Arial"/>
                <a:cs typeface="Arial"/>
              </a:rPr>
              <a:t>given</a:t>
            </a:r>
            <a:r>
              <a:rPr sz="1800" spc="-10" dirty="0">
                <a:latin typeface="Arial"/>
                <a:cs typeface="Arial"/>
              </a:rPr>
              <a:t> </a:t>
            </a:r>
            <a:r>
              <a:rPr sz="1800" dirty="0">
                <a:latin typeface="Arial"/>
                <a:cs typeface="Arial"/>
              </a:rPr>
              <a:t>equation,</a:t>
            </a:r>
            <a:r>
              <a:rPr sz="1800" spc="-5" dirty="0">
                <a:latin typeface="Arial"/>
                <a:cs typeface="Arial"/>
              </a:rPr>
              <a:t> </a:t>
            </a:r>
            <a:r>
              <a:rPr sz="1800" dirty="0">
                <a:latin typeface="Arial"/>
                <a:cs typeface="Arial"/>
              </a:rPr>
              <a:t>please</a:t>
            </a:r>
            <a:r>
              <a:rPr sz="1800" spc="-10" dirty="0">
                <a:latin typeface="Arial"/>
                <a:cs typeface="Arial"/>
              </a:rPr>
              <a:t> </a:t>
            </a:r>
            <a:r>
              <a:rPr sz="1800" dirty="0">
                <a:latin typeface="Arial"/>
                <a:cs typeface="Arial"/>
              </a:rPr>
              <a:t>define</a:t>
            </a:r>
            <a:r>
              <a:rPr sz="1800" spc="-15" dirty="0">
                <a:latin typeface="Arial"/>
                <a:cs typeface="Arial"/>
              </a:rPr>
              <a:t> </a:t>
            </a:r>
            <a:r>
              <a:rPr sz="1800" dirty="0">
                <a:latin typeface="Arial"/>
                <a:cs typeface="Arial"/>
              </a:rPr>
              <a:t>the</a:t>
            </a:r>
            <a:r>
              <a:rPr sz="1800" spc="-25" dirty="0">
                <a:latin typeface="Arial"/>
                <a:cs typeface="Arial"/>
              </a:rPr>
              <a:t> </a:t>
            </a:r>
            <a:r>
              <a:rPr sz="1800" dirty="0">
                <a:latin typeface="Arial"/>
                <a:cs typeface="Arial"/>
              </a:rPr>
              <a:t>variables</a:t>
            </a:r>
            <a:r>
              <a:rPr sz="1800" spc="5" dirty="0">
                <a:latin typeface="Arial"/>
                <a:cs typeface="Arial"/>
              </a:rPr>
              <a:t> </a:t>
            </a:r>
            <a:r>
              <a:rPr sz="1800" dirty="0">
                <a:latin typeface="Arial"/>
                <a:cs typeface="Arial"/>
              </a:rPr>
              <a:t>x,</a:t>
            </a:r>
            <a:r>
              <a:rPr sz="1800" spc="-15" dirty="0">
                <a:latin typeface="Arial"/>
                <a:cs typeface="Arial"/>
              </a:rPr>
              <a:t> </a:t>
            </a:r>
            <a:r>
              <a:rPr sz="1800" dirty="0">
                <a:latin typeface="Arial"/>
                <a:cs typeface="Arial"/>
              </a:rPr>
              <a:t>a,</a:t>
            </a:r>
            <a:r>
              <a:rPr sz="1800" spc="-15" dirty="0">
                <a:latin typeface="Arial"/>
                <a:cs typeface="Arial"/>
              </a:rPr>
              <a:t> </a:t>
            </a:r>
            <a:r>
              <a:rPr sz="1800" dirty="0">
                <a:latin typeface="Arial"/>
                <a:cs typeface="Arial"/>
              </a:rPr>
              <a:t>x',</a:t>
            </a:r>
            <a:r>
              <a:rPr sz="1800" spc="-20" dirty="0">
                <a:latin typeface="Arial"/>
                <a:cs typeface="Arial"/>
              </a:rPr>
              <a:t> </a:t>
            </a:r>
            <a:r>
              <a:rPr sz="1800" dirty="0">
                <a:latin typeface="Arial"/>
                <a:cs typeface="Arial"/>
              </a:rPr>
              <a:t>γ,</a:t>
            </a:r>
            <a:r>
              <a:rPr sz="1800" spc="-10" dirty="0">
                <a:latin typeface="Arial"/>
                <a:cs typeface="Arial"/>
              </a:rPr>
              <a:t> </a:t>
            </a:r>
            <a:r>
              <a:rPr sz="1800" dirty="0">
                <a:latin typeface="Arial"/>
                <a:cs typeface="Arial"/>
              </a:rPr>
              <a:t>V*,</a:t>
            </a:r>
            <a:r>
              <a:rPr sz="1800" spc="-30" dirty="0">
                <a:latin typeface="Arial"/>
                <a:cs typeface="Arial"/>
              </a:rPr>
              <a:t> </a:t>
            </a:r>
            <a:r>
              <a:rPr sz="1800" dirty="0">
                <a:latin typeface="Arial"/>
                <a:cs typeface="Arial"/>
              </a:rPr>
              <a:t>P,</a:t>
            </a:r>
            <a:r>
              <a:rPr sz="1800" spc="-10" dirty="0">
                <a:latin typeface="Arial"/>
                <a:cs typeface="Arial"/>
              </a:rPr>
              <a:t> </a:t>
            </a:r>
            <a:r>
              <a:rPr sz="1800" dirty="0">
                <a:latin typeface="Arial"/>
                <a:cs typeface="Arial"/>
              </a:rPr>
              <a:t>and </a:t>
            </a:r>
            <a:r>
              <a:rPr sz="1800" spc="-25" dirty="0">
                <a:latin typeface="Arial"/>
                <a:cs typeface="Arial"/>
              </a:rPr>
              <a:t>R̅.</a:t>
            </a:r>
            <a:endParaRPr sz="1800">
              <a:latin typeface="Arial"/>
              <a:cs typeface="Arial"/>
            </a:endParaRPr>
          </a:p>
        </p:txBody>
      </p:sp>
      <p:pic>
        <p:nvPicPr>
          <p:cNvPr id="5" name="object 5"/>
          <p:cNvPicPr/>
          <p:nvPr/>
        </p:nvPicPr>
        <p:blipFill>
          <a:blip r:embed="rId2" cstate="print"/>
          <a:stretch>
            <a:fillRect/>
          </a:stretch>
        </p:blipFill>
        <p:spPr>
          <a:xfrm>
            <a:off x="3667690" y="2330576"/>
            <a:ext cx="4936498" cy="54330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7.</a:t>
            </a:r>
            <a:r>
              <a:rPr spc="-5" dirty="0"/>
              <a:t> </a:t>
            </a:r>
            <a:r>
              <a:rPr spc="-10" dirty="0"/>
              <a:t>Feedback</a:t>
            </a:r>
          </a:p>
        </p:txBody>
      </p:sp>
      <p:sp>
        <p:nvSpPr>
          <p:cNvPr id="3" name="object 3"/>
          <p:cNvSpPr txBox="1"/>
          <p:nvPr/>
        </p:nvSpPr>
        <p:spPr>
          <a:xfrm>
            <a:off x="915416" y="1708530"/>
            <a:ext cx="9646285" cy="1089660"/>
          </a:xfrm>
          <a:prstGeom prst="rect">
            <a:avLst/>
          </a:prstGeom>
        </p:spPr>
        <p:txBody>
          <a:bodyPr vert="horz" wrap="square" lIns="0" tIns="9525" rIns="0" bIns="0" rtlCol="0">
            <a:spAutoFit/>
          </a:bodyPr>
          <a:lstStyle/>
          <a:p>
            <a:pPr marL="12700" marR="5080">
              <a:lnSpc>
                <a:spcPct val="101099"/>
              </a:lnSpc>
              <a:spcBef>
                <a:spcPts val="75"/>
              </a:spcBef>
            </a:pPr>
            <a:r>
              <a:rPr sz="1800" dirty="0">
                <a:latin typeface="Calibri"/>
                <a:cs typeface="Calibri"/>
              </a:rPr>
              <a:t>Please</a:t>
            </a:r>
            <a:r>
              <a:rPr sz="1800" spc="-55" dirty="0">
                <a:latin typeface="Calibri"/>
                <a:cs typeface="Calibri"/>
              </a:rPr>
              <a:t> </a:t>
            </a:r>
            <a:r>
              <a:rPr sz="1800" dirty="0">
                <a:latin typeface="Calibri"/>
                <a:cs typeface="Calibri"/>
              </a:rPr>
              <a:t>provide</a:t>
            </a:r>
            <a:r>
              <a:rPr sz="1800" spc="-35" dirty="0">
                <a:latin typeface="Calibri"/>
                <a:cs typeface="Calibri"/>
              </a:rPr>
              <a:t> </a:t>
            </a:r>
            <a:r>
              <a:rPr sz="1800" dirty="0">
                <a:latin typeface="Calibri"/>
                <a:cs typeface="Calibri"/>
              </a:rPr>
              <a:t>feedback</a:t>
            </a:r>
            <a:r>
              <a:rPr sz="1800" spc="-50" dirty="0">
                <a:latin typeface="Calibri"/>
                <a:cs typeface="Calibri"/>
              </a:rPr>
              <a:t> </a:t>
            </a:r>
            <a:r>
              <a:rPr sz="1800" dirty="0">
                <a:latin typeface="Calibri"/>
                <a:cs typeface="Calibri"/>
              </a:rPr>
              <a:t>on</a:t>
            </a:r>
            <a:r>
              <a:rPr sz="1800" spc="-50"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coding portion of the project (including the Webots visualization).</a:t>
            </a:r>
            <a:r>
              <a:rPr sz="1800" spc="-55" dirty="0">
                <a:latin typeface="Calibri"/>
                <a:cs typeface="Calibri"/>
              </a:rPr>
              <a:t> </a:t>
            </a:r>
            <a:r>
              <a:rPr sz="1800" dirty="0">
                <a:latin typeface="Calibri"/>
                <a:cs typeface="Calibri"/>
              </a:rPr>
              <a:t>How</a:t>
            </a:r>
            <a:r>
              <a:rPr sz="1800" spc="-45" dirty="0">
                <a:latin typeface="Calibri"/>
                <a:cs typeface="Calibri"/>
              </a:rPr>
              <a:t> </a:t>
            </a:r>
            <a:r>
              <a:rPr sz="1800" dirty="0">
                <a:latin typeface="Calibri"/>
                <a:cs typeface="Calibri"/>
              </a:rPr>
              <a:t>did</a:t>
            </a:r>
            <a:r>
              <a:rPr sz="1800" spc="-35" dirty="0">
                <a:latin typeface="Calibri"/>
                <a:cs typeface="Calibri"/>
              </a:rPr>
              <a:t> </a:t>
            </a:r>
            <a:r>
              <a:rPr sz="1800" dirty="0">
                <a:latin typeface="Calibri"/>
                <a:cs typeface="Calibri"/>
              </a:rPr>
              <a:t>it</a:t>
            </a:r>
            <a:r>
              <a:rPr sz="1800" spc="-40" dirty="0">
                <a:latin typeface="Calibri"/>
                <a:cs typeface="Calibri"/>
              </a:rPr>
              <a:t> </a:t>
            </a:r>
            <a:r>
              <a:rPr sz="1800" dirty="0">
                <a:latin typeface="Calibri"/>
                <a:cs typeface="Calibri"/>
              </a:rPr>
              <a:t>help</a:t>
            </a:r>
            <a:r>
              <a:rPr sz="1800" spc="-50" dirty="0">
                <a:latin typeface="Calibri"/>
                <a:cs typeface="Calibri"/>
              </a:rPr>
              <a:t> </a:t>
            </a:r>
            <a:r>
              <a:rPr sz="1800" dirty="0">
                <a:latin typeface="Calibri"/>
                <a:cs typeface="Calibri"/>
              </a:rPr>
              <a:t>your</a:t>
            </a:r>
            <a:r>
              <a:rPr sz="1800" spc="-40" dirty="0">
                <a:latin typeface="Calibri"/>
                <a:cs typeface="Calibri"/>
              </a:rPr>
              <a:t> </a:t>
            </a:r>
            <a:r>
              <a:rPr sz="1800" spc="-10" dirty="0">
                <a:latin typeface="Calibri"/>
                <a:cs typeface="Calibri"/>
              </a:rPr>
              <a:t>understanding</a:t>
            </a:r>
            <a:r>
              <a:rPr sz="1800" spc="-40" dirty="0">
                <a:latin typeface="Calibri"/>
                <a:cs typeface="Calibri"/>
              </a:rPr>
              <a:t> </a:t>
            </a:r>
            <a:r>
              <a:rPr sz="1800" dirty="0">
                <a:latin typeface="Calibri"/>
                <a:cs typeface="Calibri"/>
              </a:rPr>
              <a:t>of</a:t>
            </a:r>
            <a:r>
              <a:rPr sz="1800" spc="-50" dirty="0">
                <a:latin typeface="Calibri"/>
                <a:cs typeface="Calibri"/>
              </a:rPr>
              <a:t> </a:t>
            </a:r>
            <a:r>
              <a:rPr sz="1800" spc="-25" dirty="0">
                <a:latin typeface="Calibri"/>
                <a:cs typeface="Calibri"/>
              </a:rPr>
              <a:t>the </a:t>
            </a:r>
            <a:r>
              <a:rPr sz="1800" spc="-10" dirty="0">
                <a:latin typeface="Calibri"/>
                <a:cs typeface="Calibri"/>
              </a:rPr>
              <a:t>material?</a:t>
            </a:r>
            <a:r>
              <a:rPr sz="1800" spc="-50" dirty="0">
                <a:latin typeface="Calibri"/>
                <a:cs typeface="Calibri"/>
              </a:rPr>
              <a:t> </a:t>
            </a:r>
            <a:r>
              <a:rPr sz="1800" dirty="0">
                <a:latin typeface="Calibri"/>
                <a:cs typeface="Calibri"/>
              </a:rPr>
              <a:t>Is</a:t>
            </a:r>
            <a:r>
              <a:rPr sz="1800" spc="-55" dirty="0">
                <a:latin typeface="Calibri"/>
                <a:cs typeface="Calibri"/>
              </a:rPr>
              <a:t> </a:t>
            </a:r>
            <a:r>
              <a:rPr sz="1800" dirty="0">
                <a:latin typeface="Calibri"/>
                <a:cs typeface="Calibri"/>
              </a:rPr>
              <a:t>there</a:t>
            </a:r>
            <a:r>
              <a:rPr sz="1800" spc="-40" dirty="0">
                <a:latin typeface="Calibri"/>
                <a:cs typeface="Calibri"/>
              </a:rPr>
              <a:t> </a:t>
            </a:r>
            <a:r>
              <a:rPr sz="1800" dirty="0">
                <a:latin typeface="Calibri"/>
                <a:cs typeface="Calibri"/>
              </a:rPr>
              <a:t>anything</a:t>
            </a:r>
            <a:r>
              <a:rPr sz="1800" spc="-40" dirty="0">
                <a:latin typeface="Calibri"/>
                <a:cs typeface="Calibri"/>
              </a:rPr>
              <a:t> </a:t>
            </a:r>
            <a:r>
              <a:rPr sz="1800" dirty="0">
                <a:latin typeface="Calibri"/>
                <a:cs typeface="Calibri"/>
              </a:rPr>
              <a:t>that</a:t>
            </a:r>
            <a:r>
              <a:rPr sz="1800" spc="-55" dirty="0">
                <a:latin typeface="Calibri"/>
                <a:cs typeface="Calibri"/>
              </a:rPr>
              <a:t> </a:t>
            </a:r>
            <a:r>
              <a:rPr sz="1800" dirty="0">
                <a:latin typeface="Calibri"/>
                <a:cs typeface="Calibri"/>
              </a:rPr>
              <a:t>you</a:t>
            </a:r>
            <a:r>
              <a:rPr sz="1800" spc="-35" dirty="0">
                <a:latin typeface="Calibri"/>
                <a:cs typeface="Calibri"/>
              </a:rPr>
              <a:t> </a:t>
            </a:r>
            <a:r>
              <a:rPr sz="1800" dirty="0">
                <a:latin typeface="Calibri"/>
                <a:cs typeface="Calibri"/>
              </a:rPr>
              <a:t>think</a:t>
            </a:r>
            <a:r>
              <a:rPr sz="1800" spc="-45" dirty="0">
                <a:latin typeface="Calibri"/>
                <a:cs typeface="Calibri"/>
              </a:rPr>
              <a:t> </a:t>
            </a:r>
            <a:r>
              <a:rPr sz="1800" dirty="0">
                <a:latin typeface="Calibri"/>
                <a:cs typeface="Calibri"/>
              </a:rPr>
              <a:t>could</a:t>
            </a:r>
            <a:r>
              <a:rPr sz="1800" spc="-35" dirty="0">
                <a:latin typeface="Calibri"/>
                <a:cs typeface="Calibri"/>
              </a:rPr>
              <a:t> </a:t>
            </a:r>
            <a:r>
              <a:rPr sz="1800" dirty="0">
                <a:latin typeface="Calibri"/>
                <a:cs typeface="Calibri"/>
              </a:rPr>
              <a:t>have</a:t>
            </a:r>
            <a:r>
              <a:rPr sz="1800" spc="-50" dirty="0">
                <a:latin typeface="Calibri"/>
                <a:cs typeface="Calibri"/>
              </a:rPr>
              <a:t> </a:t>
            </a:r>
            <a:r>
              <a:rPr sz="1800" dirty="0">
                <a:latin typeface="Calibri"/>
                <a:cs typeface="Calibri"/>
              </a:rPr>
              <a:t>been</a:t>
            </a:r>
            <a:r>
              <a:rPr sz="1800" spc="-45" dirty="0">
                <a:latin typeface="Calibri"/>
                <a:cs typeface="Calibri"/>
              </a:rPr>
              <a:t> </a:t>
            </a:r>
            <a:r>
              <a:rPr sz="1800" dirty="0">
                <a:latin typeface="Calibri"/>
                <a:cs typeface="Calibri"/>
              </a:rPr>
              <a:t>made</a:t>
            </a:r>
            <a:r>
              <a:rPr sz="1800" spc="-45" dirty="0">
                <a:latin typeface="Calibri"/>
                <a:cs typeface="Calibri"/>
              </a:rPr>
              <a:t> </a:t>
            </a:r>
            <a:r>
              <a:rPr sz="1800" dirty="0">
                <a:latin typeface="Calibri"/>
                <a:cs typeface="Calibri"/>
              </a:rPr>
              <a:t>more</a:t>
            </a:r>
            <a:r>
              <a:rPr sz="1800" spc="-40" dirty="0">
                <a:latin typeface="Calibri"/>
                <a:cs typeface="Calibri"/>
              </a:rPr>
              <a:t> </a:t>
            </a:r>
            <a:r>
              <a:rPr sz="1800" spc="-10" dirty="0">
                <a:latin typeface="Calibri"/>
                <a:cs typeface="Calibri"/>
              </a:rPr>
              <a:t>clear?</a:t>
            </a:r>
            <a:endParaRPr sz="1800">
              <a:latin typeface="Calibri"/>
              <a:cs typeface="Calibri"/>
            </a:endParaRPr>
          </a:p>
          <a:p>
            <a:pPr marL="13970">
              <a:lnSpc>
                <a:spcPct val="100000"/>
              </a:lnSpc>
              <a:spcBef>
                <a:spcPts val="1870"/>
              </a:spcBef>
            </a:pPr>
            <a:r>
              <a:rPr sz="1800" dirty="0">
                <a:solidFill>
                  <a:srgbClr val="808080"/>
                </a:solidFill>
                <a:latin typeface="Calibri"/>
                <a:cs typeface="Calibri"/>
              </a:rPr>
              <a:t>&lt;Put</a:t>
            </a:r>
            <a:r>
              <a:rPr sz="1800" spc="-30" dirty="0">
                <a:solidFill>
                  <a:srgbClr val="808080"/>
                </a:solidFill>
                <a:latin typeface="Calibri"/>
                <a:cs typeface="Calibri"/>
              </a:rPr>
              <a:t> </a:t>
            </a:r>
            <a:r>
              <a:rPr sz="1800" dirty="0">
                <a:solidFill>
                  <a:srgbClr val="808080"/>
                </a:solidFill>
                <a:latin typeface="Calibri"/>
                <a:cs typeface="Calibri"/>
              </a:rPr>
              <a:t>your</a:t>
            </a:r>
            <a:r>
              <a:rPr sz="1800" spc="-25" dirty="0">
                <a:solidFill>
                  <a:srgbClr val="808080"/>
                </a:solidFill>
                <a:latin typeface="Calibri"/>
                <a:cs typeface="Calibri"/>
              </a:rPr>
              <a:t> </a:t>
            </a:r>
            <a:r>
              <a:rPr sz="1800" dirty="0">
                <a:solidFill>
                  <a:srgbClr val="808080"/>
                </a:solidFill>
                <a:latin typeface="Calibri"/>
                <a:cs typeface="Calibri"/>
              </a:rPr>
              <a:t>answer</a:t>
            </a:r>
            <a:r>
              <a:rPr sz="1800" spc="-45" dirty="0">
                <a:solidFill>
                  <a:srgbClr val="808080"/>
                </a:solidFill>
                <a:latin typeface="Calibri"/>
                <a:cs typeface="Calibri"/>
              </a:rPr>
              <a:t> </a:t>
            </a:r>
            <a:r>
              <a:rPr sz="1800" dirty="0">
                <a:solidFill>
                  <a:srgbClr val="808080"/>
                </a:solidFill>
                <a:latin typeface="Calibri"/>
                <a:cs typeface="Calibri"/>
              </a:rPr>
              <a:t>in</a:t>
            </a:r>
            <a:r>
              <a:rPr sz="1800" spc="-20" dirty="0">
                <a:solidFill>
                  <a:srgbClr val="808080"/>
                </a:solidFill>
                <a:latin typeface="Calibri"/>
                <a:cs typeface="Calibri"/>
              </a:rPr>
              <a:t> </a:t>
            </a:r>
            <a:r>
              <a:rPr sz="1800" dirty="0">
                <a:solidFill>
                  <a:srgbClr val="808080"/>
                </a:solidFill>
                <a:latin typeface="Calibri"/>
                <a:cs typeface="Calibri"/>
              </a:rPr>
              <a:t>this</a:t>
            </a:r>
            <a:r>
              <a:rPr sz="1800" spc="-30" dirty="0">
                <a:solidFill>
                  <a:srgbClr val="808080"/>
                </a:solidFill>
                <a:latin typeface="Calibri"/>
                <a:cs typeface="Calibri"/>
              </a:rPr>
              <a:t> </a:t>
            </a:r>
            <a:r>
              <a:rPr sz="1800" spc="-10" dirty="0">
                <a:solidFill>
                  <a:srgbClr val="808080"/>
                </a:solidFill>
                <a:latin typeface="Calibri"/>
                <a:cs typeface="Calibri"/>
              </a:rPr>
              <a:t>textbox,</a:t>
            </a:r>
            <a:r>
              <a:rPr sz="1800" spc="-40" dirty="0">
                <a:solidFill>
                  <a:srgbClr val="808080"/>
                </a:solidFill>
                <a:latin typeface="Calibri"/>
                <a:cs typeface="Calibri"/>
              </a:rPr>
              <a:t> </a:t>
            </a:r>
            <a:r>
              <a:rPr sz="1800" dirty="0">
                <a:solidFill>
                  <a:srgbClr val="808080"/>
                </a:solidFill>
                <a:latin typeface="Calibri"/>
                <a:cs typeface="Calibri"/>
              </a:rPr>
              <a:t>replace</a:t>
            </a:r>
            <a:r>
              <a:rPr sz="1800" spc="-20" dirty="0">
                <a:solidFill>
                  <a:srgbClr val="808080"/>
                </a:solidFill>
                <a:latin typeface="Calibri"/>
                <a:cs typeface="Calibri"/>
              </a:rPr>
              <a:t> </a:t>
            </a:r>
            <a:r>
              <a:rPr sz="1800" dirty="0">
                <a:solidFill>
                  <a:srgbClr val="808080"/>
                </a:solidFill>
                <a:latin typeface="Calibri"/>
                <a:cs typeface="Calibri"/>
              </a:rPr>
              <a:t>this</a:t>
            </a:r>
            <a:r>
              <a:rPr sz="1800" spc="-40" dirty="0">
                <a:solidFill>
                  <a:srgbClr val="808080"/>
                </a:solidFill>
                <a:latin typeface="Calibri"/>
                <a:cs typeface="Calibri"/>
              </a:rPr>
              <a:t> </a:t>
            </a:r>
            <a:r>
              <a:rPr sz="1800" spc="-10" dirty="0">
                <a:solidFill>
                  <a:srgbClr val="808080"/>
                </a:solidFill>
                <a:latin typeface="Calibri"/>
                <a:cs typeface="Calibri"/>
              </a:rPr>
              <a:t>text&gt;</a:t>
            </a:r>
            <a:endParaRPr sz="1800">
              <a:latin typeface="Calibri"/>
              <a:cs typeface="Calibri"/>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3.1b</a:t>
            </a:r>
            <a:r>
              <a:rPr b="0" dirty="0">
                <a:latin typeface="Calibri"/>
                <a:cs typeface="Calibri"/>
              </a:rPr>
              <a:t> Light sensor in Webots [2 pts]</a:t>
            </a:r>
          </a:p>
        </p:txBody>
      </p:sp>
      <p:sp>
        <p:nvSpPr>
          <p:cNvPr id="3" name="object 3"/>
          <p:cNvSpPr txBox="1"/>
          <p:nvPr/>
        </p:nvSpPr>
        <p:spPr>
          <a:xfrm>
            <a:off x="915416" y="1717294"/>
            <a:ext cx="10320655" cy="2098040"/>
          </a:xfrm>
          <a:prstGeom prst="rect">
            <a:avLst/>
          </a:prstGeom>
        </p:spPr>
        <p:txBody>
          <a:bodyPr bIns="0" lIns="0" rIns="0" rtlCol="0" tIns="12700" vert="horz" wrap="square">
            <a:spAutoFit/>
          </a:bodyPr>
          <a:lstStyle/>
          <a:p>
            <a:pPr marL="12700">
              <a:lnSpc>
                <a:spcPct val="100000"/>
              </a:lnSpc>
              <a:spcBef>
                <a:spcPts val="100"/>
              </a:spcBef>
            </a:pPr>
            <a:r>
              <a:rPr sz="1800" dirty="0">
                <a:latin typeface="Arial"/>
                <a:cs typeface="Arial"/>
              </a:rPr>
              <a:t>In Webots press L for LIGHT mode, then press 9 and later 3 to park the robot in the stairs area and the kitchen. For each room copy 10 consecutive [LIGHT] console lines and tally how often dark, medium and light occurred. Compare your two tallies with the room-9 and room-3 columns of sensor_spec. Which of the two (the sensor_spec column, your tally) is a frequentist quantity, and which is the modeling assumption a Bayesian uses as P(Z|X)? Include one screenshot with the robot in room 9 and the HUD visible.</a:t>
            </a:r>
            <a:endParaRPr sz="1800">
              <a:latin typeface="Arial"/>
              <a:cs typeface="Arial"/>
            </a:endParaRPr>
          </a:p>
          <a:p>
            <a:pPr marL="13970">
              <a:lnSpc>
                <a:spcPct val="100000"/>
              </a:lnSpc>
              <a:spcBef>
                <a:spcPts val="1215"/>
              </a:spcBef>
            </a:pPr>
            <a:r>
              <a:rPr sz="1800" dirty="0">
                <a:solidFill>
                  <a:srgbClr val="808080"/>
                </a:solidFill>
                <a:latin typeface="Calibri"/>
                <a:cs typeface="Calibri"/>
              </a:rPr>
              <a:t>&lt;Put your answer in this textbox, replace this text&gt;</a:t>
            </a:r>
            <a:endParaRPr sz="1800">
              <a:latin typeface="Calibri"/>
              <a:cs typeface="Calibri"/>
            </a:endParaRPr>
          </a:p>
        </p:txBody>
      </p:sp>
      <p:sp>
        <p:nvSpPr>
          <p:cNvPr id="4" name="object 4"/>
          <p:cNvSpPr/>
          <p:nvPr/>
        </p:nvSpPr>
        <p:spPr>
          <a:xfrm>
            <a:off x="915416" y="4069080"/>
            <a:ext cx="5943600" cy="2468880"/>
          </a:xfrm>
          <a:prstGeom prst="rect">
            <a:avLst/>
          </a:prstGeom>
          <a:noFill/>
          <a:ln w="19050">
            <a:solidFill>
              <a:srgbClr val="808080"/>
            </a:solidFill>
            <a:prstDash val="dash"/>
          </a:ln>
        </p:spPr>
        <p:txBody>
          <a:bodyPr vert="horz" wrap="square" lIns="91440" tIns="45720" rIns="91440" bIns="45720" rtlCol="0" anchor="ctr"/>
          <a:lstStyle/>
          <a:p>
            <a:pPr algn="ctr"/>
            <a:r>
              <a:rPr sz="1800" dirty="0">
                <a:solidFill>
                  <a:srgbClr val="808080"/>
                </a:solidFill>
                <a:latin typeface="Calibri"/>
                <a:cs typeface="Calibri"/>
              </a:rPr>
              <a:t>Paste screenshot here</a:t>
            </a:r>
          </a:p>
        </p:txBody>
      </p:sp>
      <p:sp>
        <p:nvSpPr>
          <p:cNvPr id="5" name="object 5"/>
          <p:cNvSpPr/>
          <p:nvPr/>
        </p:nvSpPr>
        <p:spPr>
          <a:xfrm>
            <a:off x="7087616" y="4069080"/>
            <a:ext cx="4148455" cy="2468880"/>
          </a:xfrm>
          <a:prstGeom prst="rect">
            <a:avLst/>
          </a:prstGeom>
          <a:noFill/>
          <a:ln w="19050">
            <a:solidFill>
              <a:srgbClr val="808080"/>
            </a:solidFill>
            <a:prstDash val="dash"/>
          </a:ln>
        </p:spPr>
        <p:txBody>
          <a:bodyPr vert="horz" wrap="square" lIns="91440" tIns="45720" rIns="91440" bIns="45720" rtlCol="0" anchor="ctr"/>
          <a:lstStyle/>
          <a:p>
            <a:pPr algn="ctr"/>
            <a:r>
              <a:rPr sz="1800" dirty="0">
                <a:solidFill>
                  <a:srgbClr val="808080"/>
                </a:solidFill>
                <a:latin typeface="Calibri"/>
                <a:cs typeface="Calibri"/>
              </a:rPr>
              <a:t>Paste console lines here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3.2b</a:t>
            </a:r>
            <a:r>
              <a:rPr b="0" dirty="0">
                <a:latin typeface="Calibri"/>
                <a:cs typeface="Calibri"/>
              </a:rPr>
              <a:t> Control tape in Webots [2 pts]</a:t>
            </a:r>
          </a:p>
        </p:txBody>
      </p:sp>
      <p:sp>
        <p:nvSpPr>
          <p:cNvPr id="3" name="object 3"/>
          <p:cNvSpPr txBox="1"/>
          <p:nvPr/>
        </p:nvSpPr>
        <p:spPr>
          <a:xfrm>
            <a:off x="915416" y="1717294"/>
            <a:ext cx="10320655" cy="1823719"/>
          </a:xfrm>
          <a:prstGeom prst="rect">
            <a:avLst/>
          </a:prstGeom>
        </p:spPr>
        <p:txBody>
          <a:bodyPr bIns="0" lIns="0" rIns="0" rtlCol="0" tIns="12700" vert="horz" wrap="square">
            <a:spAutoFit/>
          </a:bodyPr>
          <a:lstStyle/>
          <a:p>
            <a:pPr marL="12700">
              <a:lnSpc>
                <a:spcPct val="100000"/>
              </a:lnSpc>
              <a:spcBef>
                <a:spcPts val="100"/>
              </a:spcBef>
            </a:pPr>
            <a:r>
              <a:rPr sz="1800" dirty="0">
                <a:latin typeface="Arial"/>
                <a:cs typeface="Arial"/>
              </a:rPr>
              <a:t>Press T for TAPE mode and watch the run until the TAPE DONE line appears in the console. Then press T again for a second run, and once that one is done, T a third time: each new run of a mode uses the next seed (3630, 3631, 3632), shown on the HUD and in the TAPE DONE line. Report the seed and final room for each of the three runs. Include one screenshot of a run that did NOT end in the kitchen. Using your histogram from 3.2, explain how surprising each of your three final rooms is.</a:t>
            </a:r>
            <a:endParaRPr sz="1800">
              <a:latin typeface="Arial"/>
              <a:cs typeface="Arial"/>
            </a:endParaRPr>
          </a:p>
          <a:p>
            <a:pPr marL="13970">
              <a:lnSpc>
                <a:spcPct val="100000"/>
              </a:lnSpc>
              <a:spcBef>
                <a:spcPts val="1215"/>
              </a:spcBef>
            </a:pPr>
            <a:r>
              <a:rPr sz="1800" dirty="0">
                <a:solidFill>
                  <a:srgbClr val="808080"/>
                </a:solidFill>
                <a:latin typeface="Calibri"/>
                <a:cs typeface="Calibri"/>
              </a:rPr>
              <a:t>&lt;Put your answer in this textbox, replace this text&gt;</a:t>
            </a:r>
            <a:endParaRPr sz="1800">
              <a:latin typeface="Calibri"/>
              <a:cs typeface="Calibri"/>
            </a:endParaRPr>
          </a:p>
        </p:txBody>
      </p:sp>
      <p:sp>
        <p:nvSpPr>
          <p:cNvPr id="4" name="object 4"/>
          <p:cNvSpPr/>
          <p:nvPr/>
        </p:nvSpPr>
        <p:spPr>
          <a:xfrm>
            <a:off x="915416" y="4069080"/>
            <a:ext cx="5943600" cy="2468880"/>
          </a:xfrm>
          <a:prstGeom prst="rect">
            <a:avLst/>
          </a:prstGeom>
          <a:noFill/>
          <a:ln w="19050">
            <a:solidFill>
              <a:srgbClr val="808080"/>
            </a:solidFill>
            <a:prstDash val="dash"/>
          </a:ln>
        </p:spPr>
        <p:txBody>
          <a:bodyPr vert="horz" wrap="square" lIns="91440" tIns="45720" rIns="91440" bIns="45720" rtlCol="0" anchor="ctr"/>
          <a:lstStyle/>
          <a:p>
            <a:pPr algn="ctr"/>
            <a:r>
              <a:rPr sz="1800" dirty="0">
                <a:solidFill>
                  <a:srgbClr val="808080"/>
                </a:solidFill>
                <a:latin typeface="Calibri"/>
                <a:cs typeface="Calibri"/>
              </a:rPr>
              <a:t>Paste screenshot 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4.4</a:t>
            </a:r>
            <a:r>
              <a:rPr b="0" dirty="0">
                <a:latin typeface="Calibri"/>
                <a:cs typeface="Calibri"/>
              </a:rPr>
              <a:t> Perception in Webots [3 pts]</a:t>
            </a:r>
          </a:p>
        </p:txBody>
      </p:sp>
      <p:sp>
        <p:nvSpPr>
          <p:cNvPr id="3" name="object 3"/>
          <p:cNvSpPr txBox="1"/>
          <p:nvPr/>
        </p:nvSpPr>
        <p:spPr>
          <a:xfrm>
            <a:off x="915416" y="1717294"/>
            <a:ext cx="10320655" cy="1823719"/>
          </a:xfrm>
          <a:prstGeom prst="rect">
            <a:avLst/>
          </a:prstGeom>
        </p:spPr>
        <p:txBody>
          <a:bodyPr bIns="0" lIns="0" rIns="0" rtlCol="0" tIns="12700" vert="horz" wrap="square">
            <a:spAutoFit/>
          </a:bodyPr>
          <a:lstStyle/>
          <a:p>
            <a:pPr marL="12700">
              <a:lnSpc>
                <a:spcPct val="100000"/>
              </a:lnSpc>
              <a:spcBef>
                <a:spcPts val="100"/>
              </a:spcBef>
            </a:pPr>
            <a:r>
              <a:rPr sz="1800" dirty="0">
                <a:latin typeface="Arial"/>
                <a:cs typeface="Arial"/>
              </a:rPr>
              <a:t>Press M for MPE mode. Paste the MPE RESULT table from the console (step, action, light reading, true room, inferred room) and a screenshot of the final HUD. How many of the 8 rooms did GTSAM_MPE recover? Pick one step where the inferred room differs from the true room (or, if all match, the step with the least informative light reading) and explain, citing the relevant sensor_spec and prob_spec entries, why MPE chose that room.</a:t>
            </a:r>
            <a:endParaRPr sz="1800">
              <a:latin typeface="Arial"/>
              <a:cs typeface="Arial"/>
            </a:endParaRPr>
          </a:p>
          <a:p>
            <a:pPr marL="13970">
              <a:lnSpc>
                <a:spcPct val="100000"/>
              </a:lnSpc>
              <a:spcBef>
                <a:spcPts val="1215"/>
              </a:spcBef>
            </a:pPr>
            <a:r>
              <a:rPr sz="1800" dirty="0">
                <a:solidFill>
                  <a:srgbClr val="808080"/>
                </a:solidFill>
                <a:latin typeface="Calibri"/>
                <a:cs typeface="Calibri"/>
              </a:rPr>
              <a:t>&lt;Put your answer in this textbox, replace this text&gt;</a:t>
            </a:r>
            <a:endParaRPr sz="1800">
              <a:latin typeface="Calibri"/>
              <a:cs typeface="Calibri"/>
            </a:endParaRPr>
          </a:p>
        </p:txBody>
      </p:sp>
      <p:sp>
        <p:nvSpPr>
          <p:cNvPr id="4" name="object 4"/>
          <p:cNvSpPr/>
          <p:nvPr/>
        </p:nvSpPr>
        <p:spPr>
          <a:xfrm>
            <a:off x="915416" y="4069080"/>
            <a:ext cx="5943600" cy="2468880"/>
          </a:xfrm>
          <a:prstGeom prst="rect">
            <a:avLst/>
          </a:prstGeom>
          <a:noFill/>
          <a:ln w="19050">
            <a:solidFill>
              <a:srgbClr val="808080"/>
            </a:solidFill>
            <a:prstDash val="dash"/>
          </a:ln>
        </p:spPr>
        <p:txBody>
          <a:bodyPr vert="horz" wrap="square" lIns="91440" tIns="45720" rIns="91440" bIns="45720" rtlCol="0" anchor="ctr"/>
          <a:lstStyle/>
          <a:p>
            <a:pPr algn="ctr"/>
            <a:r>
              <a:rPr sz="1800" dirty="0">
                <a:solidFill>
                  <a:srgbClr val="808080"/>
                </a:solidFill>
                <a:latin typeface="Calibri"/>
                <a:cs typeface="Calibri"/>
              </a:rPr>
              <a:t>Paste screenshot here</a:t>
            </a:r>
          </a:p>
        </p:txBody>
      </p:sp>
      <p:sp>
        <p:nvSpPr>
          <p:cNvPr id="5" name="object 5"/>
          <p:cNvSpPr/>
          <p:nvPr/>
        </p:nvSpPr>
        <p:spPr>
          <a:xfrm>
            <a:off x="7087616" y="4069080"/>
            <a:ext cx="4148455" cy="2468880"/>
          </a:xfrm>
          <a:prstGeom prst="rect">
            <a:avLst/>
          </a:prstGeom>
          <a:noFill/>
          <a:ln w="19050">
            <a:solidFill>
              <a:srgbClr val="808080"/>
            </a:solidFill>
            <a:prstDash val="dash"/>
          </a:ln>
        </p:spPr>
        <p:txBody>
          <a:bodyPr vert="horz" wrap="square" lIns="91440" tIns="45720" rIns="91440" bIns="45720" rtlCol="0" anchor="ctr"/>
          <a:lstStyle/>
          <a:p>
            <a:pPr algn="ctr"/>
            <a:r>
              <a:rPr sz="1800" dirty="0">
                <a:solidFill>
                  <a:srgbClr val="808080"/>
                </a:solidFill>
                <a:latin typeface="Calibri"/>
                <a:cs typeface="Calibri"/>
              </a:rPr>
              <a:t>Paste console lines 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5.3b</a:t>
            </a:r>
            <a:r>
              <a:rPr dirty="0"/>
              <a:t> Policy rollout in Webots [3 pts]</a:t>
            </a:r>
          </a:p>
        </p:txBody>
      </p:sp>
      <p:sp>
        <p:nvSpPr>
          <p:cNvPr id="3" name="object 3"/>
          <p:cNvSpPr txBox="1"/>
          <p:nvPr/>
        </p:nvSpPr>
        <p:spPr>
          <a:xfrm>
            <a:off x="915416" y="1717294"/>
            <a:ext cx="10320655" cy="2920999"/>
          </a:xfrm>
          <a:prstGeom prst="rect">
            <a:avLst/>
          </a:prstGeom>
        </p:spPr>
        <p:txBody>
          <a:bodyPr bIns="0" lIns="0" rIns="0" rtlCol="0" tIns="12700" vert="horz" wrap="square">
            <a:spAutoFit/>
          </a:bodyPr>
          <a:lstStyle/>
          <a:p>
            <a:pPr marL="12700">
              <a:lnSpc>
                <a:spcPct val="100000"/>
              </a:lnSpc>
              <a:spcBef>
                <a:spcPts val="100"/>
              </a:spcBef>
            </a:pPr>
            <a:r>
              <a:rPr sz="1800" dirty="0">
                <a:latin typeface="Arial"/>
                <a:cs typeface="Arial"/>
              </a:rPr>
              <a:t>Press 8 and then P to run POLICY mode from the bathroom. Paste the POLICY from policy_iteration() console line and the eight [POLICY] step lines, and include a screenshot of the robot inside the kitchen with the cumulative reward visible on the HUD. Then answer: (a) From step 4 on the console reports intended 1 but sampled 3. Using calculate_value_function, compare V(3) under the optimal policy with V(3) under a policy that uses 3-&gt;2 in the kitchen, and explain the numbers. (b) In 3.2b the control tape got stuck after a slip. Suppose the same kind of slip happened during this POLICY run, for example 9-&gt;2 leaving the robot in the stairs area: what would the policy do at the next step, and why can a policy recover where a control tape cannot? (c) Compare the realized total reward with V(8) printed by the controller and explain why they differ.</a:t>
            </a:r>
            <a:endParaRPr sz="1800">
              <a:latin typeface="Arial"/>
              <a:cs typeface="Arial"/>
            </a:endParaRPr>
          </a:p>
          <a:p>
            <a:pPr marL="13970">
              <a:lnSpc>
                <a:spcPct val="100000"/>
              </a:lnSpc>
              <a:spcBef>
                <a:spcPts val="1215"/>
              </a:spcBef>
            </a:pPr>
            <a:r>
              <a:rPr sz="1800" dirty="0">
                <a:solidFill>
                  <a:srgbClr val="808080"/>
                </a:solidFill>
                <a:latin typeface="Calibri"/>
                <a:cs typeface="Calibri"/>
              </a:rPr>
              <a:t>&lt;Put your answer in this textbox, replace this text&gt;</a:t>
            </a:r>
            <a:endParaRPr sz="1800">
              <a:latin typeface="Calibri"/>
              <a:cs typeface="Calibri"/>
            </a:endParaRPr>
          </a:p>
        </p:txBody>
      </p:sp>
      <p:sp>
        <p:nvSpPr>
          <p:cNvPr id="4" name="object 4"/>
          <p:cNvSpPr/>
          <p:nvPr/>
        </p:nvSpPr>
        <p:spPr>
          <a:xfrm>
            <a:off x="915416" y="4069080"/>
            <a:ext cx="5943600" cy="2468880"/>
          </a:xfrm>
          <a:prstGeom prst="rect">
            <a:avLst/>
          </a:prstGeom>
          <a:noFill/>
          <a:ln w="19050">
            <a:solidFill>
              <a:srgbClr val="808080"/>
            </a:solidFill>
            <a:prstDash val="dash"/>
          </a:ln>
        </p:spPr>
        <p:txBody>
          <a:bodyPr vert="horz" wrap="square" lIns="91440" tIns="45720" rIns="91440" bIns="45720" rtlCol="0" anchor="ctr"/>
          <a:lstStyle/>
          <a:p>
            <a:pPr algn="ctr"/>
            <a:r>
              <a:rPr sz="1800" dirty="0">
                <a:solidFill>
                  <a:srgbClr val="808080"/>
                </a:solidFill>
                <a:latin typeface="Calibri"/>
                <a:cs typeface="Calibri"/>
              </a:rPr>
              <a:t>Paste screenshot here</a:t>
            </a:r>
          </a:p>
        </p:txBody>
      </p:sp>
      <p:sp>
        <p:nvSpPr>
          <p:cNvPr id="5" name="object 5"/>
          <p:cNvSpPr/>
          <p:nvPr/>
        </p:nvSpPr>
        <p:spPr>
          <a:xfrm>
            <a:off x="7087616" y="4069080"/>
            <a:ext cx="4148455" cy="2468880"/>
          </a:xfrm>
          <a:prstGeom prst="rect">
            <a:avLst/>
          </a:prstGeom>
          <a:noFill/>
          <a:ln w="19050">
            <a:solidFill>
              <a:srgbClr val="808080"/>
            </a:solidFill>
            <a:prstDash val="dash"/>
          </a:ln>
        </p:spPr>
        <p:txBody>
          <a:bodyPr vert="horz" wrap="square" lIns="91440" tIns="45720" rIns="91440" bIns="45720" rtlCol="0" anchor="ctr"/>
          <a:lstStyle/>
          <a:p>
            <a:pPr algn="ctr"/>
            <a:r>
              <a:rPr sz="1800" dirty="0">
                <a:solidFill>
                  <a:srgbClr val="808080"/>
                </a:solidFill>
                <a:latin typeface="Calibri"/>
                <a:cs typeface="Calibri"/>
              </a:rPr>
              <a:t>Paste console lines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TotalTime>
  <Words>1220</Words>
  <Application>Microsoft Office PowerPoint</Application>
  <PresentationFormat>Widescreen</PresentationFormat>
  <Paragraphs>104</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Verdana</vt:lpstr>
      <vt:lpstr>Office Theme</vt:lpstr>
      <vt:lpstr>CS3630 Project 3 Report (Fall 2026)</vt:lpstr>
      <vt:lpstr>1.1 State Abstractions [2 pts each]</vt:lpstr>
      <vt:lpstr>1.2 State Abstractions [3 pts]</vt:lpstr>
      <vt:lpstr>2.1 Actions over time [3 pts]</vt:lpstr>
      <vt:lpstr>2.2 Actions over time [3 pts]</vt:lpstr>
      <vt:lpstr>2.3 Actions over time [2 pts]</vt:lpstr>
      <vt:lpstr>3.1 Dynamic Bayes Nets [4 pts]</vt:lpstr>
      <vt:lpstr>3.1b Light sensor in Webots [2 pts]</vt:lpstr>
      <vt:lpstr>3.2 Dynamic Bayes Nets [4 pts]</vt:lpstr>
      <vt:lpstr>3.2b Control tape in Webots [2 pts]</vt:lpstr>
      <vt:lpstr>3.3 Dynamic Bayes Nets [4 pts]</vt:lpstr>
      <vt:lpstr>4.1.A Perception w/ Graphical Models [2 pts]</vt:lpstr>
      <vt:lpstr>4.1.B Perception w/ Graphical Models [2 pts]</vt:lpstr>
      <vt:lpstr>4.1.C Perception w/ Graphical Models [2 pts]</vt:lpstr>
      <vt:lpstr>4.2 Perception w/ Graphical Models [2 pts]</vt:lpstr>
      <vt:lpstr>4.3 Perception w/ Graphical Models [2 pts]</vt:lpstr>
      <vt:lpstr>4.4 Perception in Webots [3 pts]</vt:lpstr>
      <vt:lpstr>5.1 Markov Decision Process [2 pts]</vt:lpstr>
      <vt:lpstr>5.2 Markov Decision Process [3 pts]</vt:lpstr>
      <vt:lpstr>5.3 Markov Decision Process [3 pts]</vt:lpstr>
      <vt:lpstr>5.3b Policy rollout in Webots [3 pts]</vt:lpstr>
      <vt:lpstr>5.4 Markov Decision Process [3 pts]</vt:lpstr>
      <vt:lpstr>6.1 *EXTRA CREDIT* RL [2 pts]</vt:lpstr>
      <vt:lpstr>7.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Mao, Junyan</dc:creator>
  <cp:lastModifiedBy>Leo Alexeyev</cp:lastModifiedBy>
  <cp:revision>1</cp:revision>
  <dcterms:created xsi:type="dcterms:W3CDTF">2025-09-02T20:01:06Z</dcterms:created>
  <dcterms:modified xsi:type="dcterms:W3CDTF">2025-09-08T22:26:37Z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2022-09-13T00:00:00Z</vt:filetime>
  </property>
  <property fmtid="{D5CDD505-2E9C-101B-9397-08002B2CF9AE}" pid="3" name="Creator">
    <vt:lpwstr>Microsoft® PowerPoint® for Microsoft 365</vt:lpwstr>
  </property>
  <property fmtid="{D5CDD505-2E9C-101B-9397-08002B2CF9AE}" pid="4" name="LastSaved">
    <vt:filetime>2025-09-02T00:00:00Z</vt:filetime>
  </property>
  <property fmtid="{D5CDD505-2E9C-101B-9397-08002B2CF9AE}" pid="5" name="Producer">
    <vt:lpwstr>Microsoft® PowerPoint® for Microsoft 365</vt:lpwstr>
  </property>
</Properties>
</file>